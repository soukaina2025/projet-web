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8288000" cy="10287000"/>
  <p:notesSz cx="6858000" cy="9144000"/>
  <p:embeddedFontLst>
    <p:embeddedFont>
      <p:font typeface="Funtastic" charset="1" panose="00000000000000000000"/>
      <p:regular r:id="rId30"/>
    </p:embeddedFont>
    <p:embeddedFont>
      <p:font typeface="Ropa Sans" charset="1" panose="00000500000000000000"/>
      <p:regular r:id="rId31"/>
    </p:embeddedFont>
    <p:embeddedFont>
      <p:font typeface="Crusoe Text Bold" charset="1" panose="00000000000000000000"/>
      <p:regular r:id="rId32"/>
    </p:embeddedFont>
    <p:embeddedFont>
      <p:font typeface="Crusoe Text" charset="1" panose="00000000000000000000"/>
      <p:regular r:id="rId33"/>
    </p:embeddedFont>
    <p:embeddedFont>
      <p:font typeface="Crusoe Text Bold Italics" charset="1" panose="00000000000000000000"/>
      <p:regular r:id="rId34"/>
    </p:embeddedFont>
    <p:embeddedFont>
      <p:font typeface="DM Serif Display" charset="1" panose="00000000000000000000"/>
      <p:regular r:id="rId3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 Id="rId3" Target="../media/image1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 Id="rId8" Target="../media/image21.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2.png" Type="http://schemas.openxmlformats.org/officeDocument/2006/relationships/image"/><Relationship Id="rId5" Target="../media/image2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 Id="rId3" Target="../media/image27.sv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0.png" Type="http://schemas.openxmlformats.org/officeDocument/2006/relationships/image"/><Relationship Id="rId5" Target="../media/image31.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8.png" Type="http://schemas.openxmlformats.org/officeDocument/2006/relationships/image"/><Relationship Id="rId5" Target="../media/image29.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2.png" Type="http://schemas.openxmlformats.org/officeDocument/2006/relationships/image"/><Relationship Id="rId3" Target="../media/image33.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Freeform 2" id="2"/>
          <p:cNvSpPr/>
          <p:nvPr/>
        </p:nvSpPr>
        <p:spPr>
          <a:xfrm flipH="true" flipV="false" rot="0">
            <a:off x="0" y="0"/>
            <a:ext cx="6166594" cy="4114800"/>
          </a:xfrm>
          <a:custGeom>
            <a:avLst/>
            <a:gdLst/>
            <a:ahLst/>
            <a:cxnLst/>
            <a:rect r="r" b="b" t="t" l="l"/>
            <a:pathLst>
              <a:path h="4114800" w="6166594">
                <a:moveTo>
                  <a:pt x="6166594" y="0"/>
                </a:moveTo>
                <a:lnTo>
                  <a:pt x="0" y="0"/>
                </a:lnTo>
                <a:lnTo>
                  <a:pt x="0" y="4114800"/>
                </a:lnTo>
                <a:lnTo>
                  <a:pt x="6166594" y="4114800"/>
                </a:lnTo>
                <a:lnTo>
                  <a:pt x="61665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2121406" y="6172200"/>
            <a:ext cx="6166594" cy="4114800"/>
          </a:xfrm>
          <a:custGeom>
            <a:avLst/>
            <a:gdLst/>
            <a:ahLst/>
            <a:cxnLst/>
            <a:rect r="r" b="b" t="t" l="l"/>
            <a:pathLst>
              <a:path h="4114800" w="6166594">
                <a:moveTo>
                  <a:pt x="0" y="4114800"/>
                </a:moveTo>
                <a:lnTo>
                  <a:pt x="6166594" y="4114800"/>
                </a:lnTo>
                <a:lnTo>
                  <a:pt x="616659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3771172">
            <a:off x="-548694" y="5784514"/>
            <a:ext cx="3699255" cy="7480112"/>
          </a:xfrm>
          <a:custGeom>
            <a:avLst/>
            <a:gdLst/>
            <a:ahLst/>
            <a:cxnLst/>
            <a:rect r="r" b="b" t="t" l="l"/>
            <a:pathLst>
              <a:path h="7480112" w="3699255">
                <a:moveTo>
                  <a:pt x="0" y="0"/>
                </a:moveTo>
                <a:lnTo>
                  <a:pt x="3699255" y="0"/>
                </a:lnTo>
                <a:lnTo>
                  <a:pt x="3699255" y="7480111"/>
                </a:lnTo>
                <a:lnTo>
                  <a:pt x="0" y="748011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792270">
            <a:off x="338288" y="17643"/>
            <a:ext cx="2691058" cy="3273353"/>
          </a:xfrm>
          <a:custGeom>
            <a:avLst/>
            <a:gdLst/>
            <a:ahLst/>
            <a:cxnLst/>
            <a:rect r="r" b="b" t="t" l="l"/>
            <a:pathLst>
              <a:path h="3273353" w="2691058">
                <a:moveTo>
                  <a:pt x="2691058" y="0"/>
                </a:moveTo>
                <a:lnTo>
                  <a:pt x="0" y="0"/>
                </a:lnTo>
                <a:lnTo>
                  <a:pt x="0" y="3273353"/>
                </a:lnTo>
                <a:lnTo>
                  <a:pt x="2691058" y="3273353"/>
                </a:lnTo>
                <a:lnTo>
                  <a:pt x="2691058"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 id="6"/>
          <p:cNvSpPr txBox="true"/>
          <p:nvPr/>
        </p:nvSpPr>
        <p:spPr>
          <a:xfrm rot="0">
            <a:off x="2099571" y="3360134"/>
            <a:ext cx="13464513" cy="3566731"/>
          </a:xfrm>
          <a:prstGeom prst="rect">
            <a:avLst/>
          </a:prstGeom>
        </p:spPr>
        <p:txBody>
          <a:bodyPr anchor="t" rtlCol="false" tIns="0" lIns="0" bIns="0" rIns="0">
            <a:spAutoFit/>
          </a:bodyPr>
          <a:lstStyle/>
          <a:p>
            <a:pPr algn="ctr" marL="0" indent="0" lvl="0">
              <a:lnSpc>
                <a:spcPts val="8797"/>
              </a:lnSpc>
            </a:pPr>
            <a:r>
              <a:rPr lang="en-US" sz="8797" spc="175">
                <a:solidFill>
                  <a:srgbClr val="1C1679"/>
                </a:solidFill>
                <a:latin typeface="Funtastic"/>
                <a:ea typeface="Funtastic"/>
                <a:cs typeface="Funtastic"/>
                <a:sym typeface="Funtastic"/>
              </a:rPr>
              <a:t>UNDERSTANDING HUMOR, IRONY, IMPLICIT CULTURAL REFERENCES</a:t>
            </a:r>
          </a:p>
        </p:txBody>
      </p:sp>
      <p:sp>
        <p:nvSpPr>
          <p:cNvPr name="Freeform 7" id="7"/>
          <p:cNvSpPr/>
          <p:nvPr/>
        </p:nvSpPr>
        <p:spPr>
          <a:xfrm flipH="false" flipV="false" rot="0">
            <a:off x="13362897" y="537717"/>
            <a:ext cx="4402375" cy="2233205"/>
          </a:xfrm>
          <a:custGeom>
            <a:avLst/>
            <a:gdLst/>
            <a:ahLst/>
            <a:cxnLst/>
            <a:rect r="r" b="b" t="t" l="l"/>
            <a:pathLst>
              <a:path h="2233205" w="4402375">
                <a:moveTo>
                  <a:pt x="0" y="0"/>
                </a:moveTo>
                <a:lnTo>
                  <a:pt x="4402375" y="0"/>
                </a:lnTo>
                <a:lnTo>
                  <a:pt x="4402375" y="2233205"/>
                </a:lnTo>
                <a:lnTo>
                  <a:pt x="0" y="223320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4869669" y="7373941"/>
            <a:ext cx="8548662" cy="653901"/>
          </a:xfrm>
          <a:custGeom>
            <a:avLst/>
            <a:gdLst/>
            <a:ahLst/>
            <a:cxnLst/>
            <a:rect r="r" b="b" t="t" l="l"/>
            <a:pathLst>
              <a:path h="653901" w="8548662">
                <a:moveTo>
                  <a:pt x="0" y="0"/>
                </a:moveTo>
                <a:lnTo>
                  <a:pt x="8548662" y="0"/>
                </a:lnTo>
                <a:lnTo>
                  <a:pt x="8548662" y="653900"/>
                </a:lnTo>
                <a:lnTo>
                  <a:pt x="0" y="6539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Freeform 2" id="2"/>
          <p:cNvSpPr/>
          <p:nvPr/>
        </p:nvSpPr>
        <p:spPr>
          <a:xfrm flipH="false" flipV="false" rot="0">
            <a:off x="2258561" y="2872464"/>
            <a:ext cx="4542073" cy="4542073"/>
          </a:xfrm>
          <a:custGeom>
            <a:avLst/>
            <a:gdLst/>
            <a:ahLst/>
            <a:cxnLst/>
            <a:rect r="r" b="b" t="t" l="l"/>
            <a:pathLst>
              <a:path h="4542073" w="4542073">
                <a:moveTo>
                  <a:pt x="0" y="0"/>
                </a:moveTo>
                <a:lnTo>
                  <a:pt x="4542073" y="0"/>
                </a:lnTo>
                <a:lnTo>
                  <a:pt x="4542073" y="4542072"/>
                </a:lnTo>
                <a:lnTo>
                  <a:pt x="0" y="454207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7597477" y="2950151"/>
            <a:ext cx="7383812" cy="1557313"/>
          </a:xfrm>
          <a:custGeom>
            <a:avLst/>
            <a:gdLst/>
            <a:ahLst/>
            <a:cxnLst/>
            <a:rect r="r" b="b" t="t" l="l"/>
            <a:pathLst>
              <a:path h="1557313" w="7383812">
                <a:moveTo>
                  <a:pt x="0" y="0"/>
                </a:moveTo>
                <a:lnTo>
                  <a:pt x="7383812" y="0"/>
                </a:lnTo>
                <a:lnTo>
                  <a:pt x="7383812" y="1557313"/>
                </a:lnTo>
                <a:lnTo>
                  <a:pt x="0" y="15573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7597477" y="4933640"/>
            <a:ext cx="7383812" cy="1557313"/>
          </a:xfrm>
          <a:custGeom>
            <a:avLst/>
            <a:gdLst/>
            <a:ahLst/>
            <a:cxnLst/>
            <a:rect r="r" b="b" t="t" l="l"/>
            <a:pathLst>
              <a:path h="1557313" w="7383812">
                <a:moveTo>
                  <a:pt x="0" y="0"/>
                </a:moveTo>
                <a:lnTo>
                  <a:pt x="7383812" y="0"/>
                </a:lnTo>
                <a:lnTo>
                  <a:pt x="7383812" y="1557313"/>
                </a:lnTo>
                <a:lnTo>
                  <a:pt x="0" y="15573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7340035" y="5226522"/>
            <a:ext cx="6524204" cy="828675"/>
          </a:xfrm>
          <a:prstGeom prst="rect">
            <a:avLst/>
          </a:prstGeom>
        </p:spPr>
        <p:txBody>
          <a:bodyPr anchor="t" rtlCol="false" tIns="0" lIns="0" bIns="0" rIns="0">
            <a:spAutoFit/>
          </a:bodyPr>
          <a:lstStyle/>
          <a:p>
            <a:pPr algn="l" marL="971550" indent="-485775" lvl="1">
              <a:lnSpc>
                <a:spcPts val="6750"/>
              </a:lnSpc>
              <a:buFont typeface="Arial"/>
              <a:buChar char="•"/>
            </a:pPr>
            <a:r>
              <a:rPr lang="en-US" sz="4500" spc="193">
                <a:solidFill>
                  <a:srgbClr val="FFFFFF"/>
                </a:solidFill>
                <a:latin typeface="Ropa Sans"/>
                <a:ea typeface="Ropa Sans"/>
                <a:cs typeface="Ropa Sans"/>
                <a:sym typeface="Ropa Sans"/>
              </a:rPr>
              <a:t>HARCHARRAS MARWA</a:t>
            </a:r>
          </a:p>
        </p:txBody>
      </p:sp>
      <p:sp>
        <p:nvSpPr>
          <p:cNvPr name="TextBox 6" id="6"/>
          <p:cNvSpPr txBox="true"/>
          <p:nvPr/>
        </p:nvSpPr>
        <p:spPr>
          <a:xfrm rot="0">
            <a:off x="2552219" y="3829050"/>
            <a:ext cx="3954756" cy="2457450"/>
          </a:xfrm>
          <a:prstGeom prst="rect">
            <a:avLst/>
          </a:prstGeom>
        </p:spPr>
        <p:txBody>
          <a:bodyPr anchor="t" rtlCol="false" tIns="0" lIns="0" bIns="0" rIns="0">
            <a:spAutoFit/>
          </a:bodyPr>
          <a:lstStyle/>
          <a:p>
            <a:pPr algn="ctr" marL="0" indent="0" lvl="0">
              <a:lnSpc>
                <a:spcPts val="9149"/>
              </a:lnSpc>
            </a:pPr>
            <a:r>
              <a:rPr lang="en-US" sz="7499" spc="719">
                <a:solidFill>
                  <a:srgbClr val="FFFAF4"/>
                </a:solidFill>
                <a:latin typeface="Funtastic"/>
                <a:ea typeface="Funtastic"/>
                <a:cs typeface="Funtastic"/>
                <a:sym typeface="Funtastic"/>
              </a:rPr>
              <a:t>OUR TEAM</a:t>
            </a:r>
          </a:p>
        </p:txBody>
      </p:sp>
      <p:sp>
        <p:nvSpPr>
          <p:cNvPr name="TextBox 7" id="7"/>
          <p:cNvSpPr txBox="true"/>
          <p:nvPr/>
        </p:nvSpPr>
        <p:spPr>
          <a:xfrm rot="0">
            <a:off x="7340035" y="3243032"/>
            <a:ext cx="7441747" cy="828675"/>
          </a:xfrm>
          <a:prstGeom prst="rect">
            <a:avLst/>
          </a:prstGeom>
        </p:spPr>
        <p:txBody>
          <a:bodyPr anchor="t" rtlCol="false" tIns="0" lIns="0" bIns="0" rIns="0">
            <a:spAutoFit/>
          </a:bodyPr>
          <a:lstStyle/>
          <a:p>
            <a:pPr algn="l" marL="971552" indent="-485776" lvl="1">
              <a:lnSpc>
                <a:spcPts val="6750"/>
              </a:lnSpc>
              <a:buFont typeface="Arial"/>
              <a:buChar char="•"/>
            </a:pPr>
            <a:r>
              <a:rPr lang="en-US" sz="4500" spc="337">
                <a:solidFill>
                  <a:srgbClr val="FFFFFF"/>
                </a:solidFill>
                <a:latin typeface="Ropa Sans"/>
                <a:ea typeface="Ropa Sans"/>
                <a:cs typeface="Ropa Sans"/>
                <a:sym typeface="Ropa Sans"/>
              </a:rPr>
              <a:t>HACHCHOUM MAROUANE</a:t>
            </a:r>
          </a:p>
        </p:txBody>
      </p:sp>
      <p:sp>
        <p:nvSpPr>
          <p:cNvPr name="Freeform 8" id="8"/>
          <p:cNvSpPr/>
          <p:nvPr/>
        </p:nvSpPr>
        <p:spPr>
          <a:xfrm flipH="false" flipV="false" rot="0">
            <a:off x="7597477" y="6939556"/>
            <a:ext cx="7383812" cy="1557313"/>
          </a:xfrm>
          <a:custGeom>
            <a:avLst/>
            <a:gdLst/>
            <a:ahLst/>
            <a:cxnLst/>
            <a:rect r="r" b="b" t="t" l="l"/>
            <a:pathLst>
              <a:path h="1557313" w="7383812">
                <a:moveTo>
                  <a:pt x="0" y="0"/>
                </a:moveTo>
                <a:lnTo>
                  <a:pt x="7383812" y="0"/>
                </a:lnTo>
                <a:lnTo>
                  <a:pt x="7383812" y="1557313"/>
                </a:lnTo>
                <a:lnTo>
                  <a:pt x="0" y="155731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 id="9"/>
          <p:cNvSpPr txBox="true"/>
          <p:nvPr/>
        </p:nvSpPr>
        <p:spPr>
          <a:xfrm rot="0">
            <a:off x="7340035" y="7234831"/>
            <a:ext cx="5668276" cy="828675"/>
          </a:xfrm>
          <a:prstGeom prst="rect">
            <a:avLst/>
          </a:prstGeom>
        </p:spPr>
        <p:txBody>
          <a:bodyPr anchor="t" rtlCol="false" tIns="0" lIns="0" bIns="0" rIns="0">
            <a:spAutoFit/>
          </a:bodyPr>
          <a:lstStyle/>
          <a:p>
            <a:pPr algn="l" marL="971552" indent="-485776" lvl="1">
              <a:lnSpc>
                <a:spcPts val="6750"/>
              </a:lnSpc>
              <a:buFont typeface="Arial"/>
              <a:buChar char="•"/>
            </a:pPr>
            <a:r>
              <a:rPr lang="en-US" sz="4500" spc="342">
                <a:solidFill>
                  <a:srgbClr val="FFFFFF"/>
                </a:solidFill>
                <a:latin typeface="Ropa Sans"/>
                <a:ea typeface="Ropa Sans"/>
                <a:cs typeface="Ropa Sans"/>
                <a:sym typeface="Ropa Sans"/>
              </a:rPr>
              <a:t>HMAIMI HIBA</a:t>
            </a:r>
          </a:p>
        </p:txBody>
      </p:sp>
      <p:sp>
        <p:nvSpPr>
          <p:cNvPr name="Freeform 10" id="10"/>
          <p:cNvSpPr/>
          <p:nvPr/>
        </p:nvSpPr>
        <p:spPr>
          <a:xfrm flipH="true" flipV="true" rot="0">
            <a:off x="15430935" y="-878658"/>
            <a:ext cx="4114800" cy="4114800"/>
          </a:xfrm>
          <a:custGeom>
            <a:avLst/>
            <a:gdLst/>
            <a:ahLst/>
            <a:cxnLst/>
            <a:rect r="r" b="b" t="t" l="l"/>
            <a:pathLst>
              <a:path h="4114800" w="4114800">
                <a:moveTo>
                  <a:pt x="4114800" y="4114800"/>
                </a:moveTo>
                <a:lnTo>
                  <a:pt x="0" y="4114800"/>
                </a:lnTo>
                <a:lnTo>
                  <a:pt x="0" y="0"/>
                </a:lnTo>
                <a:lnTo>
                  <a:pt x="4114800" y="0"/>
                </a:lnTo>
                <a:lnTo>
                  <a:pt x="4114800" y="411480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404333" y="7832513"/>
            <a:ext cx="3855254" cy="3855254"/>
          </a:xfrm>
          <a:custGeom>
            <a:avLst/>
            <a:gdLst/>
            <a:ahLst/>
            <a:cxnLst/>
            <a:rect r="r" b="b" t="t" l="l"/>
            <a:pathLst>
              <a:path h="3855254" w="3855254">
                <a:moveTo>
                  <a:pt x="0" y="0"/>
                </a:moveTo>
                <a:lnTo>
                  <a:pt x="3855254" y="0"/>
                </a:lnTo>
                <a:lnTo>
                  <a:pt x="3855254" y="3855254"/>
                </a:lnTo>
                <a:lnTo>
                  <a:pt x="0" y="385525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transition spd="slow">
    <p:cover dir="l"/>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Freeform 2" id="2"/>
          <p:cNvSpPr/>
          <p:nvPr/>
        </p:nvSpPr>
        <p:spPr>
          <a:xfrm flipH="false" flipV="true" rot="-10800000">
            <a:off x="-6299704" y="-1230704"/>
            <a:ext cx="9552621" cy="6374204"/>
          </a:xfrm>
          <a:custGeom>
            <a:avLst/>
            <a:gdLst/>
            <a:ahLst/>
            <a:cxnLst/>
            <a:rect r="r" b="b" t="t" l="l"/>
            <a:pathLst>
              <a:path h="6374204" w="9552621">
                <a:moveTo>
                  <a:pt x="0" y="6374204"/>
                </a:moveTo>
                <a:lnTo>
                  <a:pt x="9552621" y="6374204"/>
                </a:lnTo>
                <a:lnTo>
                  <a:pt x="9552621" y="0"/>
                </a:lnTo>
                <a:lnTo>
                  <a:pt x="0" y="0"/>
                </a:lnTo>
                <a:lnTo>
                  <a:pt x="0" y="637420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010657" y="1166492"/>
            <a:ext cx="14899416" cy="8625771"/>
          </a:xfrm>
          <a:prstGeom prst="rect">
            <a:avLst/>
          </a:prstGeom>
        </p:spPr>
        <p:txBody>
          <a:bodyPr anchor="t" rtlCol="false" tIns="0" lIns="0" bIns="0" rIns="0">
            <a:spAutoFit/>
          </a:bodyPr>
          <a:lstStyle/>
          <a:p>
            <a:pPr algn="l" marL="705739" indent="-352869" lvl="1">
              <a:lnSpc>
                <a:spcPts val="5753"/>
              </a:lnSpc>
              <a:buAutoNum type="arabicPeriod" startAt="1"/>
            </a:pPr>
            <a:r>
              <a:rPr lang="en-US" b="true" sz="3268" u="sng">
                <a:solidFill>
                  <a:srgbClr val="287A74"/>
                </a:solidFill>
                <a:latin typeface="Crusoe Text Bold"/>
                <a:ea typeface="Crusoe Text Bold"/>
                <a:cs typeface="Crusoe Text Bold"/>
                <a:sym typeface="Crusoe Text Bold"/>
              </a:rPr>
              <a:t>Introduction</a:t>
            </a:r>
          </a:p>
          <a:p>
            <a:pPr algn="l" marL="1411478" indent="-470493" lvl="2">
              <a:lnSpc>
                <a:spcPts val="5753"/>
              </a:lnSpc>
              <a:buFont typeface="Arial"/>
              <a:buChar char="⚬"/>
            </a:pPr>
            <a:r>
              <a:rPr lang="en-US" b="true" sz="3268">
                <a:solidFill>
                  <a:srgbClr val="1C1679"/>
                </a:solidFill>
                <a:latin typeface="Crusoe Text Bold"/>
                <a:ea typeface="Crusoe Text Bold"/>
                <a:cs typeface="Crusoe Text Bold"/>
                <a:sym typeface="Crusoe Text Bold"/>
              </a:rPr>
              <a:t>Definition of </a:t>
            </a:r>
            <a:r>
              <a:rPr lang="en-US" b="true" sz="3268">
                <a:solidFill>
                  <a:srgbClr val="1C1679"/>
                </a:solidFill>
                <a:latin typeface="Crusoe Text Bold"/>
                <a:ea typeface="Crusoe Text Bold"/>
                <a:cs typeface="Crusoe Text Bold"/>
                <a:sym typeface="Crusoe Text Bold"/>
              </a:rPr>
              <a:t>Humor and Irony</a:t>
            </a:r>
          </a:p>
          <a:p>
            <a:pPr algn="l" marL="1411478" indent="-470493" lvl="2">
              <a:lnSpc>
                <a:spcPts val="5753"/>
              </a:lnSpc>
              <a:buFont typeface="Arial"/>
              <a:buChar char="⚬"/>
            </a:pPr>
            <a:r>
              <a:rPr lang="en-US" b="true" sz="3268">
                <a:solidFill>
                  <a:srgbClr val="1C1679"/>
                </a:solidFill>
                <a:latin typeface="Crusoe Text Bold"/>
                <a:ea typeface="Crusoe Text Bold"/>
                <a:cs typeface="Crusoe Text Bold"/>
                <a:sym typeface="Crusoe Text Bold"/>
              </a:rPr>
              <a:t>What Are Implicit Cultural References?</a:t>
            </a:r>
          </a:p>
          <a:p>
            <a:pPr algn="l" marL="1411478" indent="-470493" lvl="2">
              <a:lnSpc>
                <a:spcPts val="5753"/>
              </a:lnSpc>
              <a:buFont typeface="Arial"/>
              <a:buChar char="⚬"/>
            </a:pPr>
            <a:r>
              <a:rPr lang="en-US" b="true" sz="3268">
                <a:solidFill>
                  <a:srgbClr val="1C1679"/>
                </a:solidFill>
                <a:latin typeface="Crusoe Text Bold"/>
                <a:ea typeface="Crusoe Text Bold"/>
                <a:cs typeface="Crusoe Text Bold"/>
                <a:sym typeface="Crusoe Text Bold"/>
              </a:rPr>
              <a:t>Importance of Cultural References in Communication</a:t>
            </a:r>
          </a:p>
          <a:p>
            <a:pPr algn="l" marL="705739" indent="-352869" lvl="1">
              <a:lnSpc>
                <a:spcPts val="5753"/>
              </a:lnSpc>
              <a:buAutoNum type="arabicPeriod" startAt="1"/>
            </a:pPr>
            <a:r>
              <a:rPr lang="en-US" b="true" sz="3268" u="sng">
                <a:solidFill>
                  <a:srgbClr val="287A74"/>
                </a:solidFill>
                <a:latin typeface="Crusoe Text Bold"/>
                <a:ea typeface="Crusoe Text Bold"/>
                <a:cs typeface="Crusoe Text Bold"/>
                <a:sym typeface="Crusoe Text Bold"/>
              </a:rPr>
              <a:t>Mechanisms of Humor and Irony</a:t>
            </a:r>
          </a:p>
          <a:p>
            <a:pPr algn="l" marL="1411478" indent="-470493" lvl="2">
              <a:lnSpc>
                <a:spcPts val="5753"/>
              </a:lnSpc>
              <a:buFont typeface="Arial"/>
              <a:buChar char="⚬"/>
            </a:pPr>
            <a:r>
              <a:rPr lang="en-US" b="true" sz="3268">
                <a:solidFill>
                  <a:srgbClr val="1C1679"/>
                </a:solidFill>
                <a:latin typeface="Crusoe Text Bold"/>
                <a:ea typeface="Crusoe Text Bold"/>
                <a:cs typeface="Crusoe Text Bold"/>
                <a:sym typeface="Crusoe Text Bold"/>
              </a:rPr>
              <a:t>How Humor Works</a:t>
            </a:r>
          </a:p>
          <a:p>
            <a:pPr algn="l" marL="1411478" indent="-470493" lvl="2">
              <a:lnSpc>
                <a:spcPts val="5753"/>
              </a:lnSpc>
              <a:buFont typeface="Arial"/>
              <a:buChar char="⚬"/>
            </a:pPr>
            <a:r>
              <a:rPr lang="en-US" b="true" sz="3268">
                <a:solidFill>
                  <a:srgbClr val="1C1679"/>
                </a:solidFill>
                <a:latin typeface="Crusoe Text Bold"/>
                <a:ea typeface="Crusoe Text Bold"/>
                <a:cs typeface="Crusoe Text Bold"/>
                <a:sym typeface="Crusoe Text Bold"/>
              </a:rPr>
              <a:t>Types of Irony and examples</a:t>
            </a:r>
          </a:p>
          <a:p>
            <a:pPr algn="l" marL="1411478" indent="-470493" lvl="2">
              <a:lnSpc>
                <a:spcPts val="5753"/>
              </a:lnSpc>
              <a:buFont typeface="Arial"/>
              <a:buChar char="⚬"/>
            </a:pPr>
            <a:r>
              <a:rPr lang="en-US" b="true" sz="3268">
                <a:solidFill>
                  <a:srgbClr val="1C1679"/>
                </a:solidFill>
                <a:latin typeface="Crusoe Text Bold"/>
                <a:ea typeface="Crusoe Text Bold"/>
                <a:cs typeface="Crusoe Text Bold"/>
                <a:sym typeface="Crusoe Text Bold"/>
              </a:rPr>
              <a:t>Psychological and Emotional Effects of Humor and Irony</a:t>
            </a:r>
          </a:p>
          <a:p>
            <a:pPr algn="l">
              <a:lnSpc>
                <a:spcPts val="5753"/>
              </a:lnSpc>
            </a:pPr>
            <a:r>
              <a:rPr lang="en-US" sz="3268" b="true">
                <a:solidFill>
                  <a:srgbClr val="287A74"/>
                </a:solidFill>
                <a:latin typeface="Crusoe Text Bold"/>
                <a:ea typeface="Crusoe Text Bold"/>
                <a:cs typeface="Crusoe Text Bold"/>
                <a:sym typeface="Crusoe Text Bold"/>
              </a:rPr>
              <a:t>  3.</a:t>
            </a:r>
            <a:r>
              <a:rPr lang="en-US" sz="3268" u="sng" b="true">
                <a:solidFill>
                  <a:srgbClr val="287A74"/>
                </a:solidFill>
                <a:latin typeface="Crusoe Text Bold"/>
                <a:ea typeface="Crusoe Text Bold"/>
                <a:cs typeface="Crusoe Text Bold"/>
                <a:sym typeface="Crusoe Text Bold"/>
              </a:rPr>
              <a:t>The Role of </a:t>
            </a:r>
            <a:r>
              <a:rPr lang="en-US" sz="3268" u="sng" b="true">
                <a:solidFill>
                  <a:srgbClr val="287A74"/>
                </a:solidFill>
                <a:latin typeface="Crusoe Text Bold"/>
                <a:ea typeface="Crusoe Text Bold"/>
                <a:cs typeface="Crusoe Text Bold"/>
                <a:sym typeface="Crusoe Text Bold"/>
              </a:rPr>
              <a:t>Culture in Humor </a:t>
            </a:r>
          </a:p>
          <a:p>
            <a:pPr algn="l" marL="1411478" indent="-470493" lvl="2">
              <a:lnSpc>
                <a:spcPts val="5753"/>
              </a:lnSpc>
              <a:buFont typeface="Arial"/>
              <a:buChar char="⚬"/>
            </a:pPr>
            <a:r>
              <a:rPr lang="en-US" b="true" sz="3268">
                <a:solidFill>
                  <a:srgbClr val="1C1679"/>
                </a:solidFill>
                <a:latin typeface="Crusoe Text Bold"/>
                <a:ea typeface="Crusoe Text Bold"/>
                <a:cs typeface="Crusoe Text Bold"/>
                <a:sym typeface="Crusoe Text Bold"/>
              </a:rPr>
              <a:t>How Culture Shapes Humor </a:t>
            </a:r>
          </a:p>
          <a:p>
            <a:pPr algn="l" marL="1411478" indent="-470493" lvl="2">
              <a:lnSpc>
                <a:spcPts val="5753"/>
              </a:lnSpc>
              <a:buFont typeface="Arial"/>
              <a:buChar char="⚬"/>
            </a:pPr>
            <a:r>
              <a:rPr lang="en-US" b="true" sz="3268">
                <a:solidFill>
                  <a:srgbClr val="1C1679"/>
                </a:solidFill>
                <a:latin typeface="Crusoe Text Bold"/>
                <a:ea typeface="Crusoe Text Bold"/>
                <a:cs typeface="Crusoe Text Bold"/>
                <a:sym typeface="Crusoe Text Bold"/>
              </a:rPr>
              <a:t>Examples of Culture-Specific Humor</a:t>
            </a:r>
          </a:p>
          <a:p>
            <a:pPr algn="l" marL="1411478" indent="-470493" lvl="2">
              <a:lnSpc>
                <a:spcPts val="5753"/>
              </a:lnSpc>
              <a:buFont typeface="Arial"/>
              <a:buChar char="⚬"/>
            </a:pPr>
            <a:r>
              <a:rPr lang="en-US" b="true" sz="3268">
                <a:solidFill>
                  <a:srgbClr val="1C1679"/>
                </a:solidFill>
                <a:latin typeface="Crusoe Text Bold"/>
                <a:ea typeface="Crusoe Text Bold"/>
                <a:cs typeface="Crusoe Text Bold"/>
                <a:sym typeface="Crusoe Text Bold"/>
              </a:rPr>
              <a:t>Cultural Codes and Shared Knowledge</a:t>
            </a:r>
          </a:p>
        </p:txBody>
      </p:sp>
      <p:sp>
        <p:nvSpPr>
          <p:cNvPr name="TextBox 4" id="4"/>
          <p:cNvSpPr txBox="true"/>
          <p:nvPr/>
        </p:nvSpPr>
        <p:spPr>
          <a:xfrm rot="0">
            <a:off x="3252917" y="0"/>
            <a:ext cx="15035083" cy="1337942"/>
          </a:xfrm>
          <a:prstGeom prst="rect">
            <a:avLst/>
          </a:prstGeom>
        </p:spPr>
        <p:txBody>
          <a:bodyPr anchor="t" rtlCol="false" tIns="0" lIns="0" bIns="0" rIns="0">
            <a:spAutoFit/>
          </a:bodyPr>
          <a:lstStyle/>
          <a:p>
            <a:pPr algn="ctr" marL="0" indent="0" lvl="0">
              <a:lnSpc>
                <a:spcPts val="8799"/>
              </a:lnSpc>
            </a:pPr>
            <a:r>
              <a:rPr lang="en-US" sz="8799" spc="175">
                <a:solidFill>
                  <a:srgbClr val="1C1679"/>
                </a:solidFill>
                <a:latin typeface="Funtastic"/>
                <a:ea typeface="Funtastic"/>
                <a:cs typeface="Funtastic"/>
                <a:sym typeface="Funtastic"/>
              </a:rPr>
              <a:t>PRESENTATION PLAN</a:t>
            </a:r>
          </a:p>
        </p:txBody>
      </p:sp>
      <p:sp>
        <p:nvSpPr>
          <p:cNvPr name="Freeform 5" id="5"/>
          <p:cNvSpPr/>
          <p:nvPr/>
        </p:nvSpPr>
        <p:spPr>
          <a:xfrm flipH="false" flipV="true" rot="0">
            <a:off x="12950860" y="6532832"/>
            <a:ext cx="6166594" cy="4114800"/>
          </a:xfrm>
          <a:custGeom>
            <a:avLst/>
            <a:gdLst/>
            <a:ahLst/>
            <a:cxnLst/>
            <a:rect r="r" b="b" t="t" l="l"/>
            <a:pathLst>
              <a:path h="4114800" w="6166594">
                <a:moveTo>
                  <a:pt x="0" y="4114800"/>
                </a:moveTo>
                <a:lnTo>
                  <a:pt x="6166594" y="4114800"/>
                </a:lnTo>
                <a:lnTo>
                  <a:pt x="616659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slow">
    <p:cover dir="l"/>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Freeform 2" id="2"/>
          <p:cNvSpPr/>
          <p:nvPr/>
        </p:nvSpPr>
        <p:spPr>
          <a:xfrm flipH="false" flipV="true" rot="-10800000">
            <a:off x="-6299704" y="-1230704"/>
            <a:ext cx="9552621" cy="6374204"/>
          </a:xfrm>
          <a:custGeom>
            <a:avLst/>
            <a:gdLst/>
            <a:ahLst/>
            <a:cxnLst/>
            <a:rect r="r" b="b" t="t" l="l"/>
            <a:pathLst>
              <a:path h="6374204" w="9552621">
                <a:moveTo>
                  <a:pt x="0" y="6374204"/>
                </a:moveTo>
                <a:lnTo>
                  <a:pt x="9552621" y="6374204"/>
                </a:lnTo>
                <a:lnTo>
                  <a:pt x="9552621" y="0"/>
                </a:lnTo>
                <a:lnTo>
                  <a:pt x="0" y="0"/>
                </a:lnTo>
                <a:lnTo>
                  <a:pt x="0" y="637420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471501" y="2803225"/>
            <a:ext cx="15344998" cy="6623813"/>
          </a:xfrm>
          <a:prstGeom prst="rect">
            <a:avLst/>
          </a:prstGeom>
        </p:spPr>
        <p:txBody>
          <a:bodyPr anchor="t" rtlCol="false" tIns="0" lIns="0" bIns="0" rIns="0">
            <a:spAutoFit/>
          </a:bodyPr>
          <a:lstStyle/>
          <a:p>
            <a:pPr algn="l">
              <a:lnSpc>
                <a:spcPts val="6636"/>
              </a:lnSpc>
            </a:pPr>
            <a:r>
              <a:rPr lang="en-US" sz="3368" b="true">
                <a:solidFill>
                  <a:srgbClr val="287A74"/>
                </a:solidFill>
                <a:latin typeface="Crusoe Text Bold"/>
                <a:ea typeface="Crusoe Text Bold"/>
                <a:cs typeface="Crusoe Text Bold"/>
                <a:sym typeface="Crusoe Text Bold"/>
              </a:rPr>
              <a:t>4.</a:t>
            </a:r>
            <a:r>
              <a:rPr lang="en-US" sz="3368" u="sng" b="true">
                <a:solidFill>
                  <a:srgbClr val="287A74"/>
                </a:solidFill>
                <a:latin typeface="Crusoe Text Bold"/>
                <a:ea typeface="Crusoe Text Bold"/>
                <a:cs typeface="Crusoe Text Bold"/>
                <a:sym typeface="Crusoe Text Bold"/>
              </a:rPr>
              <a:t>Challenges of Understanding Humor Across Cultures </a:t>
            </a:r>
          </a:p>
          <a:p>
            <a:pPr algn="l" marL="1454656" indent="-484885" lvl="2">
              <a:lnSpc>
                <a:spcPts val="6636"/>
              </a:lnSpc>
              <a:buFont typeface="Arial"/>
              <a:buChar char="⚬"/>
            </a:pPr>
            <a:r>
              <a:rPr lang="en-US" b="true" sz="3368">
                <a:solidFill>
                  <a:srgbClr val="1C1679"/>
                </a:solidFill>
                <a:latin typeface="Crusoe Text Bold"/>
                <a:ea typeface="Crusoe Text Bold"/>
                <a:cs typeface="Crusoe Text Bold"/>
                <a:sym typeface="Crusoe Text Bold"/>
              </a:rPr>
              <a:t>Why humor and irony can be misunderstood</a:t>
            </a:r>
          </a:p>
          <a:p>
            <a:pPr algn="l" marL="1454656" indent="-484885" lvl="2">
              <a:lnSpc>
                <a:spcPts val="6636"/>
              </a:lnSpc>
              <a:buFont typeface="Arial"/>
              <a:buChar char="⚬"/>
            </a:pPr>
            <a:r>
              <a:rPr lang="en-US" b="true" sz="3368">
                <a:solidFill>
                  <a:srgbClr val="1C1679"/>
                </a:solidFill>
                <a:latin typeface="Crusoe Text Bold"/>
                <a:ea typeface="Crusoe Text Bold"/>
                <a:cs typeface="Crusoe Text Bold"/>
                <a:sym typeface="Crusoe Text Bold"/>
              </a:rPr>
              <a:t>Risks of Using Humor in International Contexts</a:t>
            </a:r>
          </a:p>
          <a:p>
            <a:pPr algn="l" marL="1454656" indent="-484885" lvl="2">
              <a:lnSpc>
                <a:spcPts val="6636"/>
              </a:lnSpc>
              <a:buFont typeface="Arial"/>
              <a:buChar char="⚬"/>
            </a:pPr>
            <a:r>
              <a:rPr lang="en-US" b="true" sz="3368">
                <a:solidFill>
                  <a:srgbClr val="1C1679"/>
                </a:solidFill>
                <a:latin typeface="Crusoe Text Bold"/>
                <a:ea typeface="Crusoe Text Bold"/>
                <a:cs typeface="Crusoe Text Bold"/>
                <a:sym typeface="Crusoe Text Bold"/>
              </a:rPr>
              <a:t>Examples of Misunderstandings or Failed Jokes</a:t>
            </a:r>
          </a:p>
          <a:p>
            <a:pPr algn="l">
              <a:lnSpc>
                <a:spcPts val="6636"/>
              </a:lnSpc>
            </a:pPr>
            <a:r>
              <a:rPr lang="en-US" sz="3368" b="true">
                <a:solidFill>
                  <a:srgbClr val="287A74"/>
                </a:solidFill>
                <a:latin typeface="Crusoe Text Bold"/>
                <a:ea typeface="Crusoe Text Bold"/>
                <a:cs typeface="Crusoe Text Bold"/>
                <a:sym typeface="Crusoe Text Bold"/>
              </a:rPr>
              <a:t>5.</a:t>
            </a:r>
            <a:r>
              <a:rPr lang="en-US" sz="3368" u="sng" b="true">
                <a:solidFill>
                  <a:srgbClr val="287A74"/>
                </a:solidFill>
                <a:latin typeface="Crusoe Text Bold"/>
                <a:ea typeface="Crusoe Text Bold"/>
                <a:cs typeface="Crusoe Text Bold"/>
                <a:sym typeface="Crusoe Text Bold"/>
              </a:rPr>
              <a:t>Strategies to Better Understand and Use Humor and Irony </a:t>
            </a:r>
          </a:p>
          <a:p>
            <a:pPr algn="l">
              <a:lnSpc>
                <a:spcPts val="6636"/>
              </a:lnSpc>
            </a:pPr>
            <a:r>
              <a:rPr lang="en-US" sz="3368" b="true">
                <a:solidFill>
                  <a:srgbClr val="287A74"/>
                </a:solidFill>
                <a:latin typeface="Crusoe Text Bold"/>
                <a:ea typeface="Crusoe Text Bold"/>
                <a:cs typeface="Crusoe Text Bold"/>
                <a:sym typeface="Crusoe Text Bold"/>
              </a:rPr>
              <a:t>6.</a:t>
            </a:r>
            <a:r>
              <a:rPr lang="en-US" sz="3368" u="sng" b="true">
                <a:solidFill>
                  <a:srgbClr val="287A74"/>
                </a:solidFill>
                <a:latin typeface="Crusoe Text Bold"/>
                <a:ea typeface="Crusoe Text Bold"/>
                <a:cs typeface="Crusoe Text Bold"/>
                <a:sym typeface="Crusoe Text Bold"/>
              </a:rPr>
              <a:t>The Evolution of Humor and Irony in Global Communication</a:t>
            </a:r>
          </a:p>
          <a:p>
            <a:pPr algn="l" marL="0" indent="0" lvl="0">
              <a:lnSpc>
                <a:spcPts val="6636"/>
              </a:lnSpc>
            </a:pPr>
            <a:r>
              <a:rPr lang="en-US" b="true" sz="3368">
                <a:solidFill>
                  <a:srgbClr val="287A74"/>
                </a:solidFill>
                <a:latin typeface="Crusoe Text Bold"/>
                <a:ea typeface="Crusoe Text Bold"/>
                <a:cs typeface="Crusoe Text Bold"/>
                <a:sym typeface="Crusoe Text Bold"/>
              </a:rPr>
              <a:t>7.</a:t>
            </a:r>
            <a:r>
              <a:rPr lang="en-US" b="true" sz="3368" u="sng">
                <a:solidFill>
                  <a:srgbClr val="287A74"/>
                </a:solidFill>
                <a:latin typeface="Crusoe Text Bold"/>
                <a:ea typeface="Crusoe Text Bold"/>
                <a:cs typeface="Crusoe Text Bold"/>
                <a:sym typeface="Crusoe Text Bold"/>
              </a:rPr>
              <a:t>Conclusion</a:t>
            </a:r>
          </a:p>
          <a:p>
            <a:pPr algn="l" marL="0" indent="0" lvl="0">
              <a:lnSpc>
                <a:spcPts val="6636"/>
              </a:lnSpc>
            </a:pPr>
            <a:r>
              <a:rPr lang="en-US" b="true" sz="3368">
                <a:solidFill>
                  <a:srgbClr val="287A74"/>
                </a:solidFill>
                <a:latin typeface="Crusoe Text Bold"/>
                <a:ea typeface="Crusoe Text Bold"/>
                <a:cs typeface="Crusoe Text Bold"/>
                <a:sym typeface="Crusoe Text Bold"/>
              </a:rPr>
              <a:t>8.</a:t>
            </a:r>
            <a:r>
              <a:rPr lang="en-US" b="true" sz="3368" u="sng">
                <a:solidFill>
                  <a:srgbClr val="287A74"/>
                </a:solidFill>
                <a:latin typeface="Crusoe Text Bold"/>
                <a:ea typeface="Crusoe Text Bold"/>
                <a:cs typeface="Crusoe Text Bold"/>
                <a:sym typeface="Crusoe Text Bold"/>
              </a:rPr>
              <a:t>The references</a:t>
            </a:r>
          </a:p>
        </p:txBody>
      </p:sp>
      <p:sp>
        <p:nvSpPr>
          <p:cNvPr name="TextBox 4" id="4"/>
          <p:cNvSpPr txBox="true"/>
          <p:nvPr/>
        </p:nvSpPr>
        <p:spPr>
          <a:xfrm rot="0">
            <a:off x="3252917" y="0"/>
            <a:ext cx="15035083" cy="1337942"/>
          </a:xfrm>
          <a:prstGeom prst="rect">
            <a:avLst/>
          </a:prstGeom>
        </p:spPr>
        <p:txBody>
          <a:bodyPr anchor="t" rtlCol="false" tIns="0" lIns="0" bIns="0" rIns="0">
            <a:spAutoFit/>
          </a:bodyPr>
          <a:lstStyle/>
          <a:p>
            <a:pPr algn="ctr" marL="0" indent="0" lvl="0">
              <a:lnSpc>
                <a:spcPts val="8799"/>
              </a:lnSpc>
            </a:pPr>
            <a:r>
              <a:rPr lang="en-US" sz="8799" spc="175">
                <a:solidFill>
                  <a:srgbClr val="1C1679"/>
                </a:solidFill>
                <a:latin typeface="Funtastic"/>
                <a:ea typeface="Funtastic"/>
                <a:cs typeface="Funtastic"/>
                <a:sym typeface="Funtastic"/>
              </a:rPr>
              <a:t>PRESENTATION PLAN</a:t>
            </a:r>
          </a:p>
        </p:txBody>
      </p:sp>
      <p:sp>
        <p:nvSpPr>
          <p:cNvPr name="Freeform 5" id="5"/>
          <p:cNvSpPr/>
          <p:nvPr/>
        </p:nvSpPr>
        <p:spPr>
          <a:xfrm flipH="false" flipV="true" rot="0">
            <a:off x="12950860" y="6532832"/>
            <a:ext cx="6166594" cy="4114800"/>
          </a:xfrm>
          <a:custGeom>
            <a:avLst/>
            <a:gdLst/>
            <a:ahLst/>
            <a:cxnLst/>
            <a:rect r="r" b="b" t="t" l="l"/>
            <a:pathLst>
              <a:path h="4114800" w="6166594">
                <a:moveTo>
                  <a:pt x="0" y="4114800"/>
                </a:moveTo>
                <a:lnTo>
                  <a:pt x="6166594" y="4114800"/>
                </a:lnTo>
                <a:lnTo>
                  <a:pt x="616659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slow">
    <p:cover dir="l"/>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TextBox 2" id="2"/>
          <p:cNvSpPr txBox="true"/>
          <p:nvPr/>
        </p:nvSpPr>
        <p:spPr>
          <a:xfrm rot="0">
            <a:off x="478412" y="3351699"/>
            <a:ext cx="13142114" cy="1422909"/>
          </a:xfrm>
          <a:prstGeom prst="rect">
            <a:avLst/>
          </a:prstGeom>
        </p:spPr>
        <p:txBody>
          <a:bodyPr anchor="t" rtlCol="false" tIns="0" lIns="0" bIns="0" rIns="0">
            <a:spAutoFit/>
          </a:bodyPr>
          <a:lstStyle/>
          <a:p>
            <a:pPr algn="l" marL="0" indent="0" lvl="0">
              <a:lnSpc>
                <a:spcPts val="5732"/>
              </a:lnSpc>
            </a:pPr>
            <a:r>
              <a:rPr lang="en-US" b="true" sz="3746">
                <a:solidFill>
                  <a:srgbClr val="1C1679"/>
                </a:solidFill>
                <a:latin typeface="Crusoe Text Bold"/>
                <a:ea typeface="Crusoe Text Bold"/>
                <a:cs typeface="Crusoe Text Bold"/>
                <a:sym typeface="Crusoe Text Bold"/>
              </a:rPr>
              <a:t>We all know the classic Moroccan joke: ‘A Moroccan, a Chinese, and an American were on the same plane’</a:t>
            </a:r>
          </a:p>
        </p:txBody>
      </p:sp>
      <p:sp>
        <p:nvSpPr>
          <p:cNvPr name="Freeform 3" id="3"/>
          <p:cNvSpPr/>
          <p:nvPr/>
        </p:nvSpPr>
        <p:spPr>
          <a:xfrm flipH="false" flipV="true" rot="-10800000">
            <a:off x="-3747611" y="-1230704"/>
            <a:ext cx="9552621" cy="6374204"/>
          </a:xfrm>
          <a:custGeom>
            <a:avLst/>
            <a:gdLst/>
            <a:ahLst/>
            <a:cxnLst/>
            <a:rect r="r" b="b" t="t" l="l"/>
            <a:pathLst>
              <a:path h="6374204" w="9552621">
                <a:moveTo>
                  <a:pt x="0" y="6374204"/>
                </a:moveTo>
                <a:lnTo>
                  <a:pt x="9552622" y="6374204"/>
                </a:lnTo>
                <a:lnTo>
                  <a:pt x="9552622" y="0"/>
                </a:lnTo>
                <a:lnTo>
                  <a:pt x="0" y="0"/>
                </a:lnTo>
                <a:lnTo>
                  <a:pt x="0" y="6374204"/>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334206" y="6206422"/>
            <a:ext cx="5138253" cy="6103756"/>
          </a:xfrm>
          <a:custGeom>
            <a:avLst/>
            <a:gdLst/>
            <a:ahLst/>
            <a:cxnLst/>
            <a:rect r="r" b="b" t="t" l="l"/>
            <a:pathLst>
              <a:path h="6103756" w="5138253">
                <a:moveTo>
                  <a:pt x="0" y="0"/>
                </a:moveTo>
                <a:lnTo>
                  <a:pt x="5138253" y="0"/>
                </a:lnTo>
                <a:lnTo>
                  <a:pt x="5138253" y="6103756"/>
                </a:lnTo>
                <a:lnTo>
                  <a:pt x="0" y="610375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6689266">
            <a:off x="13818895" y="7384159"/>
            <a:ext cx="3328449" cy="3186990"/>
          </a:xfrm>
          <a:custGeom>
            <a:avLst/>
            <a:gdLst/>
            <a:ahLst/>
            <a:cxnLst/>
            <a:rect r="r" b="b" t="t" l="l"/>
            <a:pathLst>
              <a:path h="3186990" w="3328449">
                <a:moveTo>
                  <a:pt x="0" y="0"/>
                </a:moveTo>
                <a:lnTo>
                  <a:pt x="3328449" y="0"/>
                </a:lnTo>
                <a:lnTo>
                  <a:pt x="3328449" y="3186990"/>
                </a:lnTo>
                <a:lnTo>
                  <a:pt x="0" y="3186990"/>
                </a:lnTo>
                <a:lnTo>
                  <a:pt x="0" y="0"/>
                </a:lnTo>
                <a:close/>
              </a:path>
            </a:pathLst>
          </a:custGeom>
          <a:blipFill>
            <a:blip r:embed="rId6"/>
            <a:stretch>
              <a:fillRect l="0" t="0" r="0" b="0"/>
            </a:stretch>
          </a:blipFill>
        </p:spPr>
      </p:sp>
      <p:sp>
        <p:nvSpPr>
          <p:cNvPr name="Freeform 6" id="6"/>
          <p:cNvSpPr/>
          <p:nvPr/>
        </p:nvSpPr>
        <p:spPr>
          <a:xfrm flipH="false" flipV="false" rot="0">
            <a:off x="13873989" y="436272"/>
            <a:ext cx="3701481" cy="3771238"/>
          </a:xfrm>
          <a:custGeom>
            <a:avLst/>
            <a:gdLst/>
            <a:ahLst/>
            <a:cxnLst/>
            <a:rect r="r" b="b" t="t" l="l"/>
            <a:pathLst>
              <a:path h="3771238" w="3701481">
                <a:moveTo>
                  <a:pt x="0" y="0"/>
                </a:moveTo>
                <a:lnTo>
                  <a:pt x="3701481" y="0"/>
                </a:lnTo>
                <a:lnTo>
                  <a:pt x="3701481" y="3771238"/>
                </a:lnTo>
                <a:lnTo>
                  <a:pt x="0" y="377123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497462" y="5443156"/>
            <a:ext cx="13395577" cy="3534498"/>
          </a:xfrm>
          <a:prstGeom prst="rect">
            <a:avLst/>
          </a:prstGeom>
        </p:spPr>
        <p:txBody>
          <a:bodyPr anchor="t" rtlCol="false" tIns="0" lIns="0" bIns="0" rIns="0">
            <a:spAutoFit/>
          </a:bodyPr>
          <a:lstStyle/>
          <a:p>
            <a:pPr algn="l" marL="0" indent="0" lvl="0">
              <a:lnSpc>
                <a:spcPts val="5613"/>
              </a:lnSpc>
            </a:pPr>
            <a:r>
              <a:rPr lang="en-US" b="true" sz="3668">
                <a:solidFill>
                  <a:srgbClr val="1C1679"/>
                </a:solidFill>
                <a:latin typeface="Crusoe Text Bold"/>
                <a:ea typeface="Crusoe Text Bold"/>
                <a:cs typeface="Crusoe Text Bold"/>
                <a:sym typeface="Crusoe Text Bold"/>
              </a:rPr>
              <a:t>Humor like this joke depends on cultural stereotypes we recognize. But what if someone in this room didn’t grow up with these stereotypes? The joke flops. That’s the power and danger of humor, irony, and cultural references!</a:t>
            </a:r>
          </a:p>
        </p:txBody>
      </p:sp>
      <p:sp>
        <p:nvSpPr>
          <p:cNvPr name="TextBox 8" id="8"/>
          <p:cNvSpPr txBox="true"/>
          <p:nvPr/>
        </p:nvSpPr>
        <p:spPr>
          <a:xfrm rot="0">
            <a:off x="3252917" y="1229645"/>
            <a:ext cx="11358490" cy="1453507"/>
          </a:xfrm>
          <a:prstGeom prst="rect">
            <a:avLst/>
          </a:prstGeom>
        </p:spPr>
        <p:txBody>
          <a:bodyPr anchor="t" rtlCol="false" tIns="0" lIns="0" bIns="0" rIns="0">
            <a:spAutoFit/>
          </a:bodyPr>
          <a:lstStyle/>
          <a:p>
            <a:pPr algn="ctr" marL="0" indent="0" lvl="0">
              <a:lnSpc>
                <a:spcPts val="9599"/>
              </a:lnSpc>
            </a:pPr>
            <a:r>
              <a:rPr lang="en-US" sz="9599" spc="191">
                <a:solidFill>
                  <a:srgbClr val="1C1679"/>
                </a:solidFill>
                <a:latin typeface="Funtastic"/>
                <a:ea typeface="Funtastic"/>
                <a:cs typeface="Funtastic"/>
                <a:sym typeface="Funtastic"/>
              </a:rPr>
              <a:t>INTRODUCTION</a:t>
            </a:r>
          </a:p>
        </p:txBody>
      </p:sp>
    </p:spTree>
  </p:cSld>
  <p:clrMapOvr>
    <a:masterClrMapping/>
  </p:clrMapOvr>
  <p:transition spd="slow">
    <p:cover dir="l"/>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TextBox 2" id="2"/>
          <p:cNvSpPr txBox="true"/>
          <p:nvPr/>
        </p:nvSpPr>
        <p:spPr>
          <a:xfrm rot="0">
            <a:off x="3464755" y="1173813"/>
            <a:ext cx="11358490" cy="1453474"/>
          </a:xfrm>
          <a:prstGeom prst="rect">
            <a:avLst/>
          </a:prstGeom>
        </p:spPr>
        <p:txBody>
          <a:bodyPr anchor="t" rtlCol="false" tIns="0" lIns="0" bIns="0" rIns="0">
            <a:spAutoFit/>
          </a:bodyPr>
          <a:lstStyle/>
          <a:p>
            <a:pPr algn="ctr" marL="0" indent="0" lvl="0">
              <a:lnSpc>
                <a:spcPts val="9599"/>
              </a:lnSpc>
            </a:pPr>
            <a:r>
              <a:rPr lang="en-US" sz="9599" spc="191">
                <a:solidFill>
                  <a:srgbClr val="1C1679"/>
                </a:solidFill>
                <a:latin typeface="Funtastic"/>
                <a:ea typeface="Funtastic"/>
                <a:cs typeface="Funtastic"/>
                <a:sym typeface="Funtastic"/>
              </a:rPr>
              <a:t>HUMOR</a:t>
            </a:r>
          </a:p>
        </p:txBody>
      </p:sp>
      <p:sp>
        <p:nvSpPr>
          <p:cNvPr name="Freeform 3" id="3"/>
          <p:cNvSpPr/>
          <p:nvPr/>
        </p:nvSpPr>
        <p:spPr>
          <a:xfrm flipH="true" flipV="false" rot="0">
            <a:off x="0" y="-1486890"/>
            <a:ext cx="6166594" cy="4114800"/>
          </a:xfrm>
          <a:custGeom>
            <a:avLst/>
            <a:gdLst/>
            <a:ahLst/>
            <a:cxnLst/>
            <a:rect r="r" b="b" t="t" l="l"/>
            <a:pathLst>
              <a:path h="4114800" w="6166594">
                <a:moveTo>
                  <a:pt x="6166594" y="0"/>
                </a:moveTo>
                <a:lnTo>
                  <a:pt x="0" y="0"/>
                </a:lnTo>
                <a:lnTo>
                  <a:pt x="0" y="4114800"/>
                </a:lnTo>
                <a:lnTo>
                  <a:pt x="6166594" y="4114800"/>
                </a:lnTo>
                <a:lnTo>
                  <a:pt x="61665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12121406" y="7779995"/>
            <a:ext cx="6166594" cy="4114800"/>
          </a:xfrm>
          <a:custGeom>
            <a:avLst/>
            <a:gdLst/>
            <a:ahLst/>
            <a:cxnLst/>
            <a:rect r="r" b="b" t="t" l="l"/>
            <a:pathLst>
              <a:path h="4114800" w="6166594">
                <a:moveTo>
                  <a:pt x="0" y="4114800"/>
                </a:moveTo>
                <a:lnTo>
                  <a:pt x="6166594" y="4114800"/>
                </a:lnTo>
                <a:lnTo>
                  <a:pt x="616659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3428384" y="2941645"/>
            <a:ext cx="3830916" cy="3670714"/>
          </a:xfrm>
          <a:custGeom>
            <a:avLst/>
            <a:gdLst/>
            <a:ahLst/>
            <a:cxnLst/>
            <a:rect r="r" b="b" t="t" l="l"/>
            <a:pathLst>
              <a:path h="3670714" w="3830916">
                <a:moveTo>
                  <a:pt x="0" y="0"/>
                </a:moveTo>
                <a:lnTo>
                  <a:pt x="3830916" y="0"/>
                </a:lnTo>
                <a:lnTo>
                  <a:pt x="3830916" y="3670714"/>
                </a:lnTo>
                <a:lnTo>
                  <a:pt x="0" y="367071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028700" y="3713170"/>
            <a:ext cx="11297193" cy="1242823"/>
          </a:xfrm>
          <a:prstGeom prst="rect">
            <a:avLst/>
          </a:prstGeom>
        </p:spPr>
        <p:txBody>
          <a:bodyPr anchor="t" rtlCol="false" tIns="0" lIns="0" bIns="0" rIns="0">
            <a:spAutoFit/>
          </a:bodyPr>
          <a:lstStyle/>
          <a:p>
            <a:pPr algn="l" marL="0" indent="0" lvl="0">
              <a:lnSpc>
                <a:spcPts val="5048"/>
              </a:lnSpc>
            </a:pPr>
            <a:r>
              <a:rPr lang="en-US" b="true" sz="3299">
                <a:solidFill>
                  <a:srgbClr val="1C1679"/>
                </a:solidFill>
                <a:latin typeface="Crusoe Text Bold"/>
                <a:ea typeface="Crusoe Text Bold"/>
                <a:cs typeface="Crusoe Text Bold"/>
                <a:sym typeface="Crusoe Text Bold"/>
              </a:rPr>
              <a:t>Humor is anything that makes people laugh or feel amused, often by being silly, unexpected, or clever.</a:t>
            </a:r>
          </a:p>
        </p:txBody>
      </p:sp>
      <p:sp>
        <p:nvSpPr>
          <p:cNvPr name="TextBox 7" id="7"/>
          <p:cNvSpPr txBox="true"/>
          <p:nvPr/>
        </p:nvSpPr>
        <p:spPr>
          <a:xfrm rot="0">
            <a:off x="1028700" y="6304572"/>
            <a:ext cx="16230600" cy="2865120"/>
          </a:xfrm>
          <a:prstGeom prst="rect">
            <a:avLst/>
          </a:prstGeom>
        </p:spPr>
        <p:txBody>
          <a:bodyPr anchor="t" rtlCol="false" tIns="0" lIns="0" bIns="0" rIns="0">
            <a:spAutoFit/>
          </a:bodyPr>
          <a:lstStyle/>
          <a:p>
            <a:pPr algn="l">
              <a:lnSpc>
                <a:spcPts val="4590"/>
              </a:lnSpc>
            </a:pPr>
          </a:p>
          <a:p>
            <a:pPr algn="l" marL="647700" indent="-323850" lvl="1">
              <a:lnSpc>
                <a:spcPts val="4590"/>
              </a:lnSpc>
              <a:buFont typeface="Arial"/>
              <a:buChar char="•"/>
            </a:pPr>
            <a:r>
              <a:rPr lang="en-US" b="true" sz="3000">
                <a:solidFill>
                  <a:srgbClr val="1C1679"/>
                </a:solidFill>
                <a:latin typeface="Crusoe Text Bold"/>
                <a:ea typeface="Crusoe Text Bold"/>
                <a:cs typeface="Crusoe Text Bold"/>
                <a:sym typeface="Crusoe Text Bold"/>
              </a:rPr>
              <a:t>Unexpected twists</a:t>
            </a:r>
          </a:p>
          <a:p>
            <a:pPr algn="l" marL="647700" indent="-323850" lvl="1">
              <a:lnSpc>
                <a:spcPts val="4590"/>
              </a:lnSpc>
              <a:buFont typeface="Arial"/>
              <a:buChar char="•"/>
            </a:pPr>
            <a:r>
              <a:rPr lang="en-US" b="true" sz="3000">
                <a:solidFill>
                  <a:srgbClr val="1C1679"/>
                </a:solidFill>
                <a:latin typeface="Crusoe Text Bold"/>
                <a:ea typeface="Crusoe Text Bold"/>
                <a:cs typeface="Crusoe Text Bold"/>
                <a:sym typeface="Crusoe Text Bold"/>
              </a:rPr>
              <a:t>Exaggeration</a:t>
            </a:r>
          </a:p>
          <a:p>
            <a:pPr algn="l" marL="647700" indent="-323850" lvl="1">
              <a:lnSpc>
                <a:spcPts val="4590"/>
              </a:lnSpc>
              <a:buFont typeface="Arial"/>
              <a:buChar char="•"/>
            </a:pPr>
            <a:r>
              <a:rPr lang="en-US" b="true" sz="3000">
                <a:solidFill>
                  <a:srgbClr val="1C1679"/>
                </a:solidFill>
                <a:latin typeface="Crusoe Text Bold"/>
                <a:ea typeface="Crusoe Text Bold"/>
                <a:cs typeface="Crusoe Text Bold"/>
                <a:sym typeface="Crusoe Text Bold"/>
              </a:rPr>
              <a:t>Playful language (puns, wordplay)</a:t>
            </a:r>
          </a:p>
          <a:p>
            <a:pPr algn="l" marL="0" indent="0" lvl="0">
              <a:lnSpc>
                <a:spcPts val="4590"/>
              </a:lnSpc>
            </a:pPr>
          </a:p>
        </p:txBody>
      </p:sp>
      <p:sp>
        <p:nvSpPr>
          <p:cNvPr name="TextBox 8" id="8"/>
          <p:cNvSpPr txBox="true"/>
          <p:nvPr/>
        </p:nvSpPr>
        <p:spPr>
          <a:xfrm rot="0">
            <a:off x="1028700" y="2932120"/>
            <a:ext cx="8748938" cy="685733"/>
          </a:xfrm>
          <a:prstGeom prst="rect">
            <a:avLst/>
          </a:prstGeom>
        </p:spPr>
        <p:txBody>
          <a:bodyPr anchor="t" rtlCol="false" tIns="0" lIns="0" bIns="0" rIns="0">
            <a:spAutoFit/>
          </a:bodyPr>
          <a:lstStyle/>
          <a:p>
            <a:pPr algn="l" marL="0" indent="0" lvl="0">
              <a:lnSpc>
                <a:spcPts val="4499"/>
              </a:lnSpc>
            </a:pPr>
            <a:r>
              <a:rPr lang="en-US" sz="4499" spc="89">
                <a:solidFill>
                  <a:srgbClr val="1C1679"/>
                </a:solidFill>
                <a:latin typeface="Funtastic"/>
                <a:ea typeface="Funtastic"/>
                <a:cs typeface="Funtastic"/>
                <a:sym typeface="Funtastic"/>
              </a:rPr>
              <a:t>WHAT IS IT?</a:t>
            </a:r>
          </a:p>
        </p:txBody>
      </p:sp>
      <p:sp>
        <p:nvSpPr>
          <p:cNvPr name="TextBox 9" id="9"/>
          <p:cNvSpPr txBox="true"/>
          <p:nvPr/>
        </p:nvSpPr>
        <p:spPr>
          <a:xfrm rot="0">
            <a:off x="1028700" y="5926593"/>
            <a:ext cx="6718939" cy="685799"/>
          </a:xfrm>
          <a:prstGeom prst="rect">
            <a:avLst/>
          </a:prstGeom>
        </p:spPr>
        <p:txBody>
          <a:bodyPr anchor="t" rtlCol="false" tIns="0" lIns="0" bIns="0" rIns="0">
            <a:spAutoFit/>
          </a:bodyPr>
          <a:lstStyle/>
          <a:p>
            <a:pPr algn="l" marL="0" indent="0" lvl="0">
              <a:lnSpc>
                <a:spcPts val="4499"/>
              </a:lnSpc>
            </a:pPr>
            <a:r>
              <a:rPr lang="en-US" sz="4499" spc="89">
                <a:solidFill>
                  <a:srgbClr val="1C1679"/>
                </a:solidFill>
                <a:latin typeface="Funtastic"/>
                <a:ea typeface="Funtastic"/>
                <a:cs typeface="Funtastic"/>
                <a:sym typeface="Funtastic"/>
              </a:rPr>
              <a:t>THROUGH:</a:t>
            </a:r>
          </a:p>
        </p:txBody>
      </p:sp>
    </p:spTree>
  </p:cSld>
  <p:clrMapOvr>
    <a:masterClrMapping/>
  </p:clrMapOvr>
  <p:transition spd="fast">
    <p:wipe dir="l"/>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TextBox 2" id="2"/>
          <p:cNvSpPr txBox="true"/>
          <p:nvPr/>
        </p:nvSpPr>
        <p:spPr>
          <a:xfrm rot="0">
            <a:off x="1028700" y="1028700"/>
            <a:ext cx="16230600" cy="1453474"/>
          </a:xfrm>
          <a:prstGeom prst="rect">
            <a:avLst/>
          </a:prstGeom>
        </p:spPr>
        <p:txBody>
          <a:bodyPr anchor="t" rtlCol="false" tIns="0" lIns="0" bIns="0" rIns="0">
            <a:spAutoFit/>
          </a:bodyPr>
          <a:lstStyle/>
          <a:p>
            <a:pPr algn="ctr" marL="0" indent="0" lvl="0">
              <a:lnSpc>
                <a:spcPts val="9599"/>
              </a:lnSpc>
            </a:pPr>
            <a:r>
              <a:rPr lang="en-US" sz="9599" spc="191">
                <a:solidFill>
                  <a:srgbClr val="1C1679"/>
                </a:solidFill>
                <a:latin typeface="Funtastic"/>
                <a:ea typeface="Funtastic"/>
                <a:cs typeface="Funtastic"/>
                <a:sym typeface="Funtastic"/>
              </a:rPr>
              <a:t>IRONY</a:t>
            </a:r>
          </a:p>
        </p:txBody>
      </p:sp>
      <p:sp>
        <p:nvSpPr>
          <p:cNvPr name="Freeform 3" id="3"/>
          <p:cNvSpPr/>
          <p:nvPr/>
        </p:nvSpPr>
        <p:spPr>
          <a:xfrm flipH="true" flipV="false" rot="0">
            <a:off x="0" y="-1486890"/>
            <a:ext cx="6166594" cy="4114800"/>
          </a:xfrm>
          <a:custGeom>
            <a:avLst/>
            <a:gdLst/>
            <a:ahLst/>
            <a:cxnLst/>
            <a:rect r="r" b="b" t="t" l="l"/>
            <a:pathLst>
              <a:path h="4114800" w="6166594">
                <a:moveTo>
                  <a:pt x="6166594" y="0"/>
                </a:moveTo>
                <a:lnTo>
                  <a:pt x="0" y="0"/>
                </a:lnTo>
                <a:lnTo>
                  <a:pt x="0" y="4114800"/>
                </a:lnTo>
                <a:lnTo>
                  <a:pt x="6166594" y="4114800"/>
                </a:lnTo>
                <a:lnTo>
                  <a:pt x="61665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0">
            <a:off x="12121406" y="7779995"/>
            <a:ext cx="6166594" cy="4114800"/>
          </a:xfrm>
          <a:custGeom>
            <a:avLst/>
            <a:gdLst/>
            <a:ahLst/>
            <a:cxnLst/>
            <a:rect r="r" b="b" t="t" l="l"/>
            <a:pathLst>
              <a:path h="4114800" w="6166594">
                <a:moveTo>
                  <a:pt x="0" y="4114800"/>
                </a:moveTo>
                <a:lnTo>
                  <a:pt x="6166594" y="4114800"/>
                </a:lnTo>
                <a:lnTo>
                  <a:pt x="616659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2774902" y="257170"/>
            <a:ext cx="4524648" cy="2996568"/>
          </a:xfrm>
          <a:custGeom>
            <a:avLst/>
            <a:gdLst/>
            <a:ahLst/>
            <a:cxnLst/>
            <a:rect r="r" b="b" t="t" l="l"/>
            <a:pathLst>
              <a:path h="2996568" w="4524648">
                <a:moveTo>
                  <a:pt x="0" y="0"/>
                </a:moveTo>
                <a:lnTo>
                  <a:pt x="4524647" y="0"/>
                </a:lnTo>
                <a:lnTo>
                  <a:pt x="4524647" y="2996568"/>
                </a:lnTo>
                <a:lnTo>
                  <a:pt x="0" y="299656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1028700" y="4237072"/>
            <a:ext cx="16270849" cy="1175005"/>
          </a:xfrm>
          <a:prstGeom prst="rect">
            <a:avLst/>
          </a:prstGeom>
        </p:spPr>
        <p:txBody>
          <a:bodyPr anchor="t" rtlCol="false" tIns="0" lIns="0" bIns="0" rIns="0">
            <a:spAutoFit/>
          </a:bodyPr>
          <a:lstStyle/>
          <a:p>
            <a:pPr algn="l" marL="0" indent="0" lvl="0">
              <a:lnSpc>
                <a:spcPts val="4742"/>
              </a:lnSpc>
            </a:pPr>
            <a:r>
              <a:rPr lang="en-US" b="true" sz="3099">
                <a:solidFill>
                  <a:srgbClr val="1C1679"/>
                </a:solidFill>
                <a:latin typeface="Crusoe Text Bold"/>
                <a:ea typeface="Crusoe Text Bold"/>
                <a:cs typeface="Crusoe Text Bold"/>
                <a:sym typeface="Crusoe Text Bold"/>
              </a:rPr>
              <a:t>Irony is a literary device where a writer creates a scenario where the outcome is in contrast from what was expected.</a:t>
            </a:r>
          </a:p>
        </p:txBody>
      </p:sp>
      <p:sp>
        <p:nvSpPr>
          <p:cNvPr name="TextBox 7" id="7"/>
          <p:cNvSpPr txBox="true"/>
          <p:nvPr/>
        </p:nvSpPr>
        <p:spPr>
          <a:xfrm rot="0">
            <a:off x="1028700" y="3244213"/>
            <a:ext cx="8748938" cy="685733"/>
          </a:xfrm>
          <a:prstGeom prst="rect">
            <a:avLst/>
          </a:prstGeom>
        </p:spPr>
        <p:txBody>
          <a:bodyPr anchor="t" rtlCol="false" tIns="0" lIns="0" bIns="0" rIns="0">
            <a:spAutoFit/>
          </a:bodyPr>
          <a:lstStyle/>
          <a:p>
            <a:pPr algn="l" marL="0" indent="0" lvl="0">
              <a:lnSpc>
                <a:spcPts val="4499"/>
              </a:lnSpc>
            </a:pPr>
            <a:r>
              <a:rPr lang="en-US" sz="4499" spc="89">
                <a:solidFill>
                  <a:srgbClr val="1C1679"/>
                </a:solidFill>
                <a:latin typeface="Funtastic"/>
                <a:ea typeface="Funtastic"/>
                <a:cs typeface="Funtastic"/>
                <a:sym typeface="Funtastic"/>
              </a:rPr>
              <a:t>WHAT IS IT?</a:t>
            </a:r>
          </a:p>
        </p:txBody>
      </p:sp>
      <p:sp>
        <p:nvSpPr>
          <p:cNvPr name="TextBox 8" id="8"/>
          <p:cNvSpPr txBox="true"/>
          <p:nvPr/>
        </p:nvSpPr>
        <p:spPr>
          <a:xfrm rot="0">
            <a:off x="1028700" y="5038725"/>
            <a:ext cx="12195759" cy="4169671"/>
          </a:xfrm>
          <a:prstGeom prst="rect">
            <a:avLst/>
          </a:prstGeom>
        </p:spPr>
        <p:txBody>
          <a:bodyPr anchor="t" rtlCol="false" tIns="0" lIns="0" bIns="0" rIns="0">
            <a:spAutoFit/>
          </a:bodyPr>
          <a:lstStyle/>
          <a:p>
            <a:pPr algn="l">
              <a:lnSpc>
                <a:spcPts val="4721"/>
              </a:lnSpc>
            </a:pPr>
          </a:p>
          <a:p>
            <a:pPr algn="l" marL="1332623" indent="-444208" lvl="2">
              <a:lnSpc>
                <a:spcPts val="4721"/>
              </a:lnSpc>
              <a:buFont typeface="Arial"/>
              <a:buChar char="⚬"/>
            </a:pPr>
            <a:r>
              <a:rPr lang="en-US" b="true" sz="3086">
                <a:solidFill>
                  <a:srgbClr val="1C1679"/>
                </a:solidFill>
                <a:latin typeface="Crusoe Text Bold"/>
                <a:ea typeface="Crusoe Text Bold"/>
                <a:cs typeface="Crusoe Text Bold"/>
                <a:sym typeface="Crusoe Text Bold"/>
              </a:rPr>
              <a:t>Verbal irony: Saying the opposite of what you mean</a:t>
            </a:r>
          </a:p>
          <a:p>
            <a:pPr algn="l" marL="1332623" indent="-444208" lvl="2">
              <a:lnSpc>
                <a:spcPts val="4721"/>
              </a:lnSpc>
              <a:buFont typeface="Arial"/>
              <a:buChar char="⚬"/>
            </a:pPr>
            <a:r>
              <a:rPr lang="en-US" b="true" sz="3086">
                <a:solidFill>
                  <a:srgbClr val="1C1679"/>
                </a:solidFill>
                <a:latin typeface="Crusoe Text Bold"/>
                <a:ea typeface="Crusoe Text Bold"/>
                <a:cs typeface="Crusoe Text Bold"/>
                <a:sym typeface="Crusoe Text Bold"/>
              </a:rPr>
              <a:t>Situational irony: When the opposite of what's expected happens</a:t>
            </a:r>
          </a:p>
          <a:p>
            <a:pPr algn="l" marL="1332623" indent="-444208" lvl="2">
              <a:lnSpc>
                <a:spcPts val="4721"/>
              </a:lnSpc>
              <a:buFont typeface="Arial"/>
              <a:buChar char="⚬"/>
            </a:pPr>
            <a:r>
              <a:rPr lang="en-US" b="true" sz="3086">
                <a:solidFill>
                  <a:srgbClr val="1C1679"/>
                </a:solidFill>
                <a:latin typeface="Crusoe Text Bold"/>
                <a:ea typeface="Crusoe Text Bold"/>
                <a:cs typeface="Crusoe Text Bold"/>
                <a:sym typeface="Crusoe Text Bold"/>
              </a:rPr>
              <a:t>Dramatic irony: When the audience knows something characters don't </a:t>
            </a:r>
          </a:p>
          <a:p>
            <a:pPr algn="l">
              <a:lnSpc>
                <a:spcPts val="5180"/>
              </a:lnSpc>
            </a:pPr>
          </a:p>
        </p:txBody>
      </p:sp>
    </p:spTree>
  </p:cSld>
  <p:clrMapOvr>
    <a:masterClrMapping/>
  </p:clrMapOvr>
  <p:transition spd="fast">
    <p:wipe dir="l"/>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Freeform 2" id="2"/>
          <p:cNvSpPr/>
          <p:nvPr/>
        </p:nvSpPr>
        <p:spPr>
          <a:xfrm flipH="false" flipV="false" rot="317260">
            <a:off x="-2705100" y="-3311619"/>
            <a:ext cx="22144138" cy="5797738"/>
          </a:xfrm>
          <a:custGeom>
            <a:avLst/>
            <a:gdLst/>
            <a:ahLst/>
            <a:cxnLst/>
            <a:rect r="r" b="b" t="t" l="l"/>
            <a:pathLst>
              <a:path h="5797738" w="22144138">
                <a:moveTo>
                  <a:pt x="0" y="0"/>
                </a:moveTo>
                <a:lnTo>
                  <a:pt x="22144138" y="0"/>
                </a:lnTo>
                <a:lnTo>
                  <a:pt x="22144138" y="5797738"/>
                </a:lnTo>
                <a:lnTo>
                  <a:pt x="0" y="57977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2029820"/>
            <a:ext cx="16230600" cy="2244084"/>
          </a:xfrm>
          <a:prstGeom prst="rect">
            <a:avLst/>
          </a:prstGeom>
        </p:spPr>
        <p:txBody>
          <a:bodyPr anchor="t" rtlCol="false" tIns="0" lIns="0" bIns="0" rIns="0">
            <a:spAutoFit/>
          </a:bodyPr>
          <a:lstStyle/>
          <a:p>
            <a:pPr algn="ctr" marL="0" indent="0" lvl="0">
              <a:lnSpc>
                <a:spcPts val="8099"/>
              </a:lnSpc>
            </a:pPr>
            <a:r>
              <a:rPr lang="en-US" sz="8099" spc="161">
                <a:solidFill>
                  <a:srgbClr val="1C1679"/>
                </a:solidFill>
                <a:latin typeface="Funtastic"/>
                <a:ea typeface="Funtastic"/>
                <a:cs typeface="Funtastic"/>
                <a:sym typeface="Funtastic"/>
              </a:rPr>
              <a:t>WHAT ARE IMPLICIT CULTURAL REFERENCES?</a:t>
            </a:r>
          </a:p>
        </p:txBody>
      </p:sp>
      <p:grpSp>
        <p:nvGrpSpPr>
          <p:cNvPr name="Group 4" id="4"/>
          <p:cNvGrpSpPr/>
          <p:nvPr/>
        </p:nvGrpSpPr>
        <p:grpSpPr>
          <a:xfrm rot="0">
            <a:off x="1028700" y="4952682"/>
            <a:ext cx="16230600" cy="3785553"/>
            <a:chOff x="0" y="0"/>
            <a:chExt cx="4274726" cy="997018"/>
          </a:xfrm>
        </p:grpSpPr>
        <p:sp>
          <p:nvSpPr>
            <p:cNvPr name="Freeform 5" id="5"/>
            <p:cNvSpPr/>
            <p:nvPr/>
          </p:nvSpPr>
          <p:spPr>
            <a:xfrm flipH="false" flipV="false" rot="0">
              <a:off x="0" y="0"/>
              <a:ext cx="4274726" cy="997018"/>
            </a:xfrm>
            <a:custGeom>
              <a:avLst/>
              <a:gdLst/>
              <a:ahLst/>
              <a:cxnLst/>
              <a:rect r="r" b="b" t="t" l="l"/>
              <a:pathLst>
                <a:path h="997018" w="4274726">
                  <a:moveTo>
                    <a:pt x="24327" y="0"/>
                  </a:moveTo>
                  <a:lnTo>
                    <a:pt x="4250399" y="0"/>
                  </a:lnTo>
                  <a:cubicBezTo>
                    <a:pt x="4263834" y="0"/>
                    <a:pt x="4274726" y="10891"/>
                    <a:pt x="4274726" y="24327"/>
                  </a:cubicBezTo>
                  <a:lnTo>
                    <a:pt x="4274726" y="972691"/>
                  </a:lnTo>
                  <a:cubicBezTo>
                    <a:pt x="4274726" y="986127"/>
                    <a:pt x="4263834" y="997018"/>
                    <a:pt x="4250399" y="997018"/>
                  </a:cubicBezTo>
                  <a:lnTo>
                    <a:pt x="24327" y="997018"/>
                  </a:lnTo>
                  <a:cubicBezTo>
                    <a:pt x="10891" y="997018"/>
                    <a:pt x="0" y="986127"/>
                    <a:pt x="0" y="972691"/>
                  </a:cubicBezTo>
                  <a:lnTo>
                    <a:pt x="0" y="24327"/>
                  </a:lnTo>
                  <a:cubicBezTo>
                    <a:pt x="0" y="10891"/>
                    <a:pt x="10891" y="0"/>
                    <a:pt x="24327" y="0"/>
                  </a:cubicBezTo>
                  <a:close/>
                </a:path>
              </a:pathLst>
            </a:custGeom>
            <a:solidFill>
              <a:srgbClr val="287A74"/>
            </a:solidFill>
          </p:spPr>
        </p:sp>
        <p:sp>
          <p:nvSpPr>
            <p:cNvPr name="TextBox 6" id="6"/>
            <p:cNvSpPr txBox="true"/>
            <p:nvPr/>
          </p:nvSpPr>
          <p:spPr>
            <a:xfrm>
              <a:off x="0" y="-28575"/>
              <a:ext cx="4274726" cy="1025593"/>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1371366" y="5326379"/>
            <a:ext cx="15545267" cy="3411856"/>
          </a:xfrm>
          <a:prstGeom prst="rect">
            <a:avLst/>
          </a:prstGeom>
        </p:spPr>
        <p:txBody>
          <a:bodyPr anchor="t" rtlCol="false" tIns="0" lIns="0" bIns="0" rIns="0">
            <a:spAutoFit/>
          </a:bodyPr>
          <a:lstStyle/>
          <a:p>
            <a:pPr algn="ctr" marL="971545" indent="-485773" lvl="1">
              <a:lnSpc>
                <a:spcPts val="6884"/>
              </a:lnSpc>
              <a:buFont typeface="Arial"/>
              <a:buChar char="•"/>
            </a:pPr>
            <a:r>
              <a:rPr lang="en-US" b="true" sz="4499">
                <a:solidFill>
                  <a:srgbClr val="FFFFFF"/>
                </a:solidFill>
                <a:latin typeface="Crusoe Text Bold"/>
                <a:ea typeface="Crusoe Text Bold"/>
                <a:cs typeface="Crusoe Text Bold"/>
                <a:sym typeface="Crusoe Text Bold"/>
              </a:rPr>
              <a:t>These are indirect allusions to shared knowledge within a culture, such as traditions, historical events, pop culture, or societal norms.</a:t>
            </a:r>
          </a:p>
          <a:p>
            <a:pPr algn="ctr" marL="0" indent="0" lvl="0">
              <a:lnSpc>
                <a:spcPts val="6884"/>
              </a:lnSpc>
            </a:pPr>
          </a:p>
        </p:txBody>
      </p:sp>
    </p:spTree>
  </p:cSld>
  <p:clrMapOvr>
    <a:masterClrMapping/>
  </p:clrMapOvr>
  <p:transition spd="fast">
    <p:wipe dir="l"/>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TextBox 2" id="2"/>
          <p:cNvSpPr txBox="true"/>
          <p:nvPr/>
        </p:nvSpPr>
        <p:spPr>
          <a:xfrm rot="0">
            <a:off x="2630302" y="835709"/>
            <a:ext cx="13534766" cy="3176641"/>
          </a:xfrm>
          <a:prstGeom prst="rect">
            <a:avLst/>
          </a:prstGeom>
        </p:spPr>
        <p:txBody>
          <a:bodyPr anchor="t" rtlCol="false" tIns="0" lIns="0" bIns="0" rIns="0">
            <a:spAutoFit/>
          </a:bodyPr>
          <a:lstStyle/>
          <a:p>
            <a:pPr algn="ctr">
              <a:lnSpc>
                <a:spcPts val="8005"/>
              </a:lnSpc>
            </a:pPr>
            <a:r>
              <a:rPr lang="en-US" sz="8005" spc="160">
                <a:solidFill>
                  <a:srgbClr val="1C1679"/>
                </a:solidFill>
                <a:latin typeface="Funtastic"/>
                <a:ea typeface="Funtastic"/>
                <a:cs typeface="Funtastic"/>
                <a:sym typeface="Funtastic"/>
              </a:rPr>
              <a:t>WHY ARE THEY IMPORTANT IN COMMUNICATION?</a:t>
            </a:r>
          </a:p>
          <a:p>
            <a:pPr algn="ctr" marL="0" indent="0" lvl="0">
              <a:lnSpc>
                <a:spcPts val="7588"/>
              </a:lnSpc>
            </a:pPr>
          </a:p>
        </p:txBody>
      </p:sp>
      <p:sp>
        <p:nvSpPr>
          <p:cNvPr name="Freeform 3" id="3"/>
          <p:cNvSpPr/>
          <p:nvPr/>
        </p:nvSpPr>
        <p:spPr>
          <a:xfrm flipH="true" flipV="false" rot="0">
            <a:off x="0" y="-1486890"/>
            <a:ext cx="6166594" cy="4114800"/>
          </a:xfrm>
          <a:custGeom>
            <a:avLst/>
            <a:gdLst/>
            <a:ahLst/>
            <a:cxnLst/>
            <a:rect r="r" b="b" t="t" l="l"/>
            <a:pathLst>
              <a:path h="4114800" w="6166594">
                <a:moveTo>
                  <a:pt x="6166594" y="0"/>
                </a:moveTo>
                <a:lnTo>
                  <a:pt x="0" y="0"/>
                </a:lnTo>
                <a:lnTo>
                  <a:pt x="0" y="4114800"/>
                </a:lnTo>
                <a:lnTo>
                  <a:pt x="6166594" y="4114800"/>
                </a:lnTo>
                <a:lnTo>
                  <a:pt x="61665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1028700" y="3600450"/>
            <a:ext cx="4667765" cy="5968245"/>
            <a:chOff x="0" y="0"/>
            <a:chExt cx="1229370" cy="1571883"/>
          </a:xfrm>
        </p:grpSpPr>
        <p:sp>
          <p:nvSpPr>
            <p:cNvPr name="Freeform 5" id="5"/>
            <p:cNvSpPr/>
            <p:nvPr/>
          </p:nvSpPr>
          <p:spPr>
            <a:xfrm flipH="false" flipV="false" rot="0">
              <a:off x="0" y="0"/>
              <a:ext cx="1229370" cy="1571883"/>
            </a:xfrm>
            <a:custGeom>
              <a:avLst/>
              <a:gdLst/>
              <a:ahLst/>
              <a:cxnLst/>
              <a:rect r="r" b="b" t="t" l="l"/>
              <a:pathLst>
                <a:path h="1571883" w="1229370">
                  <a:moveTo>
                    <a:pt x="84588" y="0"/>
                  </a:moveTo>
                  <a:lnTo>
                    <a:pt x="1144782" y="0"/>
                  </a:lnTo>
                  <a:cubicBezTo>
                    <a:pt x="1167216" y="0"/>
                    <a:pt x="1188732" y="8912"/>
                    <a:pt x="1204595" y="24775"/>
                  </a:cubicBezTo>
                  <a:cubicBezTo>
                    <a:pt x="1220458" y="40639"/>
                    <a:pt x="1229370" y="62154"/>
                    <a:pt x="1229370" y="84588"/>
                  </a:cubicBezTo>
                  <a:lnTo>
                    <a:pt x="1229370" y="1487295"/>
                  </a:lnTo>
                  <a:cubicBezTo>
                    <a:pt x="1229370" y="1509729"/>
                    <a:pt x="1220458" y="1531245"/>
                    <a:pt x="1204595" y="1547108"/>
                  </a:cubicBezTo>
                  <a:cubicBezTo>
                    <a:pt x="1188732" y="1562971"/>
                    <a:pt x="1167216" y="1571883"/>
                    <a:pt x="1144782" y="1571883"/>
                  </a:cubicBezTo>
                  <a:lnTo>
                    <a:pt x="84588" y="1571883"/>
                  </a:lnTo>
                  <a:cubicBezTo>
                    <a:pt x="62154" y="1571883"/>
                    <a:pt x="40639" y="1562971"/>
                    <a:pt x="24775" y="1547108"/>
                  </a:cubicBezTo>
                  <a:cubicBezTo>
                    <a:pt x="8912" y="1531245"/>
                    <a:pt x="0" y="1509729"/>
                    <a:pt x="0" y="1487295"/>
                  </a:cubicBezTo>
                  <a:lnTo>
                    <a:pt x="0" y="84588"/>
                  </a:lnTo>
                  <a:cubicBezTo>
                    <a:pt x="0" y="62154"/>
                    <a:pt x="8912" y="40639"/>
                    <a:pt x="24775" y="24775"/>
                  </a:cubicBezTo>
                  <a:cubicBezTo>
                    <a:pt x="40639" y="8912"/>
                    <a:pt x="62154" y="0"/>
                    <a:pt x="84588" y="0"/>
                  </a:cubicBezTo>
                  <a:close/>
                </a:path>
              </a:pathLst>
            </a:custGeom>
            <a:solidFill>
              <a:srgbClr val="287A74"/>
            </a:solidFill>
          </p:spPr>
        </p:sp>
        <p:sp>
          <p:nvSpPr>
            <p:cNvPr name="TextBox 6" id="6"/>
            <p:cNvSpPr txBox="true"/>
            <p:nvPr/>
          </p:nvSpPr>
          <p:spPr>
            <a:xfrm>
              <a:off x="0" y="-28575"/>
              <a:ext cx="1229370" cy="1600458"/>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1208577" y="4243388"/>
            <a:ext cx="4306141" cy="3225927"/>
          </a:xfrm>
          <a:prstGeom prst="rect">
            <a:avLst/>
          </a:prstGeom>
        </p:spPr>
        <p:txBody>
          <a:bodyPr anchor="t" rtlCol="false" tIns="0" lIns="0" bIns="0" rIns="0">
            <a:spAutoFit/>
          </a:bodyPr>
          <a:lstStyle/>
          <a:p>
            <a:pPr algn="ctr">
              <a:lnSpc>
                <a:spcPts val="4284"/>
              </a:lnSpc>
            </a:pPr>
          </a:p>
          <a:p>
            <a:pPr algn="ctr" marL="0" indent="0" lvl="0">
              <a:lnSpc>
                <a:spcPts val="4284"/>
              </a:lnSpc>
            </a:pPr>
            <a:r>
              <a:rPr lang="en-US" sz="2800">
                <a:solidFill>
                  <a:srgbClr val="FFFFFF"/>
                </a:solidFill>
                <a:latin typeface="Crusoe Text"/>
                <a:ea typeface="Crusoe Text"/>
                <a:cs typeface="Crusoe Text"/>
                <a:sym typeface="Crusoe Text"/>
              </a:rPr>
              <a:t>Humor and irony build connections, relieve tension, and make communication engaging</a:t>
            </a:r>
          </a:p>
        </p:txBody>
      </p:sp>
      <p:grpSp>
        <p:nvGrpSpPr>
          <p:cNvPr name="Group 8" id="8"/>
          <p:cNvGrpSpPr/>
          <p:nvPr/>
        </p:nvGrpSpPr>
        <p:grpSpPr>
          <a:xfrm rot="0">
            <a:off x="6810118" y="3600450"/>
            <a:ext cx="4667765" cy="5968245"/>
            <a:chOff x="0" y="0"/>
            <a:chExt cx="1229370" cy="1571883"/>
          </a:xfrm>
        </p:grpSpPr>
        <p:sp>
          <p:nvSpPr>
            <p:cNvPr name="Freeform 9" id="9"/>
            <p:cNvSpPr/>
            <p:nvPr/>
          </p:nvSpPr>
          <p:spPr>
            <a:xfrm flipH="false" flipV="false" rot="0">
              <a:off x="0" y="0"/>
              <a:ext cx="1229370" cy="1571883"/>
            </a:xfrm>
            <a:custGeom>
              <a:avLst/>
              <a:gdLst/>
              <a:ahLst/>
              <a:cxnLst/>
              <a:rect r="r" b="b" t="t" l="l"/>
              <a:pathLst>
                <a:path h="1571883" w="1229370">
                  <a:moveTo>
                    <a:pt x="84588" y="0"/>
                  </a:moveTo>
                  <a:lnTo>
                    <a:pt x="1144782" y="0"/>
                  </a:lnTo>
                  <a:cubicBezTo>
                    <a:pt x="1167216" y="0"/>
                    <a:pt x="1188732" y="8912"/>
                    <a:pt x="1204595" y="24775"/>
                  </a:cubicBezTo>
                  <a:cubicBezTo>
                    <a:pt x="1220458" y="40639"/>
                    <a:pt x="1229370" y="62154"/>
                    <a:pt x="1229370" y="84588"/>
                  </a:cubicBezTo>
                  <a:lnTo>
                    <a:pt x="1229370" y="1487295"/>
                  </a:lnTo>
                  <a:cubicBezTo>
                    <a:pt x="1229370" y="1509729"/>
                    <a:pt x="1220458" y="1531245"/>
                    <a:pt x="1204595" y="1547108"/>
                  </a:cubicBezTo>
                  <a:cubicBezTo>
                    <a:pt x="1188732" y="1562971"/>
                    <a:pt x="1167216" y="1571883"/>
                    <a:pt x="1144782" y="1571883"/>
                  </a:cubicBezTo>
                  <a:lnTo>
                    <a:pt x="84588" y="1571883"/>
                  </a:lnTo>
                  <a:cubicBezTo>
                    <a:pt x="62154" y="1571883"/>
                    <a:pt x="40639" y="1562971"/>
                    <a:pt x="24775" y="1547108"/>
                  </a:cubicBezTo>
                  <a:cubicBezTo>
                    <a:pt x="8912" y="1531245"/>
                    <a:pt x="0" y="1509729"/>
                    <a:pt x="0" y="1487295"/>
                  </a:cubicBezTo>
                  <a:lnTo>
                    <a:pt x="0" y="84588"/>
                  </a:lnTo>
                  <a:cubicBezTo>
                    <a:pt x="0" y="62154"/>
                    <a:pt x="8912" y="40639"/>
                    <a:pt x="24775" y="24775"/>
                  </a:cubicBezTo>
                  <a:cubicBezTo>
                    <a:pt x="40639" y="8912"/>
                    <a:pt x="62154" y="0"/>
                    <a:pt x="84588" y="0"/>
                  </a:cubicBezTo>
                  <a:close/>
                </a:path>
              </a:pathLst>
            </a:custGeom>
            <a:solidFill>
              <a:srgbClr val="287A74"/>
            </a:solidFill>
          </p:spPr>
        </p:sp>
        <p:sp>
          <p:nvSpPr>
            <p:cNvPr name="TextBox 10" id="10"/>
            <p:cNvSpPr txBox="true"/>
            <p:nvPr/>
          </p:nvSpPr>
          <p:spPr>
            <a:xfrm>
              <a:off x="0" y="-28575"/>
              <a:ext cx="1229370" cy="1600458"/>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2592307" y="3600450"/>
            <a:ext cx="4667765" cy="5968245"/>
            <a:chOff x="0" y="0"/>
            <a:chExt cx="1229370" cy="1571883"/>
          </a:xfrm>
        </p:grpSpPr>
        <p:sp>
          <p:nvSpPr>
            <p:cNvPr name="Freeform 12" id="12"/>
            <p:cNvSpPr/>
            <p:nvPr/>
          </p:nvSpPr>
          <p:spPr>
            <a:xfrm flipH="false" flipV="false" rot="0">
              <a:off x="0" y="0"/>
              <a:ext cx="1229370" cy="1571883"/>
            </a:xfrm>
            <a:custGeom>
              <a:avLst/>
              <a:gdLst/>
              <a:ahLst/>
              <a:cxnLst/>
              <a:rect r="r" b="b" t="t" l="l"/>
              <a:pathLst>
                <a:path h="1571883" w="1229370">
                  <a:moveTo>
                    <a:pt x="84588" y="0"/>
                  </a:moveTo>
                  <a:lnTo>
                    <a:pt x="1144782" y="0"/>
                  </a:lnTo>
                  <a:cubicBezTo>
                    <a:pt x="1167216" y="0"/>
                    <a:pt x="1188732" y="8912"/>
                    <a:pt x="1204595" y="24775"/>
                  </a:cubicBezTo>
                  <a:cubicBezTo>
                    <a:pt x="1220458" y="40639"/>
                    <a:pt x="1229370" y="62154"/>
                    <a:pt x="1229370" y="84588"/>
                  </a:cubicBezTo>
                  <a:lnTo>
                    <a:pt x="1229370" y="1487295"/>
                  </a:lnTo>
                  <a:cubicBezTo>
                    <a:pt x="1229370" y="1509729"/>
                    <a:pt x="1220458" y="1531245"/>
                    <a:pt x="1204595" y="1547108"/>
                  </a:cubicBezTo>
                  <a:cubicBezTo>
                    <a:pt x="1188732" y="1562971"/>
                    <a:pt x="1167216" y="1571883"/>
                    <a:pt x="1144782" y="1571883"/>
                  </a:cubicBezTo>
                  <a:lnTo>
                    <a:pt x="84588" y="1571883"/>
                  </a:lnTo>
                  <a:cubicBezTo>
                    <a:pt x="62154" y="1571883"/>
                    <a:pt x="40639" y="1562971"/>
                    <a:pt x="24775" y="1547108"/>
                  </a:cubicBezTo>
                  <a:cubicBezTo>
                    <a:pt x="8912" y="1531245"/>
                    <a:pt x="0" y="1509729"/>
                    <a:pt x="0" y="1487295"/>
                  </a:cubicBezTo>
                  <a:lnTo>
                    <a:pt x="0" y="84588"/>
                  </a:lnTo>
                  <a:cubicBezTo>
                    <a:pt x="0" y="62154"/>
                    <a:pt x="8912" y="40639"/>
                    <a:pt x="24775" y="24775"/>
                  </a:cubicBezTo>
                  <a:cubicBezTo>
                    <a:pt x="40639" y="8912"/>
                    <a:pt x="62154" y="0"/>
                    <a:pt x="84588" y="0"/>
                  </a:cubicBezTo>
                  <a:close/>
                </a:path>
              </a:pathLst>
            </a:custGeom>
            <a:solidFill>
              <a:srgbClr val="287A74"/>
            </a:solidFill>
          </p:spPr>
        </p:sp>
        <p:sp>
          <p:nvSpPr>
            <p:cNvPr name="TextBox 13" id="13"/>
            <p:cNvSpPr txBox="true"/>
            <p:nvPr/>
          </p:nvSpPr>
          <p:spPr>
            <a:xfrm>
              <a:off x="0" y="-28575"/>
              <a:ext cx="1229370" cy="1600458"/>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6990930" y="4786313"/>
            <a:ext cx="4306141" cy="3225927"/>
          </a:xfrm>
          <a:prstGeom prst="rect">
            <a:avLst/>
          </a:prstGeom>
        </p:spPr>
        <p:txBody>
          <a:bodyPr anchor="t" rtlCol="false" tIns="0" lIns="0" bIns="0" rIns="0">
            <a:spAutoFit/>
          </a:bodyPr>
          <a:lstStyle/>
          <a:p>
            <a:pPr algn="ctr" marL="0" indent="0" lvl="0">
              <a:lnSpc>
                <a:spcPts val="4284"/>
              </a:lnSpc>
            </a:pPr>
            <a:r>
              <a:rPr lang="en-US" b="true" sz="2800">
                <a:solidFill>
                  <a:srgbClr val="FFFFFF"/>
                </a:solidFill>
                <a:latin typeface="Crusoe Text Bold"/>
                <a:ea typeface="Crusoe Text Bold"/>
                <a:cs typeface="Crusoe Text Bold"/>
                <a:sym typeface="Crusoe Text Bold"/>
              </a:rPr>
              <a:t>Cultural references create shared understanding but can exclude those unfamiliar with the context</a:t>
            </a:r>
          </a:p>
        </p:txBody>
      </p:sp>
      <p:sp>
        <p:nvSpPr>
          <p:cNvPr name="TextBox 15" id="15"/>
          <p:cNvSpPr txBox="true"/>
          <p:nvPr/>
        </p:nvSpPr>
        <p:spPr>
          <a:xfrm rot="0">
            <a:off x="12773282" y="4786313"/>
            <a:ext cx="4306141" cy="2140077"/>
          </a:xfrm>
          <a:prstGeom prst="rect">
            <a:avLst/>
          </a:prstGeom>
        </p:spPr>
        <p:txBody>
          <a:bodyPr anchor="t" rtlCol="false" tIns="0" lIns="0" bIns="0" rIns="0">
            <a:spAutoFit/>
          </a:bodyPr>
          <a:lstStyle/>
          <a:p>
            <a:pPr algn="ctr" marL="0" indent="0" lvl="0">
              <a:lnSpc>
                <a:spcPts val="4284"/>
              </a:lnSpc>
            </a:pPr>
            <a:r>
              <a:rPr lang="en-US" b="true" sz="2800">
                <a:solidFill>
                  <a:srgbClr val="FFFFFF"/>
                </a:solidFill>
                <a:latin typeface="Crusoe Text Bold"/>
                <a:ea typeface="Crusoe Text Bold"/>
                <a:cs typeface="Crusoe Text Bold"/>
                <a:sym typeface="Crusoe Text Bold"/>
              </a:rPr>
              <a:t>They add depth and nuance to language, making communication more engaging</a:t>
            </a:r>
          </a:p>
        </p:txBody>
      </p:sp>
    </p:spTree>
  </p:cSld>
  <p:clrMapOvr>
    <a:masterClrMapping/>
  </p:clrMapOvr>
  <p:transition spd="fast">
    <p:wipe dir="l"/>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Freeform 2" id="2"/>
          <p:cNvSpPr/>
          <p:nvPr/>
        </p:nvSpPr>
        <p:spPr>
          <a:xfrm flipH="false" flipV="false" rot="317260">
            <a:off x="-2705100" y="-3311619"/>
            <a:ext cx="22144138" cy="5797738"/>
          </a:xfrm>
          <a:custGeom>
            <a:avLst/>
            <a:gdLst/>
            <a:ahLst/>
            <a:cxnLst/>
            <a:rect r="r" b="b" t="t" l="l"/>
            <a:pathLst>
              <a:path h="5797738" w="22144138">
                <a:moveTo>
                  <a:pt x="0" y="0"/>
                </a:moveTo>
                <a:lnTo>
                  <a:pt x="22144138" y="0"/>
                </a:lnTo>
                <a:lnTo>
                  <a:pt x="22144138" y="5797738"/>
                </a:lnTo>
                <a:lnTo>
                  <a:pt x="0" y="579773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063201" y="3169534"/>
            <a:ext cx="4143245" cy="1235440"/>
          </a:xfrm>
          <a:custGeom>
            <a:avLst/>
            <a:gdLst/>
            <a:ahLst/>
            <a:cxnLst/>
            <a:rect r="r" b="b" t="t" l="l"/>
            <a:pathLst>
              <a:path h="1235440" w="4143245">
                <a:moveTo>
                  <a:pt x="0" y="0"/>
                </a:moveTo>
                <a:lnTo>
                  <a:pt x="4143245" y="0"/>
                </a:lnTo>
                <a:lnTo>
                  <a:pt x="4143245" y="1235440"/>
                </a:lnTo>
                <a:lnTo>
                  <a:pt x="0" y="123544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0">
            <a:off x="11029807" y="4614558"/>
            <a:ext cx="4143245" cy="1235440"/>
          </a:xfrm>
          <a:custGeom>
            <a:avLst/>
            <a:gdLst/>
            <a:ahLst/>
            <a:cxnLst/>
            <a:rect r="r" b="b" t="t" l="l"/>
            <a:pathLst>
              <a:path h="1235440" w="4143245">
                <a:moveTo>
                  <a:pt x="4143245" y="0"/>
                </a:moveTo>
                <a:lnTo>
                  <a:pt x="0" y="0"/>
                </a:lnTo>
                <a:lnTo>
                  <a:pt x="0" y="1235440"/>
                </a:lnTo>
                <a:lnTo>
                  <a:pt x="4143245" y="1235440"/>
                </a:lnTo>
                <a:lnTo>
                  <a:pt x="4143245"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5" id="5"/>
          <p:cNvGrpSpPr/>
          <p:nvPr/>
        </p:nvGrpSpPr>
        <p:grpSpPr>
          <a:xfrm rot="0">
            <a:off x="6918325" y="3494146"/>
            <a:ext cx="4451350" cy="4292600"/>
            <a:chOff x="0" y="0"/>
            <a:chExt cx="1172372" cy="1130561"/>
          </a:xfrm>
        </p:grpSpPr>
        <p:sp>
          <p:nvSpPr>
            <p:cNvPr name="Freeform 6" id="6"/>
            <p:cNvSpPr/>
            <p:nvPr/>
          </p:nvSpPr>
          <p:spPr>
            <a:xfrm flipH="false" flipV="false" rot="0">
              <a:off x="0" y="0"/>
              <a:ext cx="1172372" cy="1130561"/>
            </a:xfrm>
            <a:custGeom>
              <a:avLst/>
              <a:gdLst/>
              <a:ahLst/>
              <a:cxnLst/>
              <a:rect r="r" b="b" t="t" l="l"/>
              <a:pathLst>
                <a:path h="1130561" w="1172372">
                  <a:moveTo>
                    <a:pt x="88701" y="0"/>
                  </a:moveTo>
                  <a:lnTo>
                    <a:pt x="1083671" y="0"/>
                  </a:lnTo>
                  <a:cubicBezTo>
                    <a:pt x="1107196" y="0"/>
                    <a:pt x="1129758" y="9345"/>
                    <a:pt x="1146392" y="25980"/>
                  </a:cubicBezTo>
                  <a:cubicBezTo>
                    <a:pt x="1163027" y="42614"/>
                    <a:pt x="1172372" y="65176"/>
                    <a:pt x="1172372" y="88701"/>
                  </a:cubicBezTo>
                  <a:lnTo>
                    <a:pt x="1172372" y="1041861"/>
                  </a:lnTo>
                  <a:cubicBezTo>
                    <a:pt x="1172372" y="1065385"/>
                    <a:pt x="1163027" y="1087947"/>
                    <a:pt x="1146392" y="1104582"/>
                  </a:cubicBezTo>
                  <a:cubicBezTo>
                    <a:pt x="1129758" y="1121216"/>
                    <a:pt x="1107196" y="1130561"/>
                    <a:pt x="1083671" y="1130561"/>
                  </a:cubicBezTo>
                  <a:lnTo>
                    <a:pt x="88701" y="1130561"/>
                  </a:lnTo>
                  <a:cubicBezTo>
                    <a:pt x="39713" y="1130561"/>
                    <a:pt x="0" y="1090849"/>
                    <a:pt x="0" y="1041861"/>
                  </a:cubicBezTo>
                  <a:lnTo>
                    <a:pt x="0" y="88701"/>
                  </a:lnTo>
                  <a:cubicBezTo>
                    <a:pt x="0" y="65176"/>
                    <a:pt x="9345" y="42614"/>
                    <a:pt x="25980" y="25980"/>
                  </a:cubicBezTo>
                  <a:cubicBezTo>
                    <a:pt x="42614" y="9345"/>
                    <a:pt x="65176" y="0"/>
                    <a:pt x="88701" y="0"/>
                  </a:cubicBezTo>
                  <a:close/>
                </a:path>
              </a:pathLst>
            </a:custGeom>
            <a:solidFill>
              <a:srgbClr val="287A74"/>
            </a:solidFill>
          </p:spPr>
        </p:sp>
        <p:sp>
          <p:nvSpPr>
            <p:cNvPr name="TextBox 7" id="7"/>
            <p:cNvSpPr txBox="true"/>
            <p:nvPr/>
          </p:nvSpPr>
          <p:spPr>
            <a:xfrm>
              <a:off x="0" y="-28575"/>
              <a:ext cx="1172372" cy="1159136"/>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28700" y="4404974"/>
            <a:ext cx="4451350" cy="4292600"/>
            <a:chOff x="0" y="0"/>
            <a:chExt cx="1172372" cy="1130561"/>
          </a:xfrm>
        </p:grpSpPr>
        <p:sp>
          <p:nvSpPr>
            <p:cNvPr name="Freeform 9" id="9"/>
            <p:cNvSpPr/>
            <p:nvPr/>
          </p:nvSpPr>
          <p:spPr>
            <a:xfrm flipH="false" flipV="false" rot="0">
              <a:off x="0" y="0"/>
              <a:ext cx="1172372" cy="1130561"/>
            </a:xfrm>
            <a:custGeom>
              <a:avLst/>
              <a:gdLst/>
              <a:ahLst/>
              <a:cxnLst/>
              <a:rect r="r" b="b" t="t" l="l"/>
              <a:pathLst>
                <a:path h="1130561" w="1172372">
                  <a:moveTo>
                    <a:pt x="88701" y="0"/>
                  </a:moveTo>
                  <a:lnTo>
                    <a:pt x="1083671" y="0"/>
                  </a:lnTo>
                  <a:cubicBezTo>
                    <a:pt x="1107196" y="0"/>
                    <a:pt x="1129758" y="9345"/>
                    <a:pt x="1146392" y="25980"/>
                  </a:cubicBezTo>
                  <a:cubicBezTo>
                    <a:pt x="1163027" y="42614"/>
                    <a:pt x="1172372" y="65176"/>
                    <a:pt x="1172372" y="88701"/>
                  </a:cubicBezTo>
                  <a:lnTo>
                    <a:pt x="1172372" y="1041861"/>
                  </a:lnTo>
                  <a:cubicBezTo>
                    <a:pt x="1172372" y="1065385"/>
                    <a:pt x="1163027" y="1087947"/>
                    <a:pt x="1146392" y="1104582"/>
                  </a:cubicBezTo>
                  <a:cubicBezTo>
                    <a:pt x="1129758" y="1121216"/>
                    <a:pt x="1107196" y="1130561"/>
                    <a:pt x="1083671" y="1130561"/>
                  </a:cubicBezTo>
                  <a:lnTo>
                    <a:pt x="88701" y="1130561"/>
                  </a:lnTo>
                  <a:cubicBezTo>
                    <a:pt x="39713" y="1130561"/>
                    <a:pt x="0" y="1090849"/>
                    <a:pt x="0" y="1041861"/>
                  </a:cubicBezTo>
                  <a:lnTo>
                    <a:pt x="0" y="88701"/>
                  </a:lnTo>
                  <a:cubicBezTo>
                    <a:pt x="0" y="65176"/>
                    <a:pt x="9345" y="42614"/>
                    <a:pt x="25980" y="25980"/>
                  </a:cubicBezTo>
                  <a:cubicBezTo>
                    <a:pt x="42614" y="9345"/>
                    <a:pt x="65176" y="0"/>
                    <a:pt x="88701" y="0"/>
                  </a:cubicBezTo>
                  <a:close/>
                </a:path>
              </a:pathLst>
            </a:custGeom>
            <a:solidFill>
              <a:srgbClr val="287A74"/>
            </a:solidFill>
          </p:spPr>
        </p:sp>
        <p:sp>
          <p:nvSpPr>
            <p:cNvPr name="TextBox 10" id="10"/>
            <p:cNvSpPr txBox="true"/>
            <p:nvPr/>
          </p:nvSpPr>
          <p:spPr>
            <a:xfrm>
              <a:off x="0" y="-28575"/>
              <a:ext cx="1172372" cy="1159136"/>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12807950" y="5849998"/>
            <a:ext cx="4451350" cy="3408302"/>
            <a:chOff x="0" y="0"/>
            <a:chExt cx="1172372" cy="897660"/>
          </a:xfrm>
        </p:grpSpPr>
        <p:sp>
          <p:nvSpPr>
            <p:cNvPr name="Freeform 12" id="12"/>
            <p:cNvSpPr/>
            <p:nvPr/>
          </p:nvSpPr>
          <p:spPr>
            <a:xfrm flipH="false" flipV="false" rot="0">
              <a:off x="0" y="0"/>
              <a:ext cx="1172372" cy="897660"/>
            </a:xfrm>
            <a:custGeom>
              <a:avLst/>
              <a:gdLst/>
              <a:ahLst/>
              <a:cxnLst/>
              <a:rect r="r" b="b" t="t" l="l"/>
              <a:pathLst>
                <a:path h="897660" w="1172372">
                  <a:moveTo>
                    <a:pt x="88701" y="0"/>
                  </a:moveTo>
                  <a:lnTo>
                    <a:pt x="1083671" y="0"/>
                  </a:lnTo>
                  <a:cubicBezTo>
                    <a:pt x="1107196" y="0"/>
                    <a:pt x="1129758" y="9345"/>
                    <a:pt x="1146392" y="25980"/>
                  </a:cubicBezTo>
                  <a:cubicBezTo>
                    <a:pt x="1163027" y="42614"/>
                    <a:pt x="1172372" y="65176"/>
                    <a:pt x="1172372" y="88701"/>
                  </a:cubicBezTo>
                  <a:lnTo>
                    <a:pt x="1172372" y="808959"/>
                  </a:lnTo>
                  <a:cubicBezTo>
                    <a:pt x="1172372" y="832484"/>
                    <a:pt x="1163027" y="855045"/>
                    <a:pt x="1146392" y="871680"/>
                  </a:cubicBezTo>
                  <a:cubicBezTo>
                    <a:pt x="1129758" y="888314"/>
                    <a:pt x="1107196" y="897660"/>
                    <a:pt x="1083671" y="897660"/>
                  </a:cubicBezTo>
                  <a:lnTo>
                    <a:pt x="88701" y="897660"/>
                  </a:lnTo>
                  <a:cubicBezTo>
                    <a:pt x="39713" y="897660"/>
                    <a:pt x="0" y="857947"/>
                    <a:pt x="0" y="808959"/>
                  </a:cubicBezTo>
                  <a:lnTo>
                    <a:pt x="0" y="88701"/>
                  </a:lnTo>
                  <a:cubicBezTo>
                    <a:pt x="0" y="65176"/>
                    <a:pt x="9345" y="42614"/>
                    <a:pt x="25980" y="25980"/>
                  </a:cubicBezTo>
                  <a:cubicBezTo>
                    <a:pt x="42614" y="9345"/>
                    <a:pt x="65176" y="0"/>
                    <a:pt x="88701" y="0"/>
                  </a:cubicBezTo>
                  <a:close/>
                </a:path>
              </a:pathLst>
            </a:custGeom>
            <a:solidFill>
              <a:srgbClr val="287A74"/>
            </a:solidFill>
          </p:spPr>
        </p:sp>
        <p:sp>
          <p:nvSpPr>
            <p:cNvPr name="TextBox 13" id="13"/>
            <p:cNvSpPr txBox="true"/>
            <p:nvPr/>
          </p:nvSpPr>
          <p:spPr>
            <a:xfrm>
              <a:off x="0" y="-28575"/>
              <a:ext cx="1172372" cy="926235"/>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373927" y="5517177"/>
            <a:ext cx="3760896" cy="2672715"/>
          </a:xfrm>
          <a:prstGeom prst="rect">
            <a:avLst/>
          </a:prstGeom>
        </p:spPr>
        <p:txBody>
          <a:bodyPr anchor="t" rtlCol="false" tIns="0" lIns="0" bIns="0" rIns="0">
            <a:spAutoFit/>
          </a:bodyPr>
          <a:lstStyle/>
          <a:p>
            <a:pPr algn="ctr" marL="0" indent="0" lvl="0">
              <a:lnSpc>
                <a:spcPts val="5355"/>
              </a:lnSpc>
            </a:pPr>
            <a:r>
              <a:rPr lang="en-US" sz="3500">
                <a:solidFill>
                  <a:srgbClr val="FFFFFF"/>
                </a:solidFill>
                <a:latin typeface="Crusoe Text"/>
                <a:ea typeface="Crusoe Text"/>
                <a:cs typeface="Crusoe Text"/>
                <a:sym typeface="Crusoe Text"/>
              </a:rPr>
              <a:t>Amplifying traits or situations for comic effect</a:t>
            </a:r>
          </a:p>
        </p:txBody>
      </p:sp>
      <p:sp>
        <p:nvSpPr>
          <p:cNvPr name="TextBox 15" id="15"/>
          <p:cNvSpPr txBox="true"/>
          <p:nvPr/>
        </p:nvSpPr>
        <p:spPr>
          <a:xfrm rot="0">
            <a:off x="3125666" y="1719598"/>
            <a:ext cx="11907959" cy="1211811"/>
          </a:xfrm>
          <a:prstGeom prst="rect">
            <a:avLst/>
          </a:prstGeom>
        </p:spPr>
        <p:txBody>
          <a:bodyPr anchor="t" rtlCol="false" tIns="0" lIns="0" bIns="0" rIns="0">
            <a:spAutoFit/>
          </a:bodyPr>
          <a:lstStyle/>
          <a:p>
            <a:pPr algn="ctr" marL="0" indent="0" lvl="0">
              <a:lnSpc>
                <a:spcPts val="8013"/>
              </a:lnSpc>
            </a:pPr>
            <a:r>
              <a:rPr lang="en-US" sz="8013" spc="160">
                <a:solidFill>
                  <a:srgbClr val="1C1679"/>
                </a:solidFill>
                <a:latin typeface="Funtastic"/>
                <a:ea typeface="Funtastic"/>
                <a:cs typeface="Funtastic"/>
                <a:sym typeface="Funtastic"/>
              </a:rPr>
              <a:t>HOW HUMOR WORKS</a:t>
            </a:r>
          </a:p>
        </p:txBody>
      </p:sp>
      <p:sp>
        <p:nvSpPr>
          <p:cNvPr name="TextBox 16" id="16"/>
          <p:cNvSpPr txBox="true"/>
          <p:nvPr/>
        </p:nvSpPr>
        <p:spPr>
          <a:xfrm rot="0">
            <a:off x="1322180" y="4764405"/>
            <a:ext cx="3864391" cy="643890"/>
          </a:xfrm>
          <a:prstGeom prst="rect">
            <a:avLst/>
          </a:prstGeom>
        </p:spPr>
        <p:txBody>
          <a:bodyPr anchor="t" rtlCol="false" tIns="0" lIns="0" bIns="0" rIns="0">
            <a:spAutoFit/>
          </a:bodyPr>
          <a:lstStyle/>
          <a:p>
            <a:pPr algn="ctr" marL="0" indent="0" lvl="0">
              <a:lnSpc>
                <a:spcPts val="5355"/>
              </a:lnSpc>
            </a:pPr>
            <a:r>
              <a:rPr lang="en-US" b="true" sz="3500">
                <a:solidFill>
                  <a:srgbClr val="FFFFFF"/>
                </a:solidFill>
                <a:latin typeface="Crusoe Text Bold"/>
                <a:ea typeface="Crusoe Text Bold"/>
                <a:cs typeface="Crusoe Text Bold"/>
                <a:sym typeface="Crusoe Text Bold"/>
              </a:rPr>
              <a:t>Exaggeration:</a:t>
            </a:r>
          </a:p>
        </p:txBody>
      </p:sp>
      <p:sp>
        <p:nvSpPr>
          <p:cNvPr name="TextBox 17" id="17"/>
          <p:cNvSpPr txBox="true"/>
          <p:nvPr/>
        </p:nvSpPr>
        <p:spPr>
          <a:xfrm rot="0">
            <a:off x="13101430" y="6160642"/>
            <a:ext cx="3864391" cy="643890"/>
          </a:xfrm>
          <a:prstGeom prst="rect">
            <a:avLst/>
          </a:prstGeom>
        </p:spPr>
        <p:txBody>
          <a:bodyPr anchor="t" rtlCol="false" tIns="0" lIns="0" bIns="0" rIns="0">
            <a:spAutoFit/>
          </a:bodyPr>
          <a:lstStyle/>
          <a:p>
            <a:pPr algn="ctr" marL="0" indent="0" lvl="0">
              <a:lnSpc>
                <a:spcPts val="5355"/>
              </a:lnSpc>
            </a:pPr>
            <a:r>
              <a:rPr lang="en-US" b="true" sz="3500">
                <a:solidFill>
                  <a:srgbClr val="FFFFFF"/>
                </a:solidFill>
                <a:latin typeface="Crusoe Text Bold"/>
                <a:ea typeface="Crusoe Text Bold"/>
                <a:cs typeface="Crusoe Text Bold"/>
                <a:sym typeface="Crusoe Text Bold"/>
              </a:rPr>
              <a:t>Timing:</a:t>
            </a:r>
          </a:p>
        </p:txBody>
      </p:sp>
      <p:sp>
        <p:nvSpPr>
          <p:cNvPr name="TextBox 18" id="18"/>
          <p:cNvSpPr txBox="true"/>
          <p:nvPr/>
        </p:nvSpPr>
        <p:spPr>
          <a:xfrm rot="0">
            <a:off x="7165417" y="3970668"/>
            <a:ext cx="3864391" cy="643890"/>
          </a:xfrm>
          <a:prstGeom prst="rect">
            <a:avLst/>
          </a:prstGeom>
        </p:spPr>
        <p:txBody>
          <a:bodyPr anchor="t" rtlCol="false" tIns="0" lIns="0" bIns="0" rIns="0">
            <a:spAutoFit/>
          </a:bodyPr>
          <a:lstStyle/>
          <a:p>
            <a:pPr algn="ctr" marL="0" indent="0" lvl="0">
              <a:lnSpc>
                <a:spcPts val="5355"/>
              </a:lnSpc>
            </a:pPr>
            <a:r>
              <a:rPr lang="en-US" b="true" sz="3500">
                <a:solidFill>
                  <a:srgbClr val="FFFFFF"/>
                </a:solidFill>
                <a:latin typeface="Crusoe Text Bold"/>
                <a:ea typeface="Crusoe Text Bold"/>
                <a:cs typeface="Crusoe Text Bold"/>
                <a:sym typeface="Crusoe Text Bold"/>
              </a:rPr>
              <a:t>Surprise:</a:t>
            </a:r>
          </a:p>
        </p:txBody>
      </p:sp>
      <p:sp>
        <p:nvSpPr>
          <p:cNvPr name="TextBox 19" id="19"/>
          <p:cNvSpPr txBox="true"/>
          <p:nvPr/>
        </p:nvSpPr>
        <p:spPr>
          <a:xfrm rot="0">
            <a:off x="7268911" y="4671674"/>
            <a:ext cx="3760896" cy="1996440"/>
          </a:xfrm>
          <a:prstGeom prst="rect">
            <a:avLst/>
          </a:prstGeom>
        </p:spPr>
        <p:txBody>
          <a:bodyPr anchor="t" rtlCol="false" tIns="0" lIns="0" bIns="0" rIns="0">
            <a:spAutoFit/>
          </a:bodyPr>
          <a:lstStyle/>
          <a:p>
            <a:pPr algn="ctr" marL="0" indent="0" lvl="0">
              <a:lnSpc>
                <a:spcPts val="5355"/>
              </a:lnSpc>
            </a:pPr>
            <a:r>
              <a:rPr lang="en-US" sz="3500">
                <a:solidFill>
                  <a:srgbClr val="FFFFFF"/>
                </a:solidFill>
                <a:latin typeface="Crusoe Text"/>
                <a:ea typeface="Crusoe Text"/>
                <a:cs typeface="Crusoe Text"/>
                <a:sym typeface="Crusoe Text"/>
              </a:rPr>
              <a:t>Subverting expectations (e.g., punchlines)</a:t>
            </a:r>
          </a:p>
        </p:txBody>
      </p:sp>
      <p:sp>
        <p:nvSpPr>
          <p:cNvPr name="TextBox 20" id="20"/>
          <p:cNvSpPr txBox="true"/>
          <p:nvPr/>
        </p:nvSpPr>
        <p:spPr>
          <a:xfrm rot="0">
            <a:off x="13101430" y="6796384"/>
            <a:ext cx="3760896" cy="1996440"/>
          </a:xfrm>
          <a:prstGeom prst="rect">
            <a:avLst/>
          </a:prstGeom>
        </p:spPr>
        <p:txBody>
          <a:bodyPr anchor="t" rtlCol="false" tIns="0" lIns="0" bIns="0" rIns="0">
            <a:spAutoFit/>
          </a:bodyPr>
          <a:lstStyle/>
          <a:p>
            <a:pPr algn="ctr" marL="0" indent="0" lvl="0">
              <a:lnSpc>
                <a:spcPts val="5355"/>
              </a:lnSpc>
            </a:pPr>
            <a:r>
              <a:rPr lang="en-US" sz="3500">
                <a:solidFill>
                  <a:srgbClr val="FFFFFF"/>
                </a:solidFill>
                <a:latin typeface="Crusoe Text"/>
                <a:ea typeface="Crusoe Text"/>
                <a:cs typeface="Crusoe Text"/>
                <a:sym typeface="Crusoe Text"/>
              </a:rPr>
              <a:t>Delivery speed affects comedic impact.</a:t>
            </a:r>
          </a:p>
        </p:txBody>
      </p:sp>
    </p:spTree>
  </p:cSld>
  <p:clrMapOvr>
    <a:masterClrMapping/>
  </p:clrMapOvr>
  <p:transition spd="fast">
    <p:wipe dir="l"/>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TextBox 2" id="2"/>
          <p:cNvSpPr txBox="true"/>
          <p:nvPr/>
        </p:nvSpPr>
        <p:spPr>
          <a:xfrm rot="0">
            <a:off x="1028700" y="1009650"/>
            <a:ext cx="16230600" cy="1082712"/>
          </a:xfrm>
          <a:prstGeom prst="rect">
            <a:avLst/>
          </a:prstGeom>
        </p:spPr>
        <p:txBody>
          <a:bodyPr anchor="t" rtlCol="false" tIns="0" lIns="0" bIns="0" rIns="0">
            <a:spAutoFit/>
          </a:bodyPr>
          <a:lstStyle/>
          <a:p>
            <a:pPr algn="ctr" marL="0" indent="0" lvl="0">
              <a:lnSpc>
                <a:spcPts val="7000"/>
              </a:lnSpc>
            </a:pPr>
            <a:r>
              <a:rPr lang="en-US" sz="7000" spc="140">
                <a:solidFill>
                  <a:srgbClr val="1C1679"/>
                </a:solidFill>
                <a:latin typeface="Funtastic"/>
                <a:ea typeface="Funtastic"/>
                <a:cs typeface="Funtastic"/>
                <a:sym typeface="Funtastic"/>
              </a:rPr>
              <a:t>TYPES OF IRONY AND EXAMPLES</a:t>
            </a:r>
          </a:p>
        </p:txBody>
      </p:sp>
      <p:sp>
        <p:nvSpPr>
          <p:cNvPr name="Freeform 3" id="3"/>
          <p:cNvSpPr/>
          <p:nvPr/>
        </p:nvSpPr>
        <p:spPr>
          <a:xfrm flipH="true" flipV="false" rot="0">
            <a:off x="-1502173" y="-3536662"/>
            <a:ext cx="6166594" cy="4114800"/>
          </a:xfrm>
          <a:custGeom>
            <a:avLst/>
            <a:gdLst/>
            <a:ahLst/>
            <a:cxnLst/>
            <a:rect r="r" b="b" t="t" l="l"/>
            <a:pathLst>
              <a:path h="4114800" w="6166594">
                <a:moveTo>
                  <a:pt x="6166594" y="0"/>
                </a:moveTo>
                <a:lnTo>
                  <a:pt x="0" y="0"/>
                </a:lnTo>
                <a:lnTo>
                  <a:pt x="0" y="4114800"/>
                </a:lnTo>
                <a:lnTo>
                  <a:pt x="6166594" y="4114800"/>
                </a:lnTo>
                <a:lnTo>
                  <a:pt x="61665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4" id="4"/>
          <p:cNvGrpSpPr/>
          <p:nvPr/>
        </p:nvGrpSpPr>
        <p:grpSpPr>
          <a:xfrm rot="0">
            <a:off x="2215234" y="2294467"/>
            <a:ext cx="4371474" cy="2949667"/>
            <a:chOff x="0" y="0"/>
            <a:chExt cx="1353190" cy="913070"/>
          </a:xfrm>
        </p:grpSpPr>
        <p:sp>
          <p:nvSpPr>
            <p:cNvPr name="Freeform 5" id="5"/>
            <p:cNvSpPr/>
            <p:nvPr/>
          </p:nvSpPr>
          <p:spPr>
            <a:xfrm flipH="false" flipV="false" rot="0">
              <a:off x="0" y="0"/>
              <a:ext cx="1353190" cy="913070"/>
            </a:xfrm>
            <a:custGeom>
              <a:avLst/>
              <a:gdLst/>
              <a:ahLst/>
              <a:cxnLst/>
              <a:rect r="r" b="b" t="t" l="l"/>
              <a:pathLst>
                <a:path h="913070" w="1353190">
                  <a:moveTo>
                    <a:pt x="90321" y="0"/>
                  </a:moveTo>
                  <a:lnTo>
                    <a:pt x="1262869" y="0"/>
                  </a:lnTo>
                  <a:cubicBezTo>
                    <a:pt x="1312752" y="0"/>
                    <a:pt x="1353190" y="40438"/>
                    <a:pt x="1353190" y="90321"/>
                  </a:cubicBezTo>
                  <a:lnTo>
                    <a:pt x="1353190" y="822748"/>
                  </a:lnTo>
                  <a:cubicBezTo>
                    <a:pt x="1353190" y="872631"/>
                    <a:pt x="1312752" y="913070"/>
                    <a:pt x="1262869" y="913070"/>
                  </a:cubicBezTo>
                  <a:lnTo>
                    <a:pt x="90321" y="913070"/>
                  </a:lnTo>
                  <a:cubicBezTo>
                    <a:pt x="40438" y="913070"/>
                    <a:pt x="0" y="872631"/>
                    <a:pt x="0" y="822748"/>
                  </a:cubicBezTo>
                  <a:lnTo>
                    <a:pt x="0" y="90321"/>
                  </a:lnTo>
                  <a:cubicBezTo>
                    <a:pt x="0" y="40438"/>
                    <a:pt x="40438" y="0"/>
                    <a:pt x="90321" y="0"/>
                  </a:cubicBezTo>
                  <a:close/>
                </a:path>
              </a:pathLst>
            </a:custGeom>
            <a:solidFill>
              <a:srgbClr val="287A74"/>
            </a:solidFill>
          </p:spPr>
        </p:sp>
        <p:sp>
          <p:nvSpPr>
            <p:cNvPr name="TextBox 6" id="6"/>
            <p:cNvSpPr txBox="true"/>
            <p:nvPr/>
          </p:nvSpPr>
          <p:spPr>
            <a:xfrm>
              <a:off x="0" y="-28575"/>
              <a:ext cx="1353190" cy="941645"/>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2386404" y="3486182"/>
            <a:ext cx="4031033" cy="833004"/>
          </a:xfrm>
          <a:prstGeom prst="rect">
            <a:avLst/>
          </a:prstGeom>
        </p:spPr>
        <p:txBody>
          <a:bodyPr anchor="t" rtlCol="false" tIns="0" lIns="0" bIns="0" rIns="0">
            <a:spAutoFit/>
          </a:bodyPr>
          <a:lstStyle/>
          <a:p>
            <a:pPr algn="ctr" marL="0" indent="0" lvl="0">
              <a:lnSpc>
                <a:spcPts val="3384"/>
              </a:lnSpc>
            </a:pPr>
            <a:r>
              <a:rPr lang="en-US" b="true" sz="2212">
                <a:solidFill>
                  <a:srgbClr val="FFFFFF"/>
                </a:solidFill>
                <a:latin typeface="Crusoe Text Bold"/>
                <a:ea typeface="Crusoe Text Bold"/>
                <a:cs typeface="Crusoe Text Bold"/>
                <a:sym typeface="Crusoe Text Bold"/>
              </a:rPr>
              <a:t> The audience knows something characters don’t</a:t>
            </a:r>
          </a:p>
        </p:txBody>
      </p:sp>
      <p:sp>
        <p:nvSpPr>
          <p:cNvPr name="TextBox 8" id="8"/>
          <p:cNvSpPr txBox="true"/>
          <p:nvPr/>
        </p:nvSpPr>
        <p:spPr>
          <a:xfrm rot="0">
            <a:off x="2216184" y="2667923"/>
            <a:ext cx="4369575" cy="592549"/>
          </a:xfrm>
          <a:prstGeom prst="rect">
            <a:avLst/>
          </a:prstGeom>
        </p:spPr>
        <p:txBody>
          <a:bodyPr anchor="t" rtlCol="false" tIns="0" lIns="0" bIns="0" rIns="0">
            <a:spAutoFit/>
          </a:bodyPr>
          <a:lstStyle/>
          <a:p>
            <a:pPr algn="ctr" marL="0" indent="0" lvl="0">
              <a:lnSpc>
                <a:spcPts val="3828"/>
              </a:lnSpc>
            </a:pPr>
            <a:r>
              <a:rPr lang="en-US" sz="3828" spc="520">
                <a:solidFill>
                  <a:srgbClr val="FFFFFF"/>
                </a:solidFill>
                <a:latin typeface="Funtastic"/>
                <a:ea typeface="Funtastic"/>
                <a:cs typeface="Funtastic"/>
                <a:sym typeface="Funtastic"/>
              </a:rPr>
              <a:t>DRAMATIC</a:t>
            </a:r>
          </a:p>
        </p:txBody>
      </p:sp>
      <p:grpSp>
        <p:nvGrpSpPr>
          <p:cNvPr name="Group 9" id="9"/>
          <p:cNvGrpSpPr/>
          <p:nvPr/>
        </p:nvGrpSpPr>
        <p:grpSpPr>
          <a:xfrm rot="0">
            <a:off x="6958263" y="2294467"/>
            <a:ext cx="4371474" cy="2949667"/>
            <a:chOff x="0" y="0"/>
            <a:chExt cx="1353190" cy="913070"/>
          </a:xfrm>
        </p:grpSpPr>
        <p:sp>
          <p:nvSpPr>
            <p:cNvPr name="Freeform 10" id="10"/>
            <p:cNvSpPr/>
            <p:nvPr/>
          </p:nvSpPr>
          <p:spPr>
            <a:xfrm flipH="false" flipV="false" rot="0">
              <a:off x="0" y="0"/>
              <a:ext cx="1353190" cy="913070"/>
            </a:xfrm>
            <a:custGeom>
              <a:avLst/>
              <a:gdLst/>
              <a:ahLst/>
              <a:cxnLst/>
              <a:rect r="r" b="b" t="t" l="l"/>
              <a:pathLst>
                <a:path h="913070" w="1353190">
                  <a:moveTo>
                    <a:pt x="90321" y="0"/>
                  </a:moveTo>
                  <a:lnTo>
                    <a:pt x="1262869" y="0"/>
                  </a:lnTo>
                  <a:cubicBezTo>
                    <a:pt x="1312752" y="0"/>
                    <a:pt x="1353190" y="40438"/>
                    <a:pt x="1353190" y="90321"/>
                  </a:cubicBezTo>
                  <a:lnTo>
                    <a:pt x="1353190" y="822748"/>
                  </a:lnTo>
                  <a:cubicBezTo>
                    <a:pt x="1353190" y="872631"/>
                    <a:pt x="1312752" y="913070"/>
                    <a:pt x="1262869" y="913070"/>
                  </a:cubicBezTo>
                  <a:lnTo>
                    <a:pt x="90321" y="913070"/>
                  </a:lnTo>
                  <a:cubicBezTo>
                    <a:pt x="40438" y="913070"/>
                    <a:pt x="0" y="872631"/>
                    <a:pt x="0" y="822748"/>
                  </a:cubicBezTo>
                  <a:lnTo>
                    <a:pt x="0" y="90321"/>
                  </a:lnTo>
                  <a:cubicBezTo>
                    <a:pt x="0" y="40438"/>
                    <a:pt x="40438" y="0"/>
                    <a:pt x="90321" y="0"/>
                  </a:cubicBezTo>
                  <a:close/>
                </a:path>
              </a:pathLst>
            </a:custGeom>
            <a:solidFill>
              <a:srgbClr val="287A74"/>
            </a:solidFill>
          </p:spPr>
        </p:sp>
        <p:sp>
          <p:nvSpPr>
            <p:cNvPr name="TextBox 11" id="11"/>
            <p:cNvSpPr txBox="true"/>
            <p:nvPr/>
          </p:nvSpPr>
          <p:spPr>
            <a:xfrm>
              <a:off x="0" y="-28575"/>
              <a:ext cx="1353190" cy="941645"/>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6958263" y="2667923"/>
            <a:ext cx="4371474" cy="592549"/>
          </a:xfrm>
          <a:prstGeom prst="rect">
            <a:avLst/>
          </a:prstGeom>
        </p:spPr>
        <p:txBody>
          <a:bodyPr anchor="t" rtlCol="false" tIns="0" lIns="0" bIns="0" rIns="0">
            <a:spAutoFit/>
          </a:bodyPr>
          <a:lstStyle/>
          <a:p>
            <a:pPr algn="ctr" marL="0" indent="0" lvl="0">
              <a:lnSpc>
                <a:spcPts val="3828"/>
              </a:lnSpc>
            </a:pPr>
            <a:r>
              <a:rPr lang="en-US" sz="3828" spc="444">
                <a:solidFill>
                  <a:srgbClr val="FFFFFF"/>
                </a:solidFill>
                <a:latin typeface="Funtastic"/>
                <a:ea typeface="Funtastic"/>
                <a:cs typeface="Funtastic"/>
                <a:sym typeface="Funtastic"/>
              </a:rPr>
              <a:t>SITUATIONAL</a:t>
            </a:r>
          </a:p>
        </p:txBody>
      </p:sp>
      <p:grpSp>
        <p:nvGrpSpPr>
          <p:cNvPr name="Group 13" id="13"/>
          <p:cNvGrpSpPr/>
          <p:nvPr/>
        </p:nvGrpSpPr>
        <p:grpSpPr>
          <a:xfrm rot="0">
            <a:off x="11654189" y="2294467"/>
            <a:ext cx="4371474" cy="2949667"/>
            <a:chOff x="0" y="0"/>
            <a:chExt cx="1353190" cy="913070"/>
          </a:xfrm>
        </p:grpSpPr>
        <p:sp>
          <p:nvSpPr>
            <p:cNvPr name="Freeform 14" id="14"/>
            <p:cNvSpPr/>
            <p:nvPr/>
          </p:nvSpPr>
          <p:spPr>
            <a:xfrm flipH="false" flipV="false" rot="0">
              <a:off x="0" y="0"/>
              <a:ext cx="1353190" cy="913070"/>
            </a:xfrm>
            <a:custGeom>
              <a:avLst/>
              <a:gdLst/>
              <a:ahLst/>
              <a:cxnLst/>
              <a:rect r="r" b="b" t="t" l="l"/>
              <a:pathLst>
                <a:path h="913070" w="1353190">
                  <a:moveTo>
                    <a:pt x="90321" y="0"/>
                  </a:moveTo>
                  <a:lnTo>
                    <a:pt x="1262869" y="0"/>
                  </a:lnTo>
                  <a:cubicBezTo>
                    <a:pt x="1312752" y="0"/>
                    <a:pt x="1353190" y="40438"/>
                    <a:pt x="1353190" y="90321"/>
                  </a:cubicBezTo>
                  <a:lnTo>
                    <a:pt x="1353190" y="822748"/>
                  </a:lnTo>
                  <a:cubicBezTo>
                    <a:pt x="1353190" y="872631"/>
                    <a:pt x="1312752" y="913070"/>
                    <a:pt x="1262869" y="913070"/>
                  </a:cubicBezTo>
                  <a:lnTo>
                    <a:pt x="90321" y="913070"/>
                  </a:lnTo>
                  <a:cubicBezTo>
                    <a:pt x="40438" y="913070"/>
                    <a:pt x="0" y="872631"/>
                    <a:pt x="0" y="822748"/>
                  </a:cubicBezTo>
                  <a:lnTo>
                    <a:pt x="0" y="90321"/>
                  </a:lnTo>
                  <a:cubicBezTo>
                    <a:pt x="0" y="40438"/>
                    <a:pt x="40438" y="0"/>
                    <a:pt x="90321" y="0"/>
                  </a:cubicBezTo>
                  <a:close/>
                </a:path>
              </a:pathLst>
            </a:custGeom>
            <a:solidFill>
              <a:srgbClr val="287A74"/>
            </a:solidFill>
          </p:spPr>
        </p:sp>
        <p:sp>
          <p:nvSpPr>
            <p:cNvPr name="TextBox 15" id="15"/>
            <p:cNvSpPr txBox="true"/>
            <p:nvPr/>
          </p:nvSpPr>
          <p:spPr>
            <a:xfrm>
              <a:off x="0" y="-28575"/>
              <a:ext cx="1353190" cy="941645"/>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11671347" y="2667923"/>
            <a:ext cx="4354316" cy="592549"/>
          </a:xfrm>
          <a:prstGeom prst="rect">
            <a:avLst/>
          </a:prstGeom>
        </p:spPr>
        <p:txBody>
          <a:bodyPr anchor="t" rtlCol="false" tIns="0" lIns="0" bIns="0" rIns="0">
            <a:spAutoFit/>
          </a:bodyPr>
          <a:lstStyle/>
          <a:p>
            <a:pPr algn="ctr" marL="0" indent="0" lvl="0">
              <a:lnSpc>
                <a:spcPts val="3828"/>
              </a:lnSpc>
            </a:pPr>
            <a:r>
              <a:rPr lang="en-US" sz="3828" spc="520">
                <a:solidFill>
                  <a:srgbClr val="FFFFFF"/>
                </a:solidFill>
                <a:latin typeface="Funtastic"/>
                <a:ea typeface="Funtastic"/>
                <a:cs typeface="Funtastic"/>
                <a:sym typeface="Funtastic"/>
              </a:rPr>
              <a:t>VERBAL</a:t>
            </a:r>
          </a:p>
        </p:txBody>
      </p:sp>
      <p:grpSp>
        <p:nvGrpSpPr>
          <p:cNvPr name="Group 17" id="17"/>
          <p:cNvGrpSpPr/>
          <p:nvPr/>
        </p:nvGrpSpPr>
        <p:grpSpPr>
          <a:xfrm rot="0">
            <a:off x="2216184" y="5578738"/>
            <a:ext cx="4371474" cy="2765605"/>
            <a:chOff x="0" y="0"/>
            <a:chExt cx="1353190" cy="856093"/>
          </a:xfrm>
        </p:grpSpPr>
        <p:sp>
          <p:nvSpPr>
            <p:cNvPr name="Freeform 18" id="18"/>
            <p:cNvSpPr/>
            <p:nvPr/>
          </p:nvSpPr>
          <p:spPr>
            <a:xfrm flipH="false" flipV="false" rot="0">
              <a:off x="0" y="0"/>
              <a:ext cx="1353190" cy="856093"/>
            </a:xfrm>
            <a:custGeom>
              <a:avLst/>
              <a:gdLst/>
              <a:ahLst/>
              <a:cxnLst/>
              <a:rect r="r" b="b" t="t" l="l"/>
              <a:pathLst>
                <a:path h="856093" w="1353190">
                  <a:moveTo>
                    <a:pt x="90321" y="0"/>
                  </a:moveTo>
                  <a:lnTo>
                    <a:pt x="1262869" y="0"/>
                  </a:lnTo>
                  <a:cubicBezTo>
                    <a:pt x="1312752" y="0"/>
                    <a:pt x="1353190" y="40438"/>
                    <a:pt x="1353190" y="90321"/>
                  </a:cubicBezTo>
                  <a:lnTo>
                    <a:pt x="1353190" y="765772"/>
                  </a:lnTo>
                  <a:cubicBezTo>
                    <a:pt x="1353190" y="815655"/>
                    <a:pt x="1312752" y="856093"/>
                    <a:pt x="1262869" y="856093"/>
                  </a:cubicBezTo>
                  <a:lnTo>
                    <a:pt x="90321" y="856093"/>
                  </a:lnTo>
                  <a:cubicBezTo>
                    <a:pt x="40438" y="856093"/>
                    <a:pt x="0" y="815655"/>
                    <a:pt x="0" y="765772"/>
                  </a:cubicBezTo>
                  <a:lnTo>
                    <a:pt x="0" y="90321"/>
                  </a:lnTo>
                  <a:cubicBezTo>
                    <a:pt x="0" y="40438"/>
                    <a:pt x="40438" y="0"/>
                    <a:pt x="90321" y="0"/>
                  </a:cubicBezTo>
                  <a:close/>
                </a:path>
              </a:pathLst>
            </a:custGeom>
            <a:solidFill>
              <a:srgbClr val="287A74"/>
            </a:solidFill>
          </p:spPr>
        </p:sp>
        <p:sp>
          <p:nvSpPr>
            <p:cNvPr name="TextBox 19" id="19"/>
            <p:cNvSpPr txBox="true"/>
            <p:nvPr/>
          </p:nvSpPr>
          <p:spPr>
            <a:xfrm>
              <a:off x="0" y="-28575"/>
              <a:ext cx="1353190" cy="884668"/>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2368330" y="6174269"/>
            <a:ext cx="4031033" cy="1262524"/>
          </a:xfrm>
          <a:prstGeom prst="rect">
            <a:avLst/>
          </a:prstGeom>
        </p:spPr>
        <p:txBody>
          <a:bodyPr anchor="t" rtlCol="false" tIns="0" lIns="0" bIns="0" rIns="0">
            <a:spAutoFit/>
          </a:bodyPr>
          <a:lstStyle/>
          <a:p>
            <a:pPr algn="ctr" marL="0" indent="0" lvl="0">
              <a:lnSpc>
                <a:spcPts val="3384"/>
              </a:lnSpc>
            </a:pPr>
            <a:r>
              <a:rPr lang="en-US" b="true" sz="2212">
                <a:solidFill>
                  <a:srgbClr val="FFFFFF"/>
                </a:solidFill>
                <a:latin typeface="Crusoe Text Bold"/>
                <a:ea typeface="Crusoe Text Bold"/>
                <a:cs typeface="Crusoe Text Bold"/>
                <a:sym typeface="Crusoe Text Bold"/>
              </a:rPr>
              <a:t>Passengers on the ship enjoy their journey, unaware it will sink</a:t>
            </a:r>
          </a:p>
        </p:txBody>
      </p:sp>
      <p:sp>
        <p:nvSpPr>
          <p:cNvPr name="TextBox 21" id="21"/>
          <p:cNvSpPr txBox="true"/>
          <p:nvPr/>
        </p:nvSpPr>
        <p:spPr>
          <a:xfrm rot="0">
            <a:off x="2216184" y="5762799"/>
            <a:ext cx="4370524" cy="712533"/>
          </a:xfrm>
          <a:prstGeom prst="rect">
            <a:avLst/>
          </a:prstGeom>
        </p:spPr>
        <p:txBody>
          <a:bodyPr anchor="t" rtlCol="false" tIns="0" lIns="0" bIns="0" rIns="0">
            <a:spAutoFit/>
          </a:bodyPr>
          <a:lstStyle/>
          <a:p>
            <a:pPr algn="ctr">
              <a:lnSpc>
                <a:spcPts val="2552"/>
              </a:lnSpc>
            </a:pPr>
            <a:r>
              <a:rPr lang="en-US" sz="2552" spc="428">
                <a:solidFill>
                  <a:srgbClr val="FFFFFF"/>
                </a:solidFill>
                <a:latin typeface="Funtastic"/>
                <a:ea typeface="Funtastic"/>
                <a:cs typeface="Funtastic"/>
                <a:sym typeface="Funtastic"/>
              </a:rPr>
              <a:t> EXAMPLE: TITANIC</a:t>
            </a:r>
          </a:p>
          <a:p>
            <a:pPr algn="ctr" marL="0" indent="0" lvl="0">
              <a:lnSpc>
                <a:spcPts val="2552"/>
              </a:lnSpc>
            </a:pPr>
          </a:p>
        </p:txBody>
      </p:sp>
      <p:sp>
        <p:nvSpPr>
          <p:cNvPr name="TextBox 22" id="22"/>
          <p:cNvSpPr txBox="true"/>
          <p:nvPr/>
        </p:nvSpPr>
        <p:spPr>
          <a:xfrm rot="0">
            <a:off x="7145943" y="3486182"/>
            <a:ext cx="3996115" cy="833004"/>
          </a:xfrm>
          <a:prstGeom prst="rect">
            <a:avLst/>
          </a:prstGeom>
        </p:spPr>
        <p:txBody>
          <a:bodyPr anchor="t" rtlCol="false" tIns="0" lIns="0" bIns="0" rIns="0">
            <a:spAutoFit/>
          </a:bodyPr>
          <a:lstStyle/>
          <a:p>
            <a:pPr algn="ctr" marL="0" indent="0" lvl="0">
              <a:lnSpc>
                <a:spcPts val="3384"/>
              </a:lnSpc>
            </a:pPr>
            <a:r>
              <a:rPr lang="en-US" b="true" sz="2212">
                <a:solidFill>
                  <a:srgbClr val="FFFFFF"/>
                </a:solidFill>
                <a:latin typeface="Crusoe Text Bold"/>
                <a:ea typeface="Crusoe Text Bold"/>
                <a:cs typeface="Crusoe Text Bold"/>
                <a:sym typeface="Crusoe Text Bold"/>
              </a:rPr>
              <a:t> An outcome that contradicts expectations</a:t>
            </a:r>
          </a:p>
        </p:txBody>
      </p:sp>
      <p:grpSp>
        <p:nvGrpSpPr>
          <p:cNvPr name="Group 23" id="23"/>
          <p:cNvGrpSpPr/>
          <p:nvPr/>
        </p:nvGrpSpPr>
        <p:grpSpPr>
          <a:xfrm rot="0">
            <a:off x="6958263" y="5578738"/>
            <a:ext cx="4371474" cy="2765605"/>
            <a:chOff x="0" y="0"/>
            <a:chExt cx="1353190" cy="856093"/>
          </a:xfrm>
        </p:grpSpPr>
        <p:sp>
          <p:nvSpPr>
            <p:cNvPr name="Freeform 24" id="24"/>
            <p:cNvSpPr/>
            <p:nvPr/>
          </p:nvSpPr>
          <p:spPr>
            <a:xfrm flipH="false" flipV="false" rot="0">
              <a:off x="0" y="0"/>
              <a:ext cx="1353190" cy="856093"/>
            </a:xfrm>
            <a:custGeom>
              <a:avLst/>
              <a:gdLst/>
              <a:ahLst/>
              <a:cxnLst/>
              <a:rect r="r" b="b" t="t" l="l"/>
              <a:pathLst>
                <a:path h="856093" w="1353190">
                  <a:moveTo>
                    <a:pt x="90321" y="0"/>
                  </a:moveTo>
                  <a:lnTo>
                    <a:pt x="1262869" y="0"/>
                  </a:lnTo>
                  <a:cubicBezTo>
                    <a:pt x="1312752" y="0"/>
                    <a:pt x="1353190" y="40438"/>
                    <a:pt x="1353190" y="90321"/>
                  </a:cubicBezTo>
                  <a:lnTo>
                    <a:pt x="1353190" y="765772"/>
                  </a:lnTo>
                  <a:cubicBezTo>
                    <a:pt x="1353190" y="815655"/>
                    <a:pt x="1312752" y="856093"/>
                    <a:pt x="1262869" y="856093"/>
                  </a:cubicBezTo>
                  <a:lnTo>
                    <a:pt x="90321" y="856093"/>
                  </a:lnTo>
                  <a:cubicBezTo>
                    <a:pt x="40438" y="856093"/>
                    <a:pt x="0" y="815655"/>
                    <a:pt x="0" y="765772"/>
                  </a:cubicBezTo>
                  <a:lnTo>
                    <a:pt x="0" y="90321"/>
                  </a:lnTo>
                  <a:cubicBezTo>
                    <a:pt x="0" y="40438"/>
                    <a:pt x="40438" y="0"/>
                    <a:pt x="90321" y="0"/>
                  </a:cubicBezTo>
                  <a:close/>
                </a:path>
              </a:pathLst>
            </a:custGeom>
            <a:solidFill>
              <a:srgbClr val="287A74"/>
            </a:solidFill>
          </p:spPr>
        </p:sp>
        <p:sp>
          <p:nvSpPr>
            <p:cNvPr name="TextBox 25" id="25"/>
            <p:cNvSpPr txBox="true"/>
            <p:nvPr/>
          </p:nvSpPr>
          <p:spPr>
            <a:xfrm>
              <a:off x="0" y="-28575"/>
              <a:ext cx="1353190" cy="884668"/>
            </a:xfrm>
            <a:prstGeom prst="rect">
              <a:avLst/>
            </a:prstGeom>
          </p:spPr>
          <p:txBody>
            <a:bodyPr anchor="ctr" rtlCol="false" tIns="50800" lIns="50800" bIns="50800" rIns="50800"/>
            <a:lstStyle/>
            <a:p>
              <a:pPr algn="ctr">
                <a:lnSpc>
                  <a:spcPts val="2659"/>
                </a:lnSpc>
              </a:pPr>
            </a:p>
          </p:txBody>
        </p:sp>
      </p:grpSp>
      <p:sp>
        <p:nvSpPr>
          <p:cNvPr name="TextBox 26" id="26"/>
          <p:cNvSpPr txBox="true"/>
          <p:nvPr/>
        </p:nvSpPr>
        <p:spPr>
          <a:xfrm rot="0">
            <a:off x="6958263" y="5762799"/>
            <a:ext cx="4371474" cy="388683"/>
          </a:xfrm>
          <a:prstGeom prst="rect">
            <a:avLst/>
          </a:prstGeom>
        </p:spPr>
        <p:txBody>
          <a:bodyPr anchor="t" rtlCol="false" tIns="0" lIns="0" bIns="0" rIns="0">
            <a:spAutoFit/>
          </a:bodyPr>
          <a:lstStyle/>
          <a:p>
            <a:pPr algn="ctr" marL="0" indent="0" lvl="0">
              <a:lnSpc>
                <a:spcPts val="2552"/>
              </a:lnSpc>
            </a:pPr>
            <a:r>
              <a:rPr lang="en-US" sz="2552" spc="311">
                <a:solidFill>
                  <a:srgbClr val="FFFFFF"/>
                </a:solidFill>
                <a:latin typeface="Funtastic"/>
                <a:ea typeface="Funtastic"/>
                <a:cs typeface="Funtastic"/>
                <a:sym typeface="Funtastic"/>
              </a:rPr>
              <a:t>EXAMPLE</a:t>
            </a:r>
          </a:p>
        </p:txBody>
      </p:sp>
      <p:sp>
        <p:nvSpPr>
          <p:cNvPr name="TextBox 27" id="27"/>
          <p:cNvSpPr txBox="true"/>
          <p:nvPr/>
        </p:nvSpPr>
        <p:spPr>
          <a:xfrm rot="0">
            <a:off x="7052103" y="6294674"/>
            <a:ext cx="4089954" cy="837642"/>
          </a:xfrm>
          <a:prstGeom prst="rect">
            <a:avLst/>
          </a:prstGeom>
        </p:spPr>
        <p:txBody>
          <a:bodyPr anchor="t" rtlCol="false" tIns="0" lIns="0" bIns="0" rIns="0">
            <a:spAutoFit/>
          </a:bodyPr>
          <a:lstStyle/>
          <a:p>
            <a:pPr algn="ctr" marL="0" indent="0" lvl="0">
              <a:lnSpc>
                <a:spcPts val="3497"/>
              </a:lnSpc>
            </a:pPr>
            <a:r>
              <a:rPr lang="en-US" b="true" sz="2286">
                <a:solidFill>
                  <a:srgbClr val="FFFFFF"/>
                </a:solidFill>
                <a:latin typeface="Crusoe Text Bold"/>
                <a:ea typeface="Crusoe Text Bold"/>
                <a:cs typeface="Crusoe Text Bold"/>
                <a:sym typeface="Crusoe Text Bold"/>
              </a:rPr>
              <a:t>A professional marriage counselor gets divorced.</a:t>
            </a:r>
          </a:p>
        </p:txBody>
      </p:sp>
      <p:sp>
        <p:nvSpPr>
          <p:cNvPr name="TextBox 28" id="28"/>
          <p:cNvSpPr txBox="true"/>
          <p:nvPr/>
        </p:nvSpPr>
        <p:spPr>
          <a:xfrm rot="0">
            <a:off x="11816280" y="3486182"/>
            <a:ext cx="4047293" cy="833004"/>
          </a:xfrm>
          <a:prstGeom prst="rect">
            <a:avLst/>
          </a:prstGeom>
        </p:spPr>
        <p:txBody>
          <a:bodyPr anchor="t" rtlCol="false" tIns="0" lIns="0" bIns="0" rIns="0">
            <a:spAutoFit/>
          </a:bodyPr>
          <a:lstStyle/>
          <a:p>
            <a:pPr algn="ctr" marL="0" indent="0" lvl="0">
              <a:lnSpc>
                <a:spcPts val="3384"/>
              </a:lnSpc>
            </a:pPr>
            <a:r>
              <a:rPr lang="en-US" b="true" sz="2212">
                <a:solidFill>
                  <a:srgbClr val="FFFFFF"/>
                </a:solidFill>
                <a:latin typeface="Crusoe Text Bold"/>
                <a:ea typeface="Crusoe Text Bold"/>
                <a:cs typeface="Crusoe Text Bold"/>
                <a:sym typeface="Crusoe Text Bold"/>
              </a:rPr>
              <a:t>Saying the opposite of what is meant</a:t>
            </a:r>
          </a:p>
        </p:txBody>
      </p:sp>
      <p:grpSp>
        <p:nvGrpSpPr>
          <p:cNvPr name="Group 29" id="29"/>
          <p:cNvGrpSpPr/>
          <p:nvPr/>
        </p:nvGrpSpPr>
        <p:grpSpPr>
          <a:xfrm rot="0">
            <a:off x="11701292" y="5578738"/>
            <a:ext cx="4371474" cy="2765605"/>
            <a:chOff x="0" y="0"/>
            <a:chExt cx="1353190" cy="856093"/>
          </a:xfrm>
        </p:grpSpPr>
        <p:sp>
          <p:nvSpPr>
            <p:cNvPr name="Freeform 30" id="30"/>
            <p:cNvSpPr/>
            <p:nvPr/>
          </p:nvSpPr>
          <p:spPr>
            <a:xfrm flipH="false" flipV="false" rot="0">
              <a:off x="0" y="0"/>
              <a:ext cx="1353190" cy="856093"/>
            </a:xfrm>
            <a:custGeom>
              <a:avLst/>
              <a:gdLst/>
              <a:ahLst/>
              <a:cxnLst/>
              <a:rect r="r" b="b" t="t" l="l"/>
              <a:pathLst>
                <a:path h="856093" w="1353190">
                  <a:moveTo>
                    <a:pt x="90321" y="0"/>
                  </a:moveTo>
                  <a:lnTo>
                    <a:pt x="1262869" y="0"/>
                  </a:lnTo>
                  <a:cubicBezTo>
                    <a:pt x="1312752" y="0"/>
                    <a:pt x="1353190" y="40438"/>
                    <a:pt x="1353190" y="90321"/>
                  </a:cubicBezTo>
                  <a:lnTo>
                    <a:pt x="1353190" y="765772"/>
                  </a:lnTo>
                  <a:cubicBezTo>
                    <a:pt x="1353190" y="815655"/>
                    <a:pt x="1312752" y="856093"/>
                    <a:pt x="1262869" y="856093"/>
                  </a:cubicBezTo>
                  <a:lnTo>
                    <a:pt x="90321" y="856093"/>
                  </a:lnTo>
                  <a:cubicBezTo>
                    <a:pt x="40438" y="856093"/>
                    <a:pt x="0" y="815655"/>
                    <a:pt x="0" y="765772"/>
                  </a:cubicBezTo>
                  <a:lnTo>
                    <a:pt x="0" y="90321"/>
                  </a:lnTo>
                  <a:cubicBezTo>
                    <a:pt x="0" y="40438"/>
                    <a:pt x="40438" y="0"/>
                    <a:pt x="90321" y="0"/>
                  </a:cubicBezTo>
                  <a:close/>
                </a:path>
              </a:pathLst>
            </a:custGeom>
            <a:solidFill>
              <a:srgbClr val="287A74"/>
            </a:solidFill>
          </p:spPr>
        </p:sp>
        <p:sp>
          <p:nvSpPr>
            <p:cNvPr name="TextBox 31" id="31"/>
            <p:cNvSpPr txBox="true"/>
            <p:nvPr/>
          </p:nvSpPr>
          <p:spPr>
            <a:xfrm>
              <a:off x="0" y="-28575"/>
              <a:ext cx="1353190" cy="884668"/>
            </a:xfrm>
            <a:prstGeom prst="rect">
              <a:avLst/>
            </a:prstGeom>
          </p:spPr>
          <p:txBody>
            <a:bodyPr anchor="ctr" rtlCol="false" tIns="50800" lIns="50800" bIns="50800" rIns="50800"/>
            <a:lstStyle/>
            <a:p>
              <a:pPr algn="ctr">
                <a:lnSpc>
                  <a:spcPts val="2659"/>
                </a:lnSpc>
              </a:pPr>
            </a:p>
          </p:txBody>
        </p:sp>
      </p:grpSp>
      <p:sp>
        <p:nvSpPr>
          <p:cNvPr name="TextBox 32" id="32"/>
          <p:cNvSpPr txBox="true"/>
          <p:nvPr/>
        </p:nvSpPr>
        <p:spPr>
          <a:xfrm rot="0">
            <a:off x="11907321" y="5762799"/>
            <a:ext cx="3865211" cy="388683"/>
          </a:xfrm>
          <a:prstGeom prst="rect">
            <a:avLst/>
          </a:prstGeom>
        </p:spPr>
        <p:txBody>
          <a:bodyPr anchor="t" rtlCol="false" tIns="0" lIns="0" bIns="0" rIns="0">
            <a:spAutoFit/>
          </a:bodyPr>
          <a:lstStyle/>
          <a:p>
            <a:pPr algn="ctr" marL="0" indent="0" lvl="0">
              <a:lnSpc>
                <a:spcPts val="2552"/>
              </a:lnSpc>
            </a:pPr>
            <a:r>
              <a:rPr lang="en-US" sz="2552" spc="262">
                <a:solidFill>
                  <a:srgbClr val="FFFFFF"/>
                </a:solidFill>
                <a:latin typeface="Funtastic"/>
                <a:ea typeface="Funtastic"/>
                <a:cs typeface="Funtastic"/>
                <a:sym typeface="Funtastic"/>
              </a:rPr>
              <a:t>EXAMPLE</a:t>
            </a:r>
          </a:p>
        </p:txBody>
      </p:sp>
      <p:sp>
        <p:nvSpPr>
          <p:cNvPr name="TextBox 33" id="33"/>
          <p:cNvSpPr txBox="true"/>
          <p:nvPr/>
        </p:nvSpPr>
        <p:spPr>
          <a:xfrm rot="0">
            <a:off x="11831603" y="6266099"/>
            <a:ext cx="4016647" cy="865122"/>
          </a:xfrm>
          <a:prstGeom prst="rect">
            <a:avLst/>
          </a:prstGeom>
        </p:spPr>
        <p:txBody>
          <a:bodyPr anchor="t" rtlCol="false" tIns="0" lIns="0" bIns="0" rIns="0">
            <a:spAutoFit/>
          </a:bodyPr>
          <a:lstStyle/>
          <a:p>
            <a:pPr algn="ctr" marL="0" indent="0" lvl="0">
              <a:lnSpc>
                <a:spcPts val="3537"/>
              </a:lnSpc>
            </a:pPr>
            <a:r>
              <a:rPr lang="en-US" b="true" sz="2312">
                <a:solidFill>
                  <a:srgbClr val="FFFFFF"/>
                </a:solidFill>
                <a:latin typeface="Crusoe Text Bold"/>
                <a:ea typeface="Crusoe Text Bold"/>
                <a:cs typeface="Crusoe Text Bold"/>
                <a:sym typeface="Crusoe Text Bold"/>
              </a:rPr>
              <a:t>"Great weather!" during a storm</a:t>
            </a:r>
          </a:p>
        </p:txBody>
      </p:sp>
      <p:sp>
        <p:nvSpPr>
          <p:cNvPr name="AutoShape 34" id="34"/>
          <p:cNvSpPr/>
          <p:nvPr/>
        </p:nvSpPr>
        <p:spPr>
          <a:xfrm flipH="true">
            <a:off x="13824193" y="5196227"/>
            <a:ext cx="0" cy="382511"/>
          </a:xfrm>
          <a:prstGeom prst="line">
            <a:avLst/>
          </a:prstGeom>
          <a:ln cap="flat" w="133350">
            <a:solidFill>
              <a:srgbClr val="287A74"/>
            </a:solidFill>
            <a:prstDash val="solid"/>
            <a:headEnd type="none" len="sm" w="sm"/>
            <a:tailEnd type="none" len="sm" w="sm"/>
          </a:ln>
        </p:spPr>
      </p:sp>
      <p:sp>
        <p:nvSpPr>
          <p:cNvPr name="AutoShape 35" id="35"/>
          <p:cNvSpPr/>
          <p:nvPr/>
        </p:nvSpPr>
        <p:spPr>
          <a:xfrm flipH="true">
            <a:off x="4383847" y="5244133"/>
            <a:ext cx="0" cy="382511"/>
          </a:xfrm>
          <a:prstGeom prst="line">
            <a:avLst/>
          </a:prstGeom>
          <a:ln cap="flat" w="133350">
            <a:solidFill>
              <a:srgbClr val="287A74"/>
            </a:solidFill>
            <a:prstDash val="solid"/>
            <a:headEnd type="none" len="sm" w="sm"/>
            <a:tailEnd type="none" len="sm" w="sm"/>
          </a:ln>
        </p:spPr>
      </p:sp>
      <p:sp>
        <p:nvSpPr>
          <p:cNvPr name="Freeform 36" id="36"/>
          <p:cNvSpPr/>
          <p:nvPr/>
        </p:nvSpPr>
        <p:spPr>
          <a:xfrm flipH="true" flipV="false" rot="0">
            <a:off x="0" y="-1486890"/>
            <a:ext cx="6166594" cy="4114800"/>
          </a:xfrm>
          <a:custGeom>
            <a:avLst/>
            <a:gdLst/>
            <a:ahLst/>
            <a:cxnLst/>
            <a:rect r="r" b="b" t="t" l="l"/>
            <a:pathLst>
              <a:path h="4114800" w="6166594">
                <a:moveTo>
                  <a:pt x="6166594" y="0"/>
                </a:moveTo>
                <a:lnTo>
                  <a:pt x="0" y="0"/>
                </a:lnTo>
                <a:lnTo>
                  <a:pt x="0" y="4114800"/>
                </a:lnTo>
                <a:lnTo>
                  <a:pt x="6166594" y="4114800"/>
                </a:lnTo>
                <a:lnTo>
                  <a:pt x="61665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7" id="37"/>
          <p:cNvSpPr/>
          <p:nvPr/>
        </p:nvSpPr>
        <p:spPr>
          <a:xfrm flipH="true">
            <a:off x="9210675" y="5244133"/>
            <a:ext cx="0" cy="382511"/>
          </a:xfrm>
          <a:prstGeom prst="line">
            <a:avLst/>
          </a:prstGeom>
          <a:ln cap="flat" w="133350">
            <a:solidFill>
              <a:srgbClr val="287A74"/>
            </a:solidFill>
            <a:prstDash val="solid"/>
            <a:headEnd type="none" len="sm" w="sm"/>
            <a:tailEnd type="none" len="sm" w="sm"/>
          </a:ln>
        </p:spPr>
      </p:sp>
    </p:spTree>
  </p:cSld>
  <p:clrMapOvr>
    <a:masterClrMapping/>
  </p:clrMapOvr>
  <p:transition spd="fast">
    <p:wipe dir="l"/>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Freeform 2" id="2"/>
          <p:cNvSpPr/>
          <p:nvPr/>
        </p:nvSpPr>
        <p:spPr>
          <a:xfrm flipH="true" flipV="false" rot="0">
            <a:off x="0" y="-1486890"/>
            <a:ext cx="6166594" cy="4114800"/>
          </a:xfrm>
          <a:custGeom>
            <a:avLst/>
            <a:gdLst/>
            <a:ahLst/>
            <a:cxnLst/>
            <a:rect r="r" b="b" t="t" l="l"/>
            <a:pathLst>
              <a:path h="4114800" w="6166594">
                <a:moveTo>
                  <a:pt x="6166594" y="0"/>
                </a:moveTo>
                <a:lnTo>
                  <a:pt x="0" y="0"/>
                </a:lnTo>
                <a:lnTo>
                  <a:pt x="0" y="4114800"/>
                </a:lnTo>
                <a:lnTo>
                  <a:pt x="6166594" y="4114800"/>
                </a:lnTo>
                <a:lnTo>
                  <a:pt x="61665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2121406" y="7779995"/>
            <a:ext cx="6166594" cy="4114800"/>
          </a:xfrm>
          <a:custGeom>
            <a:avLst/>
            <a:gdLst/>
            <a:ahLst/>
            <a:cxnLst/>
            <a:rect r="r" b="b" t="t" l="l"/>
            <a:pathLst>
              <a:path h="4114800" w="6166594">
                <a:moveTo>
                  <a:pt x="0" y="4114800"/>
                </a:moveTo>
                <a:lnTo>
                  <a:pt x="6166594" y="4114800"/>
                </a:lnTo>
                <a:lnTo>
                  <a:pt x="616659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1028700" y="5834037"/>
            <a:ext cx="16270849" cy="2865121"/>
          </a:xfrm>
          <a:prstGeom prst="rect">
            <a:avLst/>
          </a:prstGeom>
        </p:spPr>
        <p:txBody>
          <a:bodyPr anchor="t" rtlCol="false" tIns="0" lIns="0" bIns="0" rIns="0">
            <a:spAutoFit/>
          </a:bodyPr>
          <a:lstStyle/>
          <a:p>
            <a:pPr algn="l" marL="647697" indent="-323848" lvl="1">
              <a:lnSpc>
                <a:spcPts val="4589"/>
              </a:lnSpc>
              <a:buFont typeface="Arial"/>
              <a:buChar char="•"/>
            </a:pPr>
            <a:r>
              <a:rPr lang="en-US" b="true" sz="2999">
                <a:solidFill>
                  <a:srgbClr val="1C1679"/>
                </a:solidFill>
                <a:latin typeface="Crusoe Text Bold"/>
                <a:ea typeface="Crusoe Text Bold"/>
                <a:cs typeface="Crusoe Text Bold"/>
                <a:sym typeface="Crusoe Text Bold"/>
              </a:rPr>
              <a:t>Relieves stress by shifting perspectives.</a:t>
            </a:r>
          </a:p>
          <a:p>
            <a:pPr algn="l" marL="647697" indent="-323848" lvl="1">
              <a:lnSpc>
                <a:spcPts val="4589"/>
              </a:lnSpc>
              <a:buFont typeface="Arial"/>
              <a:buChar char="•"/>
            </a:pPr>
            <a:r>
              <a:rPr lang="en-US" b="true" sz="2999">
                <a:solidFill>
                  <a:srgbClr val="1C1679"/>
                </a:solidFill>
                <a:latin typeface="Crusoe Text Bold"/>
                <a:ea typeface="Crusoe Text Bold"/>
                <a:cs typeface="Crusoe Text Bold"/>
                <a:sym typeface="Crusoe Text Bold"/>
              </a:rPr>
              <a:t>Strengthens social connections through shared laughter.</a:t>
            </a:r>
          </a:p>
          <a:p>
            <a:pPr algn="l" marL="647697" indent="-323848" lvl="1">
              <a:lnSpc>
                <a:spcPts val="4589"/>
              </a:lnSpc>
              <a:buFont typeface="Arial"/>
              <a:buChar char="•"/>
            </a:pPr>
            <a:r>
              <a:rPr lang="en-US" b="true" sz="2999">
                <a:solidFill>
                  <a:srgbClr val="1C1679"/>
                </a:solidFill>
                <a:latin typeface="Crusoe Text Bold"/>
                <a:ea typeface="Crusoe Text Bold"/>
                <a:cs typeface="Crusoe Text Bold"/>
                <a:sym typeface="Crusoe Text Bold"/>
              </a:rPr>
              <a:t>Encourages critical thinking by highlighting contradictions.</a:t>
            </a:r>
          </a:p>
          <a:p>
            <a:pPr algn="l" marL="647697" indent="-323848" lvl="1">
              <a:lnSpc>
                <a:spcPts val="4589"/>
              </a:lnSpc>
              <a:buFont typeface="Arial"/>
              <a:buChar char="•"/>
            </a:pPr>
            <a:r>
              <a:rPr lang="en-US" b="true" sz="2999">
                <a:solidFill>
                  <a:srgbClr val="1C1679"/>
                </a:solidFill>
                <a:latin typeface="Crusoe Text Bold"/>
                <a:ea typeface="Crusoe Text Bold"/>
                <a:cs typeface="Crusoe Text Bold"/>
                <a:sym typeface="Crusoe Text Bold"/>
              </a:rPr>
              <a:t>Can alienate if misunderstood or used mockingly.</a:t>
            </a:r>
          </a:p>
          <a:p>
            <a:pPr algn="l" marL="0" indent="0" lvl="0">
              <a:lnSpc>
                <a:spcPts val="4589"/>
              </a:lnSpc>
            </a:pPr>
          </a:p>
        </p:txBody>
      </p:sp>
      <p:sp>
        <p:nvSpPr>
          <p:cNvPr name="TextBox 5" id="5"/>
          <p:cNvSpPr txBox="true"/>
          <p:nvPr/>
        </p:nvSpPr>
        <p:spPr>
          <a:xfrm rot="0">
            <a:off x="1275100" y="2107595"/>
            <a:ext cx="12947403" cy="4458968"/>
          </a:xfrm>
          <a:prstGeom prst="rect">
            <a:avLst/>
          </a:prstGeom>
        </p:spPr>
        <p:txBody>
          <a:bodyPr anchor="t" rtlCol="false" tIns="0" lIns="0" bIns="0" rIns="0">
            <a:spAutoFit/>
          </a:bodyPr>
          <a:lstStyle/>
          <a:p>
            <a:pPr algn="l">
              <a:lnSpc>
                <a:spcPts val="6799"/>
              </a:lnSpc>
            </a:pPr>
            <a:r>
              <a:rPr lang="en-US" sz="6799" spc="135">
                <a:solidFill>
                  <a:srgbClr val="1C1679"/>
                </a:solidFill>
                <a:latin typeface="Funtastic"/>
                <a:ea typeface="Funtastic"/>
                <a:cs typeface="Funtastic"/>
                <a:sym typeface="Funtastic"/>
              </a:rPr>
              <a:t>PSYCHOLOGICAL AND EMOTIONAL EFFECTS OF HUMOR AND IRONY</a:t>
            </a:r>
          </a:p>
          <a:p>
            <a:pPr algn="l">
              <a:lnSpc>
                <a:spcPts val="6799"/>
              </a:lnSpc>
            </a:pPr>
          </a:p>
          <a:p>
            <a:pPr algn="l" marL="0" indent="0" lvl="0">
              <a:lnSpc>
                <a:spcPts val="6799"/>
              </a:lnSpc>
            </a:pPr>
          </a:p>
        </p:txBody>
      </p:sp>
      <p:sp>
        <p:nvSpPr>
          <p:cNvPr name="Freeform 6" id="6"/>
          <p:cNvSpPr/>
          <p:nvPr/>
        </p:nvSpPr>
        <p:spPr>
          <a:xfrm flipH="false" flipV="false" rot="0">
            <a:off x="14958303" y="325982"/>
            <a:ext cx="2548329" cy="2548329"/>
          </a:xfrm>
          <a:custGeom>
            <a:avLst/>
            <a:gdLst/>
            <a:ahLst/>
            <a:cxnLst/>
            <a:rect r="r" b="b" t="t" l="l"/>
            <a:pathLst>
              <a:path h="2548329" w="2548329">
                <a:moveTo>
                  <a:pt x="0" y="0"/>
                </a:moveTo>
                <a:lnTo>
                  <a:pt x="2548328" y="0"/>
                </a:lnTo>
                <a:lnTo>
                  <a:pt x="2548328" y="2548328"/>
                </a:lnTo>
                <a:lnTo>
                  <a:pt x="0" y="25483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transition spd="fast">
    <p:wipe dir="l"/>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Freeform 2" id="2"/>
          <p:cNvSpPr/>
          <p:nvPr/>
        </p:nvSpPr>
        <p:spPr>
          <a:xfrm flipH="true" flipV="false" rot="0">
            <a:off x="0" y="-1270511"/>
            <a:ext cx="6166594" cy="4114800"/>
          </a:xfrm>
          <a:custGeom>
            <a:avLst/>
            <a:gdLst/>
            <a:ahLst/>
            <a:cxnLst/>
            <a:rect r="r" b="b" t="t" l="l"/>
            <a:pathLst>
              <a:path h="4114800" w="6166594">
                <a:moveTo>
                  <a:pt x="6166594" y="0"/>
                </a:moveTo>
                <a:lnTo>
                  <a:pt x="0" y="0"/>
                </a:lnTo>
                <a:lnTo>
                  <a:pt x="0" y="4114800"/>
                </a:lnTo>
                <a:lnTo>
                  <a:pt x="6166594" y="4114800"/>
                </a:lnTo>
                <a:lnTo>
                  <a:pt x="61665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1028700"/>
            <a:ext cx="16270849" cy="801369"/>
          </a:xfrm>
          <a:prstGeom prst="rect">
            <a:avLst/>
          </a:prstGeom>
        </p:spPr>
        <p:txBody>
          <a:bodyPr anchor="t" rtlCol="false" tIns="0" lIns="0" bIns="0" rIns="0">
            <a:spAutoFit/>
          </a:bodyPr>
          <a:lstStyle/>
          <a:p>
            <a:pPr algn="ctr" marL="0" indent="0" lvl="0">
              <a:lnSpc>
                <a:spcPts val="5299"/>
              </a:lnSpc>
            </a:pPr>
            <a:r>
              <a:rPr lang="en-US" sz="5299" spc="333">
                <a:solidFill>
                  <a:srgbClr val="1C1679"/>
                </a:solidFill>
                <a:latin typeface="Funtastic"/>
                <a:ea typeface="Funtastic"/>
                <a:cs typeface="Funtastic"/>
                <a:sym typeface="Funtastic"/>
              </a:rPr>
              <a:t>HOW CULTURE SHAPES HUMOR</a:t>
            </a:r>
          </a:p>
        </p:txBody>
      </p:sp>
      <p:sp>
        <p:nvSpPr>
          <p:cNvPr name="Freeform 4" id="4"/>
          <p:cNvSpPr/>
          <p:nvPr/>
        </p:nvSpPr>
        <p:spPr>
          <a:xfrm flipH="false" flipV="true" rot="0">
            <a:off x="13854855" y="7868143"/>
            <a:ext cx="5118346" cy="3415333"/>
          </a:xfrm>
          <a:custGeom>
            <a:avLst/>
            <a:gdLst/>
            <a:ahLst/>
            <a:cxnLst/>
            <a:rect r="r" b="b" t="t" l="l"/>
            <a:pathLst>
              <a:path h="3415333" w="5118346">
                <a:moveTo>
                  <a:pt x="0" y="3415333"/>
                </a:moveTo>
                <a:lnTo>
                  <a:pt x="5118346" y="3415333"/>
                </a:lnTo>
                <a:lnTo>
                  <a:pt x="5118346" y="0"/>
                </a:lnTo>
                <a:lnTo>
                  <a:pt x="0" y="0"/>
                </a:lnTo>
                <a:lnTo>
                  <a:pt x="0" y="3415333"/>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0">
            <a:off x="451688" y="2844289"/>
            <a:ext cx="4667765" cy="5968245"/>
            <a:chOff x="0" y="0"/>
            <a:chExt cx="1229370" cy="1571883"/>
          </a:xfrm>
        </p:grpSpPr>
        <p:sp>
          <p:nvSpPr>
            <p:cNvPr name="Freeform 6" id="6"/>
            <p:cNvSpPr/>
            <p:nvPr/>
          </p:nvSpPr>
          <p:spPr>
            <a:xfrm flipH="false" flipV="false" rot="0">
              <a:off x="0" y="0"/>
              <a:ext cx="1229370" cy="1571883"/>
            </a:xfrm>
            <a:custGeom>
              <a:avLst/>
              <a:gdLst/>
              <a:ahLst/>
              <a:cxnLst/>
              <a:rect r="r" b="b" t="t" l="l"/>
              <a:pathLst>
                <a:path h="1571883" w="1229370">
                  <a:moveTo>
                    <a:pt x="84588" y="0"/>
                  </a:moveTo>
                  <a:lnTo>
                    <a:pt x="1144782" y="0"/>
                  </a:lnTo>
                  <a:cubicBezTo>
                    <a:pt x="1167216" y="0"/>
                    <a:pt x="1188732" y="8912"/>
                    <a:pt x="1204595" y="24775"/>
                  </a:cubicBezTo>
                  <a:cubicBezTo>
                    <a:pt x="1220458" y="40639"/>
                    <a:pt x="1229370" y="62154"/>
                    <a:pt x="1229370" y="84588"/>
                  </a:cubicBezTo>
                  <a:lnTo>
                    <a:pt x="1229370" y="1487295"/>
                  </a:lnTo>
                  <a:cubicBezTo>
                    <a:pt x="1229370" y="1509729"/>
                    <a:pt x="1220458" y="1531245"/>
                    <a:pt x="1204595" y="1547108"/>
                  </a:cubicBezTo>
                  <a:cubicBezTo>
                    <a:pt x="1188732" y="1562971"/>
                    <a:pt x="1167216" y="1571883"/>
                    <a:pt x="1144782" y="1571883"/>
                  </a:cubicBezTo>
                  <a:lnTo>
                    <a:pt x="84588" y="1571883"/>
                  </a:lnTo>
                  <a:cubicBezTo>
                    <a:pt x="62154" y="1571883"/>
                    <a:pt x="40639" y="1562971"/>
                    <a:pt x="24775" y="1547108"/>
                  </a:cubicBezTo>
                  <a:cubicBezTo>
                    <a:pt x="8912" y="1531245"/>
                    <a:pt x="0" y="1509729"/>
                    <a:pt x="0" y="1487295"/>
                  </a:cubicBezTo>
                  <a:lnTo>
                    <a:pt x="0" y="84588"/>
                  </a:lnTo>
                  <a:cubicBezTo>
                    <a:pt x="0" y="62154"/>
                    <a:pt x="8912" y="40639"/>
                    <a:pt x="24775" y="24775"/>
                  </a:cubicBezTo>
                  <a:cubicBezTo>
                    <a:pt x="40639" y="8912"/>
                    <a:pt x="62154" y="0"/>
                    <a:pt x="84588" y="0"/>
                  </a:cubicBezTo>
                  <a:close/>
                </a:path>
              </a:pathLst>
            </a:custGeom>
            <a:solidFill>
              <a:srgbClr val="287A74"/>
            </a:solidFill>
          </p:spPr>
        </p:sp>
        <p:sp>
          <p:nvSpPr>
            <p:cNvPr name="TextBox 7" id="7"/>
            <p:cNvSpPr txBox="true"/>
            <p:nvPr/>
          </p:nvSpPr>
          <p:spPr>
            <a:xfrm>
              <a:off x="0" y="-28575"/>
              <a:ext cx="1229370" cy="1600458"/>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632500" y="4227503"/>
            <a:ext cx="4306141" cy="3157347"/>
          </a:xfrm>
          <a:prstGeom prst="rect">
            <a:avLst/>
          </a:prstGeom>
        </p:spPr>
        <p:txBody>
          <a:bodyPr anchor="t" rtlCol="false" tIns="0" lIns="0" bIns="0" rIns="0">
            <a:spAutoFit/>
          </a:bodyPr>
          <a:lstStyle/>
          <a:p>
            <a:pPr algn="ctr" marL="0" indent="0" lvl="0">
              <a:lnSpc>
                <a:spcPts val="5048"/>
              </a:lnSpc>
            </a:pPr>
            <a:r>
              <a:rPr lang="en-US" sz="3299">
                <a:solidFill>
                  <a:srgbClr val="FFFFFF"/>
                </a:solidFill>
                <a:latin typeface="Crusoe Text"/>
                <a:ea typeface="Crusoe Text"/>
                <a:cs typeface="Crusoe Text"/>
                <a:sym typeface="Crusoe Text"/>
              </a:rPr>
              <a:t>Humor reflects cultural norms, values, and history, acting as a mirror to society.</a:t>
            </a:r>
          </a:p>
        </p:txBody>
      </p:sp>
      <p:grpSp>
        <p:nvGrpSpPr>
          <p:cNvPr name="Group 9" id="9"/>
          <p:cNvGrpSpPr/>
          <p:nvPr/>
        </p:nvGrpSpPr>
        <p:grpSpPr>
          <a:xfrm rot="0">
            <a:off x="6810118" y="2828912"/>
            <a:ext cx="4667765" cy="5968245"/>
            <a:chOff x="0" y="0"/>
            <a:chExt cx="1229370" cy="1571883"/>
          </a:xfrm>
        </p:grpSpPr>
        <p:sp>
          <p:nvSpPr>
            <p:cNvPr name="Freeform 10" id="10"/>
            <p:cNvSpPr/>
            <p:nvPr/>
          </p:nvSpPr>
          <p:spPr>
            <a:xfrm flipH="false" flipV="false" rot="0">
              <a:off x="0" y="0"/>
              <a:ext cx="1229370" cy="1571883"/>
            </a:xfrm>
            <a:custGeom>
              <a:avLst/>
              <a:gdLst/>
              <a:ahLst/>
              <a:cxnLst/>
              <a:rect r="r" b="b" t="t" l="l"/>
              <a:pathLst>
                <a:path h="1571883" w="1229370">
                  <a:moveTo>
                    <a:pt x="84588" y="0"/>
                  </a:moveTo>
                  <a:lnTo>
                    <a:pt x="1144782" y="0"/>
                  </a:lnTo>
                  <a:cubicBezTo>
                    <a:pt x="1167216" y="0"/>
                    <a:pt x="1188732" y="8912"/>
                    <a:pt x="1204595" y="24775"/>
                  </a:cubicBezTo>
                  <a:cubicBezTo>
                    <a:pt x="1220458" y="40639"/>
                    <a:pt x="1229370" y="62154"/>
                    <a:pt x="1229370" y="84588"/>
                  </a:cubicBezTo>
                  <a:lnTo>
                    <a:pt x="1229370" y="1487295"/>
                  </a:lnTo>
                  <a:cubicBezTo>
                    <a:pt x="1229370" y="1509729"/>
                    <a:pt x="1220458" y="1531245"/>
                    <a:pt x="1204595" y="1547108"/>
                  </a:cubicBezTo>
                  <a:cubicBezTo>
                    <a:pt x="1188732" y="1562971"/>
                    <a:pt x="1167216" y="1571883"/>
                    <a:pt x="1144782" y="1571883"/>
                  </a:cubicBezTo>
                  <a:lnTo>
                    <a:pt x="84588" y="1571883"/>
                  </a:lnTo>
                  <a:cubicBezTo>
                    <a:pt x="62154" y="1571883"/>
                    <a:pt x="40639" y="1562971"/>
                    <a:pt x="24775" y="1547108"/>
                  </a:cubicBezTo>
                  <a:cubicBezTo>
                    <a:pt x="8912" y="1531245"/>
                    <a:pt x="0" y="1509729"/>
                    <a:pt x="0" y="1487295"/>
                  </a:cubicBezTo>
                  <a:lnTo>
                    <a:pt x="0" y="84588"/>
                  </a:lnTo>
                  <a:cubicBezTo>
                    <a:pt x="0" y="62154"/>
                    <a:pt x="8912" y="40639"/>
                    <a:pt x="24775" y="24775"/>
                  </a:cubicBezTo>
                  <a:cubicBezTo>
                    <a:pt x="40639" y="8912"/>
                    <a:pt x="62154" y="0"/>
                    <a:pt x="84588" y="0"/>
                  </a:cubicBezTo>
                  <a:close/>
                </a:path>
              </a:pathLst>
            </a:custGeom>
            <a:solidFill>
              <a:srgbClr val="287A74"/>
            </a:solidFill>
          </p:spPr>
        </p:sp>
        <p:sp>
          <p:nvSpPr>
            <p:cNvPr name="TextBox 11" id="11"/>
            <p:cNvSpPr txBox="true"/>
            <p:nvPr/>
          </p:nvSpPr>
          <p:spPr>
            <a:xfrm>
              <a:off x="0" y="-28575"/>
              <a:ext cx="1229370" cy="1600458"/>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6990930" y="4237028"/>
            <a:ext cx="4306141" cy="3056763"/>
          </a:xfrm>
          <a:prstGeom prst="rect">
            <a:avLst/>
          </a:prstGeom>
        </p:spPr>
        <p:txBody>
          <a:bodyPr anchor="t" rtlCol="false" tIns="0" lIns="0" bIns="0" rIns="0">
            <a:spAutoFit/>
          </a:bodyPr>
          <a:lstStyle/>
          <a:p>
            <a:pPr algn="ctr" marL="0" indent="0" lvl="0">
              <a:lnSpc>
                <a:spcPts val="4895"/>
              </a:lnSpc>
            </a:pPr>
            <a:r>
              <a:rPr lang="en-US" b="true" sz="3199">
                <a:solidFill>
                  <a:srgbClr val="FFFFFF"/>
                </a:solidFill>
                <a:latin typeface="Crusoe Text Bold"/>
                <a:ea typeface="Crusoe Text Bold"/>
                <a:cs typeface="Crusoe Text Bold"/>
                <a:sym typeface="Crusoe Text Bold"/>
              </a:rPr>
              <a:t>Cultural differences influence what is perceived as funny, ironic, or even offensive. </a:t>
            </a:r>
          </a:p>
        </p:txBody>
      </p:sp>
      <p:grpSp>
        <p:nvGrpSpPr>
          <p:cNvPr name="Group 13" id="13"/>
          <p:cNvGrpSpPr/>
          <p:nvPr/>
        </p:nvGrpSpPr>
        <p:grpSpPr>
          <a:xfrm rot="0">
            <a:off x="12870821" y="2828912"/>
            <a:ext cx="4667765" cy="5968245"/>
            <a:chOff x="0" y="0"/>
            <a:chExt cx="1229370" cy="1571883"/>
          </a:xfrm>
        </p:grpSpPr>
        <p:sp>
          <p:nvSpPr>
            <p:cNvPr name="Freeform 14" id="14"/>
            <p:cNvSpPr/>
            <p:nvPr/>
          </p:nvSpPr>
          <p:spPr>
            <a:xfrm flipH="false" flipV="false" rot="0">
              <a:off x="0" y="0"/>
              <a:ext cx="1229370" cy="1571883"/>
            </a:xfrm>
            <a:custGeom>
              <a:avLst/>
              <a:gdLst/>
              <a:ahLst/>
              <a:cxnLst/>
              <a:rect r="r" b="b" t="t" l="l"/>
              <a:pathLst>
                <a:path h="1571883" w="1229370">
                  <a:moveTo>
                    <a:pt x="84588" y="0"/>
                  </a:moveTo>
                  <a:lnTo>
                    <a:pt x="1144782" y="0"/>
                  </a:lnTo>
                  <a:cubicBezTo>
                    <a:pt x="1167216" y="0"/>
                    <a:pt x="1188732" y="8912"/>
                    <a:pt x="1204595" y="24775"/>
                  </a:cubicBezTo>
                  <a:cubicBezTo>
                    <a:pt x="1220458" y="40639"/>
                    <a:pt x="1229370" y="62154"/>
                    <a:pt x="1229370" y="84588"/>
                  </a:cubicBezTo>
                  <a:lnTo>
                    <a:pt x="1229370" y="1487295"/>
                  </a:lnTo>
                  <a:cubicBezTo>
                    <a:pt x="1229370" y="1509729"/>
                    <a:pt x="1220458" y="1531245"/>
                    <a:pt x="1204595" y="1547108"/>
                  </a:cubicBezTo>
                  <a:cubicBezTo>
                    <a:pt x="1188732" y="1562971"/>
                    <a:pt x="1167216" y="1571883"/>
                    <a:pt x="1144782" y="1571883"/>
                  </a:cubicBezTo>
                  <a:lnTo>
                    <a:pt x="84588" y="1571883"/>
                  </a:lnTo>
                  <a:cubicBezTo>
                    <a:pt x="62154" y="1571883"/>
                    <a:pt x="40639" y="1562971"/>
                    <a:pt x="24775" y="1547108"/>
                  </a:cubicBezTo>
                  <a:cubicBezTo>
                    <a:pt x="8912" y="1531245"/>
                    <a:pt x="0" y="1509729"/>
                    <a:pt x="0" y="1487295"/>
                  </a:cubicBezTo>
                  <a:lnTo>
                    <a:pt x="0" y="84588"/>
                  </a:lnTo>
                  <a:cubicBezTo>
                    <a:pt x="0" y="62154"/>
                    <a:pt x="8912" y="40639"/>
                    <a:pt x="24775" y="24775"/>
                  </a:cubicBezTo>
                  <a:cubicBezTo>
                    <a:pt x="40639" y="8912"/>
                    <a:pt x="62154" y="0"/>
                    <a:pt x="84588" y="0"/>
                  </a:cubicBezTo>
                  <a:close/>
                </a:path>
              </a:pathLst>
            </a:custGeom>
            <a:solidFill>
              <a:srgbClr val="287A74"/>
            </a:solidFill>
          </p:spPr>
        </p:sp>
        <p:sp>
          <p:nvSpPr>
            <p:cNvPr name="TextBox 15" id="15"/>
            <p:cNvSpPr txBox="true"/>
            <p:nvPr/>
          </p:nvSpPr>
          <p:spPr>
            <a:xfrm>
              <a:off x="0" y="-28575"/>
              <a:ext cx="1229370" cy="1600458"/>
            </a:xfrm>
            <a:prstGeom prst="rect">
              <a:avLst/>
            </a:prstGeom>
          </p:spPr>
          <p:txBody>
            <a:bodyPr anchor="ctr" rtlCol="false" tIns="50800" lIns="50800" bIns="50800" rIns="50800"/>
            <a:lstStyle/>
            <a:p>
              <a:pPr algn="ctr">
                <a:lnSpc>
                  <a:spcPts val="2659"/>
                </a:lnSpc>
              </a:pPr>
            </a:p>
          </p:txBody>
        </p:sp>
      </p:grpSp>
      <p:sp>
        <p:nvSpPr>
          <p:cNvPr name="TextBox 16" id="16"/>
          <p:cNvSpPr txBox="true"/>
          <p:nvPr/>
        </p:nvSpPr>
        <p:spPr>
          <a:xfrm rot="0">
            <a:off x="13051633" y="4618600"/>
            <a:ext cx="4306141" cy="2437638"/>
          </a:xfrm>
          <a:prstGeom prst="rect">
            <a:avLst/>
          </a:prstGeom>
        </p:spPr>
        <p:txBody>
          <a:bodyPr anchor="t" rtlCol="false" tIns="0" lIns="0" bIns="0" rIns="0">
            <a:spAutoFit/>
          </a:bodyPr>
          <a:lstStyle/>
          <a:p>
            <a:pPr algn="ctr" marL="0" indent="0" lvl="0">
              <a:lnSpc>
                <a:spcPts val="4895"/>
              </a:lnSpc>
            </a:pPr>
            <a:r>
              <a:rPr lang="en-US" b="true" sz="3199">
                <a:solidFill>
                  <a:srgbClr val="FFFFFF"/>
                </a:solidFill>
                <a:latin typeface="Crusoe Text Bold"/>
                <a:ea typeface="Crusoe Text Bold"/>
                <a:cs typeface="Crusoe Text Bold"/>
                <a:sym typeface="Crusoe Text Bold"/>
              </a:rPr>
              <a:t>Humor evolves with societal changes, adapting to new norms and values. </a:t>
            </a:r>
          </a:p>
        </p:txBody>
      </p:sp>
    </p:spTree>
  </p:cSld>
  <p:clrMapOvr>
    <a:masterClrMapping/>
  </p:clrMapOvr>
  <p:transition spd="fast">
    <p:wipe dir="l"/>
  </p:transition>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Freeform 2" id="2"/>
          <p:cNvSpPr/>
          <p:nvPr/>
        </p:nvSpPr>
        <p:spPr>
          <a:xfrm flipH="true" flipV="false" rot="0">
            <a:off x="0" y="-1486890"/>
            <a:ext cx="6166594" cy="4114800"/>
          </a:xfrm>
          <a:custGeom>
            <a:avLst/>
            <a:gdLst/>
            <a:ahLst/>
            <a:cxnLst/>
            <a:rect r="r" b="b" t="t" l="l"/>
            <a:pathLst>
              <a:path h="4114800" w="6166594">
                <a:moveTo>
                  <a:pt x="6166594" y="0"/>
                </a:moveTo>
                <a:lnTo>
                  <a:pt x="0" y="0"/>
                </a:lnTo>
                <a:lnTo>
                  <a:pt x="0" y="4114800"/>
                </a:lnTo>
                <a:lnTo>
                  <a:pt x="6166594" y="4114800"/>
                </a:lnTo>
                <a:lnTo>
                  <a:pt x="61665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1028700"/>
            <a:ext cx="16270849" cy="801369"/>
          </a:xfrm>
          <a:prstGeom prst="rect">
            <a:avLst/>
          </a:prstGeom>
        </p:spPr>
        <p:txBody>
          <a:bodyPr anchor="t" rtlCol="false" tIns="0" lIns="0" bIns="0" rIns="0">
            <a:spAutoFit/>
          </a:bodyPr>
          <a:lstStyle/>
          <a:p>
            <a:pPr algn="ctr" marL="0" indent="0" lvl="0">
              <a:lnSpc>
                <a:spcPts val="5299"/>
              </a:lnSpc>
            </a:pPr>
            <a:r>
              <a:rPr lang="en-US" sz="5299" spc="105">
                <a:solidFill>
                  <a:srgbClr val="1C1679"/>
                </a:solidFill>
                <a:latin typeface="Funtastic"/>
                <a:ea typeface="Funtastic"/>
                <a:cs typeface="Funtastic"/>
                <a:sym typeface="Funtastic"/>
              </a:rPr>
              <a:t>EXAMPLES OF CULTURE-SPECIFIC HUMOR</a:t>
            </a:r>
          </a:p>
        </p:txBody>
      </p:sp>
      <p:sp>
        <p:nvSpPr>
          <p:cNvPr name="TextBox 4" id="4"/>
          <p:cNvSpPr txBox="true"/>
          <p:nvPr/>
        </p:nvSpPr>
        <p:spPr>
          <a:xfrm rot="0">
            <a:off x="267024" y="2461077"/>
            <a:ext cx="17032526" cy="7825923"/>
          </a:xfrm>
          <a:prstGeom prst="rect">
            <a:avLst/>
          </a:prstGeom>
        </p:spPr>
        <p:txBody>
          <a:bodyPr anchor="t" rtlCol="false" tIns="0" lIns="0" bIns="0" rIns="0">
            <a:spAutoFit/>
          </a:bodyPr>
          <a:lstStyle/>
          <a:p>
            <a:pPr algn="l" marL="830314" indent="-415157" lvl="1">
              <a:lnSpc>
                <a:spcPts val="4807"/>
              </a:lnSpc>
              <a:buFont typeface="Arial"/>
              <a:buChar char="•"/>
            </a:pPr>
            <a:r>
              <a:rPr lang="en-US" b="true" sz="3845" u="sng">
                <a:solidFill>
                  <a:srgbClr val="287A74"/>
                </a:solidFill>
                <a:latin typeface="Crusoe Text Bold"/>
                <a:ea typeface="Crusoe Text Bold"/>
                <a:cs typeface="Crusoe Text Bold"/>
                <a:sym typeface="Crusoe Text Bold"/>
              </a:rPr>
              <a:t>British Satire:</a:t>
            </a:r>
            <a:r>
              <a:rPr lang="en-US" b="true" sz="3845">
                <a:solidFill>
                  <a:srgbClr val="1C1679"/>
                </a:solidFill>
                <a:latin typeface="Crusoe Text Bold"/>
                <a:ea typeface="Crusoe Text Bold"/>
                <a:cs typeface="Crusoe Text Bold"/>
                <a:sym typeface="Crusoe Text Bold"/>
              </a:rPr>
              <a:t> Known for sharp political commentary and dry wit, often seen in shows like Yes Minister.</a:t>
            </a:r>
          </a:p>
          <a:p>
            <a:pPr algn="l">
              <a:lnSpc>
                <a:spcPts val="4807"/>
              </a:lnSpc>
            </a:pPr>
            <a:r>
              <a:rPr lang="en-US" sz="3845" b="true">
                <a:solidFill>
                  <a:srgbClr val="1C1679"/>
                </a:solidFill>
                <a:latin typeface="Crusoe Text Bold"/>
                <a:ea typeface="Crusoe Text Bold"/>
                <a:cs typeface="Crusoe Text Bold"/>
                <a:sym typeface="Crusoe Text Bold"/>
              </a:rPr>
              <a:t> </a:t>
            </a:r>
          </a:p>
          <a:p>
            <a:pPr algn="l" marL="830314" indent="-415157" lvl="1">
              <a:lnSpc>
                <a:spcPts val="4807"/>
              </a:lnSpc>
              <a:buFont typeface="Arial"/>
              <a:buChar char="•"/>
            </a:pPr>
            <a:r>
              <a:rPr lang="en-US" b="true" sz="3845" u="sng">
                <a:solidFill>
                  <a:srgbClr val="287A74"/>
                </a:solidFill>
                <a:latin typeface="Crusoe Text Bold"/>
                <a:ea typeface="Crusoe Text Bold"/>
                <a:cs typeface="Crusoe Text Bold"/>
                <a:sym typeface="Crusoe Text Bold"/>
              </a:rPr>
              <a:t>Japanese P</a:t>
            </a:r>
            <a:r>
              <a:rPr lang="en-US" b="true" sz="3845" u="sng">
                <a:solidFill>
                  <a:srgbClr val="287A74"/>
                </a:solidFill>
                <a:latin typeface="Crusoe Text Bold"/>
                <a:ea typeface="Crusoe Text Bold"/>
                <a:cs typeface="Crusoe Text Bold"/>
                <a:sym typeface="Crusoe Text Bold"/>
              </a:rPr>
              <a:t>uns:</a:t>
            </a:r>
            <a:r>
              <a:rPr lang="en-US" b="true" sz="3845">
                <a:solidFill>
                  <a:srgbClr val="1C1679"/>
                </a:solidFill>
                <a:latin typeface="Crusoe Text Bold"/>
                <a:ea typeface="Crusoe Text Bold"/>
                <a:cs typeface="Crusoe Text Bold"/>
                <a:sym typeface="Crusoe Text Bold"/>
              </a:rPr>
              <a:t> Wordplay based on kanji characters, creating humor that is deeply tied to the language. </a:t>
            </a:r>
          </a:p>
          <a:p>
            <a:pPr algn="l">
              <a:lnSpc>
                <a:spcPts val="4807"/>
              </a:lnSpc>
            </a:pPr>
          </a:p>
          <a:p>
            <a:pPr algn="l" marL="830314" indent="-415157" lvl="1">
              <a:lnSpc>
                <a:spcPts val="4807"/>
              </a:lnSpc>
              <a:buFont typeface="Arial"/>
              <a:buChar char="•"/>
            </a:pPr>
            <a:r>
              <a:rPr lang="en-US" b="true" sz="3845" u="sng">
                <a:solidFill>
                  <a:srgbClr val="287A74"/>
                </a:solidFill>
                <a:latin typeface="Crusoe Text Bold"/>
                <a:ea typeface="Crusoe Text Bold"/>
                <a:cs typeface="Crusoe Text Bold"/>
                <a:sym typeface="Crusoe Text Bold"/>
              </a:rPr>
              <a:t>American Irony:</a:t>
            </a:r>
            <a:r>
              <a:rPr lang="en-US" b="true" sz="3845">
                <a:solidFill>
                  <a:srgbClr val="1C1679"/>
                </a:solidFill>
                <a:latin typeface="Crusoe Text Bold"/>
                <a:ea typeface="Crusoe Text Bold"/>
                <a:cs typeface="Crusoe Text Bold"/>
                <a:sym typeface="Crusoe Text Bold"/>
              </a:rPr>
              <a:t> Sarcasm and irony are commonly used as tools for social interaction and commentary. </a:t>
            </a:r>
          </a:p>
          <a:p>
            <a:pPr algn="l">
              <a:lnSpc>
                <a:spcPts val="4807"/>
              </a:lnSpc>
            </a:pPr>
          </a:p>
          <a:p>
            <a:pPr algn="l" marL="830314" indent="-415157" lvl="1">
              <a:lnSpc>
                <a:spcPts val="4807"/>
              </a:lnSpc>
              <a:buFont typeface="Arial"/>
              <a:buChar char="•"/>
            </a:pPr>
            <a:r>
              <a:rPr lang="en-US" b="true" sz="3845" u="sng">
                <a:solidFill>
                  <a:srgbClr val="287A74"/>
                </a:solidFill>
                <a:latin typeface="Crusoe Text Bold"/>
                <a:ea typeface="Crusoe Text Bold"/>
                <a:cs typeface="Crusoe Text Bold"/>
                <a:sym typeface="Crusoe Text Bold"/>
              </a:rPr>
              <a:t>Moroccan Storytelling:</a:t>
            </a:r>
            <a:r>
              <a:rPr lang="en-US" b="true" sz="3845">
                <a:solidFill>
                  <a:srgbClr val="1C1679"/>
                </a:solidFill>
                <a:latin typeface="Crusoe Text Bold"/>
                <a:ea typeface="Crusoe Text Bold"/>
                <a:cs typeface="Crusoe Text Bold"/>
                <a:sym typeface="Crusoe Text Bold"/>
              </a:rPr>
              <a:t> Humor often conveyed through traditional storytelling and proverbs, reflecting local customs and values.  </a:t>
            </a:r>
          </a:p>
          <a:p>
            <a:pPr algn="l" marL="0" indent="0" lvl="0">
              <a:lnSpc>
                <a:spcPts val="4120"/>
              </a:lnSpc>
            </a:pPr>
          </a:p>
        </p:txBody>
      </p:sp>
      <p:sp>
        <p:nvSpPr>
          <p:cNvPr name="Freeform 5" id="5"/>
          <p:cNvSpPr/>
          <p:nvPr/>
        </p:nvSpPr>
        <p:spPr>
          <a:xfrm flipH="false" flipV="true" rot="0">
            <a:off x="12121406" y="7779995"/>
            <a:ext cx="6166594" cy="4114800"/>
          </a:xfrm>
          <a:custGeom>
            <a:avLst/>
            <a:gdLst/>
            <a:ahLst/>
            <a:cxnLst/>
            <a:rect r="r" b="b" t="t" l="l"/>
            <a:pathLst>
              <a:path h="4114800" w="6166594">
                <a:moveTo>
                  <a:pt x="0" y="4114800"/>
                </a:moveTo>
                <a:lnTo>
                  <a:pt x="6166594" y="4114800"/>
                </a:lnTo>
                <a:lnTo>
                  <a:pt x="616659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fast">
    <p:wipe dir="l"/>
  </p:transition>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Freeform 2" id="2"/>
          <p:cNvSpPr/>
          <p:nvPr/>
        </p:nvSpPr>
        <p:spPr>
          <a:xfrm flipH="true" flipV="false" rot="0">
            <a:off x="0" y="-1486890"/>
            <a:ext cx="6166594" cy="4114800"/>
          </a:xfrm>
          <a:custGeom>
            <a:avLst/>
            <a:gdLst/>
            <a:ahLst/>
            <a:cxnLst/>
            <a:rect r="r" b="b" t="t" l="l"/>
            <a:pathLst>
              <a:path h="4114800" w="6166594">
                <a:moveTo>
                  <a:pt x="6166594" y="0"/>
                </a:moveTo>
                <a:lnTo>
                  <a:pt x="0" y="0"/>
                </a:lnTo>
                <a:lnTo>
                  <a:pt x="0" y="4114800"/>
                </a:lnTo>
                <a:lnTo>
                  <a:pt x="6166594" y="4114800"/>
                </a:lnTo>
                <a:lnTo>
                  <a:pt x="61665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28700" y="1028700"/>
            <a:ext cx="16270849" cy="801369"/>
          </a:xfrm>
          <a:prstGeom prst="rect">
            <a:avLst/>
          </a:prstGeom>
        </p:spPr>
        <p:txBody>
          <a:bodyPr anchor="t" rtlCol="false" tIns="0" lIns="0" bIns="0" rIns="0">
            <a:spAutoFit/>
          </a:bodyPr>
          <a:lstStyle/>
          <a:p>
            <a:pPr algn="ctr" marL="0" indent="0" lvl="0">
              <a:lnSpc>
                <a:spcPts val="5299"/>
              </a:lnSpc>
            </a:pPr>
            <a:r>
              <a:rPr lang="en-US" sz="5299" spc="105">
                <a:solidFill>
                  <a:srgbClr val="1C1679"/>
                </a:solidFill>
                <a:latin typeface="Funtastic"/>
                <a:ea typeface="Funtastic"/>
                <a:cs typeface="Funtastic"/>
                <a:sym typeface="Funtastic"/>
              </a:rPr>
              <a:t>CULTURAL CODES AND SHARED KNOWLEDGE</a:t>
            </a:r>
          </a:p>
        </p:txBody>
      </p:sp>
      <p:sp>
        <p:nvSpPr>
          <p:cNvPr name="TextBox 4" id="4"/>
          <p:cNvSpPr txBox="true"/>
          <p:nvPr/>
        </p:nvSpPr>
        <p:spPr>
          <a:xfrm rot="0">
            <a:off x="267024" y="2627910"/>
            <a:ext cx="17032526" cy="7110513"/>
          </a:xfrm>
          <a:prstGeom prst="rect">
            <a:avLst/>
          </a:prstGeom>
        </p:spPr>
        <p:txBody>
          <a:bodyPr anchor="t" rtlCol="false" tIns="0" lIns="0" bIns="0" rIns="0">
            <a:spAutoFit/>
          </a:bodyPr>
          <a:lstStyle/>
          <a:p>
            <a:pPr algn="l" marL="851904" indent="-425952" lvl="1">
              <a:lnSpc>
                <a:spcPts val="4774"/>
              </a:lnSpc>
              <a:buFont typeface="Arial"/>
              <a:buChar char="•"/>
            </a:pPr>
            <a:r>
              <a:rPr lang="en-US" b="true" sz="3945">
                <a:solidFill>
                  <a:srgbClr val="1C1679"/>
                </a:solidFill>
                <a:latin typeface="Crusoe Text Bold"/>
                <a:ea typeface="Crusoe Text Bold"/>
                <a:cs typeface="Crusoe Text Bold"/>
                <a:sym typeface="Crusoe Text Bold"/>
              </a:rPr>
              <a:t>Humor relies on shared cultural references, creating a sense of belonging among those who understand it. </a:t>
            </a:r>
          </a:p>
          <a:p>
            <a:pPr algn="l">
              <a:lnSpc>
                <a:spcPts val="4774"/>
              </a:lnSpc>
            </a:pPr>
          </a:p>
          <a:p>
            <a:pPr algn="l" marL="851904" indent="-425952" lvl="1">
              <a:lnSpc>
                <a:spcPts val="4774"/>
              </a:lnSpc>
              <a:buFont typeface="Arial"/>
              <a:buChar char="•"/>
            </a:pPr>
            <a:r>
              <a:rPr lang="en-US" b="true" sz="3945">
                <a:solidFill>
                  <a:srgbClr val="1C1679"/>
                </a:solidFill>
                <a:latin typeface="Crusoe Text Bold"/>
                <a:ea typeface="Crusoe Text Bold"/>
                <a:cs typeface="Crusoe Text Bold"/>
                <a:sym typeface="Crusoe Text Bold"/>
              </a:rPr>
              <a:t>I</a:t>
            </a:r>
            <a:r>
              <a:rPr lang="en-US" b="true" sz="3945">
                <a:solidFill>
                  <a:srgbClr val="1C1679"/>
                </a:solidFill>
                <a:latin typeface="Crusoe Text Bold"/>
                <a:ea typeface="Crusoe Text Bold"/>
                <a:cs typeface="Crusoe Text Bold"/>
                <a:sym typeface="Crusoe Text Bold"/>
              </a:rPr>
              <a:t>nside joke</a:t>
            </a:r>
            <a:r>
              <a:rPr lang="en-US" b="true" sz="3945">
                <a:solidFill>
                  <a:srgbClr val="1C1679"/>
                </a:solidFill>
                <a:latin typeface="Crusoe Text Bold"/>
                <a:ea typeface="Crusoe Text Bold"/>
                <a:cs typeface="Crusoe Text Bold"/>
                <a:sym typeface="Crusoe Text Bold"/>
              </a:rPr>
              <a:t>s and cultural idioms are examples of humor that require specific knowledge to be appreciated. </a:t>
            </a:r>
          </a:p>
          <a:p>
            <a:pPr algn="l">
              <a:lnSpc>
                <a:spcPts val="4774"/>
              </a:lnSpc>
            </a:pPr>
          </a:p>
          <a:p>
            <a:pPr algn="l" marL="851904" indent="-425952" lvl="1">
              <a:lnSpc>
                <a:spcPts val="4774"/>
              </a:lnSpc>
              <a:buFont typeface="Arial"/>
              <a:buChar char="•"/>
            </a:pPr>
            <a:r>
              <a:rPr lang="en-US" b="true" sz="3945">
                <a:solidFill>
                  <a:srgbClr val="1C1679"/>
                </a:solidFill>
                <a:latin typeface="Crusoe Text Bold"/>
                <a:ea typeface="Crusoe Text Bold"/>
                <a:cs typeface="Crusoe Text Bold"/>
                <a:sym typeface="Crusoe Text Bold"/>
              </a:rPr>
              <a:t>Cultu</a:t>
            </a:r>
            <a:r>
              <a:rPr lang="en-US" b="true" sz="3945">
                <a:solidFill>
                  <a:srgbClr val="1C1679"/>
                </a:solidFill>
                <a:latin typeface="Crusoe Text Bold"/>
                <a:ea typeface="Crusoe Text Bold"/>
                <a:cs typeface="Crusoe Text Bold"/>
                <a:sym typeface="Crusoe Text Bold"/>
              </a:rPr>
              <a:t>ral codes act as a framework for understanding humor, making it inclusive for some and exclusive for others.</a:t>
            </a:r>
          </a:p>
          <a:p>
            <a:pPr algn="l">
              <a:lnSpc>
                <a:spcPts val="4774"/>
              </a:lnSpc>
            </a:pPr>
          </a:p>
          <a:p>
            <a:pPr algn="l" marL="851904" indent="-425952" lvl="1">
              <a:lnSpc>
                <a:spcPts val="4774"/>
              </a:lnSpc>
              <a:buFont typeface="Arial"/>
              <a:buChar char="•"/>
            </a:pPr>
            <a:r>
              <a:rPr lang="en-US" b="true" sz="3945">
                <a:solidFill>
                  <a:srgbClr val="1C1679"/>
                </a:solidFill>
                <a:latin typeface="Crusoe Text Bold"/>
                <a:ea typeface="Crusoe Text Bold"/>
                <a:cs typeface="Crusoe Text Bold"/>
                <a:sym typeface="Crusoe Text Bold"/>
              </a:rPr>
              <a:t>Example: A joke about cricket might resonate deeply in India but fall flat in countries where the sport is less popular. </a:t>
            </a:r>
          </a:p>
          <a:p>
            <a:pPr algn="l" marL="0" indent="0" lvl="0">
              <a:lnSpc>
                <a:spcPts val="4109"/>
              </a:lnSpc>
            </a:pPr>
          </a:p>
        </p:txBody>
      </p:sp>
      <p:sp>
        <p:nvSpPr>
          <p:cNvPr name="Freeform 5" id="5"/>
          <p:cNvSpPr/>
          <p:nvPr/>
        </p:nvSpPr>
        <p:spPr>
          <a:xfrm flipH="false" flipV="true" rot="0">
            <a:off x="12121406" y="7779995"/>
            <a:ext cx="6166594" cy="4114800"/>
          </a:xfrm>
          <a:custGeom>
            <a:avLst/>
            <a:gdLst/>
            <a:ahLst/>
            <a:cxnLst/>
            <a:rect r="r" b="b" t="t" l="l"/>
            <a:pathLst>
              <a:path h="4114800" w="6166594">
                <a:moveTo>
                  <a:pt x="0" y="4114800"/>
                </a:moveTo>
                <a:lnTo>
                  <a:pt x="6166594" y="4114800"/>
                </a:lnTo>
                <a:lnTo>
                  <a:pt x="616659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fast">
    <p:wipe dir="l"/>
  </p:transition>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Freeform 2" id="2"/>
          <p:cNvSpPr/>
          <p:nvPr/>
        </p:nvSpPr>
        <p:spPr>
          <a:xfrm flipH="true" flipV="false" rot="0">
            <a:off x="-3854075" y="-712072"/>
            <a:ext cx="6166594" cy="4114800"/>
          </a:xfrm>
          <a:custGeom>
            <a:avLst/>
            <a:gdLst/>
            <a:ahLst/>
            <a:cxnLst/>
            <a:rect r="r" b="b" t="t" l="l"/>
            <a:pathLst>
              <a:path h="4114800" w="6166594">
                <a:moveTo>
                  <a:pt x="6166594" y="0"/>
                </a:moveTo>
                <a:lnTo>
                  <a:pt x="0" y="0"/>
                </a:lnTo>
                <a:lnTo>
                  <a:pt x="0" y="4114800"/>
                </a:lnTo>
                <a:lnTo>
                  <a:pt x="6166594" y="4114800"/>
                </a:lnTo>
                <a:lnTo>
                  <a:pt x="61665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892650" y="400685"/>
            <a:ext cx="16230600" cy="615950"/>
          </a:xfrm>
          <a:prstGeom prst="rect">
            <a:avLst/>
          </a:prstGeom>
        </p:spPr>
        <p:txBody>
          <a:bodyPr anchor="t" rtlCol="false" tIns="0" lIns="0" bIns="0" rIns="0">
            <a:spAutoFit/>
          </a:bodyPr>
          <a:lstStyle/>
          <a:p>
            <a:pPr algn="l" marL="0" indent="0" lvl="0">
              <a:lnSpc>
                <a:spcPts val="3999"/>
              </a:lnSpc>
            </a:pPr>
            <a:r>
              <a:rPr lang="en-US" sz="3999" spc="279">
                <a:solidFill>
                  <a:srgbClr val="1C1679"/>
                </a:solidFill>
                <a:latin typeface="Funtastic"/>
                <a:ea typeface="Funtastic"/>
                <a:cs typeface="Funtastic"/>
                <a:sym typeface="Funtastic"/>
              </a:rPr>
              <a:t>CHALLENGES OF UNDERSTANDING HUMOR ACROSS CULTURES</a:t>
            </a:r>
          </a:p>
        </p:txBody>
      </p:sp>
      <p:sp>
        <p:nvSpPr>
          <p:cNvPr name="TextBox 4" id="4"/>
          <p:cNvSpPr txBox="true"/>
          <p:nvPr/>
        </p:nvSpPr>
        <p:spPr>
          <a:xfrm rot="0">
            <a:off x="164750" y="2067442"/>
            <a:ext cx="17958500" cy="8106288"/>
          </a:xfrm>
          <a:prstGeom prst="rect">
            <a:avLst/>
          </a:prstGeom>
        </p:spPr>
        <p:txBody>
          <a:bodyPr anchor="t" rtlCol="false" tIns="0" lIns="0" bIns="0" rIns="0">
            <a:spAutoFit/>
          </a:bodyPr>
          <a:lstStyle/>
          <a:p>
            <a:pPr algn="l" marL="743956" indent="-371978" lvl="1">
              <a:lnSpc>
                <a:spcPts val="3755"/>
              </a:lnSpc>
              <a:buFont typeface="Arial"/>
              <a:buChar char="•"/>
            </a:pPr>
            <a:r>
              <a:rPr lang="en-US" b="true" sz="3445" u="sng">
                <a:solidFill>
                  <a:srgbClr val="287A74"/>
                </a:solidFill>
                <a:latin typeface="Crusoe Text Bold"/>
                <a:ea typeface="Crusoe Text Bold"/>
                <a:cs typeface="Crusoe Text Bold"/>
                <a:sym typeface="Crusoe Text Bold"/>
              </a:rPr>
              <a:t>Language Barriers:</a:t>
            </a:r>
          </a:p>
          <a:p>
            <a:pPr algn="l">
              <a:lnSpc>
                <a:spcPts val="3755"/>
              </a:lnSpc>
            </a:pPr>
          </a:p>
          <a:p>
            <a:pPr algn="l" marL="1487913" indent="-495971" lvl="2">
              <a:lnSpc>
                <a:spcPts val="3755"/>
              </a:lnSpc>
              <a:buFont typeface="Arial"/>
              <a:buChar char="⚬"/>
            </a:pPr>
            <a:r>
              <a:rPr lang="en-US" b="true" sz="3445">
                <a:solidFill>
                  <a:srgbClr val="1C1679"/>
                </a:solidFill>
                <a:latin typeface="Crusoe Text Bold"/>
                <a:ea typeface="Crusoe Text Bold"/>
                <a:cs typeface="Crusoe Text Bold"/>
                <a:sym typeface="Crusoe Text Bold"/>
              </a:rPr>
              <a:t>Wordplay and puns often lose meaning in translation, as they rely on linguistic nuances unique to a language.</a:t>
            </a:r>
          </a:p>
          <a:p>
            <a:pPr algn="l">
              <a:lnSpc>
                <a:spcPts val="3755"/>
              </a:lnSpc>
            </a:pPr>
          </a:p>
          <a:p>
            <a:pPr algn="l" marL="1487913" indent="-495971" lvl="2">
              <a:lnSpc>
                <a:spcPts val="3755"/>
              </a:lnSpc>
              <a:buFont typeface="Arial"/>
              <a:buChar char="⚬"/>
            </a:pPr>
            <a:r>
              <a:rPr lang="en-US" b="true" sz="3445" u="sng">
                <a:solidFill>
                  <a:srgbClr val="DA8A58"/>
                </a:solidFill>
                <a:latin typeface="Crusoe Text Bold"/>
                <a:ea typeface="Crusoe Text Bold"/>
                <a:cs typeface="Crusoe Text Bold"/>
                <a:sym typeface="Crusoe Text Bold"/>
              </a:rPr>
              <a:t>Example:</a:t>
            </a:r>
            <a:r>
              <a:rPr lang="en-US" b="true" sz="3445">
                <a:solidFill>
                  <a:srgbClr val="1C1679"/>
                </a:solidFill>
                <a:latin typeface="Crusoe Text Bold"/>
                <a:ea typeface="Crusoe Text Bold"/>
                <a:cs typeface="Crusoe Text Bold"/>
                <a:sym typeface="Crusoe Text Bold"/>
              </a:rPr>
              <a:t> The English pun "Time flies like an arrow; fruit fl</a:t>
            </a:r>
            <a:r>
              <a:rPr lang="en-US" b="true" sz="3445">
                <a:solidFill>
                  <a:srgbClr val="1C1679"/>
                </a:solidFill>
                <a:latin typeface="Crusoe Text Bold"/>
                <a:ea typeface="Crusoe Text Bold"/>
                <a:cs typeface="Crusoe Text Bold"/>
                <a:sym typeface="Crusoe Text Bold"/>
              </a:rPr>
              <a:t>ies like</a:t>
            </a:r>
            <a:r>
              <a:rPr lang="en-US" b="true" sz="3445">
                <a:solidFill>
                  <a:srgbClr val="1C1679"/>
                </a:solidFill>
                <a:latin typeface="Crusoe Text Bold"/>
                <a:ea typeface="Crusoe Text Bold"/>
                <a:cs typeface="Crusoe Text Bold"/>
                <a:sym typeface="Crusoe Text Bold"/>
              </a:rPr>
              <a:t> a banana" loses its humor when translated into languages without equivalent wordplay. </a:t>
            </a:r>
          </a:p>
          <a:p>
            <a:pPr algn="l">
              <a:lnSpc>
                <a:spcPts val="3755"/>
              </a:lnSpc>
            </a:pPr>
          </a:p>
          <a:p>
            <a:pPr algn="l" marL="743956" indent="-371978" lvl="1">
              <a:lnSpc>
                <a:spcPts val="3755"/>
              </a:lnSpc>
              <a:buFont typeface="Arial"/>
              <a:buChar char="•"/>
            </a:pPr>
            <a:r>
              <a:rPr lang="en-US" b="true" sz="3445" u="sng">
                <a:solidFill>
                  <a:srgbClr val="287A74"/>
                </a:solidFill>
                <a:latin typeface="Crusoe Text Bold"/>
                <a:ea typeface="Crusoe Text Bold"/>
                <a:cs typeface="Crusoe Text Bold"/>
                <a:sym typeface="Crusoe Text Bold"/>
              </a:rPr>
              <a:t>Cultural Gaps:</a:t>
            </a:r>
          </a:p>
          <a:p>
            <a:pPr algn="l">
              <a:lnSpc>
                <a:spcPts val="3755"/>
              </a:lnSpc>
            </a:pPr>
          </a:p>
          <a:p>
            <a:pPr algn="l" marL="1487913" indent="-495971" lvl="2">
              <a:lnSpc>
                <a:spcPts val="3755"/>
              </a:lnSpc>
              <a:buFont typeface="Arial"/>
              <a:buChar char="⚬"/>
            </a:pPr>
            <a:r>
              <a:rPr lang="en-US" b="true" sz="3445">
                <a:solidFill>
                  <a:srgbClr val="1C1679"/>
                </a:solidFill>
                <a:latin typeface="Crusoe Text Bold"/>
                <a:ea typeface="Crusoe Text Bold"/>
                <a:cs typeface="Crusoe Text Bold"/>
                <a:sym typeface="Crusoe Text Bold"/>
              </a:rPr>
              <a:t>Humor depends on shared cultural knowledge, such as historical events, societal norms, or pop culture references.</a:t>
            </a:r>
          </a:p>
          <a:p>
            <a:pPr algn="l">
              <a:lnSpc>
                <a:spcPts val="3755"/>
              </a:lnSpc>
            </a:pPr>
          </a:p>
          <a:p>
            <a:pPr algn="l" marL="1487913" indent="-495971" lvl="2">
              <a:lnSpc>
                <a:spcPts val="3755"/>
              </a:lnSpc>
              <a:buFont typeface="Arial"/>
              <a:buChar char="⚬"/>
            </a:pPr>
            <a:r>
              <a:rPr lang="en-US" b="true" sz="3445" u="sng">
                <a:solidFill>
                  <a:srgbClr val="DA8A58"/>
                </a:solidFill>
                <a:latin typeface="Crusoe Text Bold"/>
                <a:ea typeface="Crusoe Text Bold"/>
                <a:cs typeface="Crusoe Text Bold"/>
                <a:sym typeface="Crusoe Text Bold"/>
              </a:rPr>
              <a:t>Examp</a:t>
            </a:r>
            <a:r>
              <a:rPr lang="en-US" b="true" sz="3445" u="sng">
                <a:solidFill>
                  <a:srgbClr val="DA8A58"/>
                </a:solidFill>
                <a:latin typeface="Crusoe Text Bold"/>
                <a:ea typeface="Crusoe Text Bold"/>
                <a:cs typeface="Crusoe Text Bold"/>
                <a:sym typeface="Crusoe Text Bold"/>
              </a:rPr>
              <a:t>le:</a:t>
            </a:r>
            <a:r>
              <a:rPr lang="en-US" b="true" sz="3445">
                <a:solidFill>
                  <a:srgbClr val="1C1679"/>
                </a:solidFill>
                <a:latin typeface="Crusoe Text Bold"/>
                <a:ea typeface="Crusoe Text Bold"/>
                <a:cs typeface="Crusoe Text Bold"/>
                <a:sym typeface="Crusoe Text Bold"/>
              </a:rPr>
              <a:t> A joke referencing the Supe</a:t>
            </a:r>
            <a:r>
              <a:rPr lang="en-US" b="true" sz="3445">
                <a:solidFill>
                  <a:srgbClr val="1C1679"/>
                </a:solidFill>
                <a:latin typeface="Crusoe Text Bold"/>
                <a:ea typeface="Crusoe Text Bold"/>
                <a:cs typeface="Crusoe Text Bold"/>
                <a:sym typeface="Crusoe Text Bold"/>
              </a:rPr>
              <a:t>r Bowl resonates with American audiences but may confuse those unfamiliar with American football. </a:t>
            </a:r>
          </a:p>
          <a:p>
            <a:pPr algn="l">
              <a:lnSpc>
                <a:spcPts val="3755"/>
              </a:lnSpc>
            </a:pPr>
          </a:p>
        </p:txBody>
      </p:sp>
      <p:sp>
        <p:nvSpPr>
          <p:cNvPr name="TextBox 5" id="5"/>
          <p:cNvSpPr txBox="true"/>
          <p:nvPr/>
        </p:nvSpPr>
        <p:spPr>
          <a:xfrm rot="0">
            <a:off x="164750" y="1297703"/>
            <a:ext cx="14904233" cy="582295"/>
          </a:xfrm>
          <a:prstGeom prst="rect">
            <a:avLst/>
          </a:prstGeom>
        </p:spPr>
        <p:txBody>
          <a:bodyPr anchor="t" rtlCol="false" tIns="0" lIns="0" bIns="0" rIns="0">
            <a:spAutoFit/>
          </a:bodyPr>
          <a:lstStyle/>
          <a:p>
            <a:pPr algn="ctr" marL="0" indent="0" lvl="0">
              <a:lnSpc>
                <a:spcPts val="3800"/>
              </a:lnSpc>
            </a:pPr>
            <a:r>
              <a:rPr lang="en-US" sz="3800" spc="539">
                <a:solidFill>
                  <a:srgbClr val="1C1679"/>
                </a:solidFill>
                <a:latin typeface="Funtastic"/>
                <a:ea typeface="Funtastic"/>
                <a:cs typeface="Funtastic"/>
                <a:sym typeface="Funtastic"/>
              </a:rPr>
              <a:t>WHY HUMOR AND IRONY CAN BE MISUNDERSTOOD</a:t>
            </a:r>
          </a:p>
        </p:txBody>
      </p:sp>
      <p:sp>
        <p:nvSpPr>
          <p:cNvPr name="Freeform 6" id="6"/>
          <p:cNvSpPr/>
          <p:nvPr/>
        </p:nvSpPr>
        <p:spPr>
          <a:xfrm flipH="false" flipV="true" rot="0">
            <a:off x="16610756" y="7200900"/>
            <a:ext cx="6166594" cy="4114800"/>
          </a:xfrm>
          <a:custGeom>
            <a:avLst/>
            <a:gdLst/>
            <a:ahLst/>
            <a:cxnLst/>
            <a:rect r="r" b="b" t="t" l="l"/>
            <a:pathLst>
              <a:path h="4114800" w="6166594">
                <a:moveTo>
                  <a:pt x="0" y="4114800"/>
                </a:moveTo>
                <a:lnTo>
                  <a:pt x="6166594" y="4114800"/>
                </a:lnTo>
                <a:lnTo>
                  <a:pt x="616659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fast">
    <p:wipe dir="l"/>
  </p:transition>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Freeform 2" id="2"/>
          <p:cNvSpPr/>
          <p:nvPr/>
        </p:nvSpPr>
        <p:spPr>
          <a:xfrm flipH="true" flipV="false" rot="0">
            <a:off x="-462987" y="-1486890"/>
            <a:ext cx="6166594" cy="4114800"/>
          </a:xfrm>
          <a:custGeom>
            <a:avLst/>
            <a:gdLst/>
            <a:ahLst/>
            <a:cxnLst/>
            <a:rect r="r" b="b" t="t" l="l"/>
            <a:pathLst>
              <a:path h="4114800" w="6166594">
                <a:moveTo>
                  <a:pt x="6166594" y="0"/>
                </a:moveTo>
                <a:lnTo>
                  <a:pt x="0" y="0"/>
                </a:lnTo>
                <a:lnTo>
                  <a:pt x="0" y="4114800"/>
                </a:lnTo>
                <a:lnTo>
                  <a:pt x="6166594" y="4114800"/>
                </a:lnTo>
                <a:lnTo>
                  <a:pt x="61665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76124" y="1297897"/>
            <a:ext cx="18135751" cy="664209"/>
          </a:xfrm>
          <a:prstGeom prst="rect">
            <a:avLst/>
          </a:prstGeom>
        </p:spPr>
        <p:txBody>
          <a:bodyPr anchor="t" rtlCol="false" tIns="0" lIns="0" bIns="0" rIns="0">
            <a:spAutoFit/>
          </a:bodyPr>
          <a:lstStyle/>
          <a:p>
            <a:pPr algn="ctr" marL="0" indent="0" lvl="0">
              <a:lnSpc>
                <a:spcPts val="4399"/>
              </a:lnSpc>
            </a:pPr>
            <a:r>
              <a:rPr lang="en-US" sz="4399" spc="422">
                <a:solidFill>
                  <a:srgbClr val="1C1679"/>
                </a:solidFill>
                <a:latin typeface="Funtastic"/>
                <a:ea typeface="Funtastic"/>
                <a:cs typeface="Funtastic"/>
                <a:sym typeface="Funtastic"/>
              </a:rPr>
              <a:t>WHY HUMOR AND IRONY CAN BE MISUNDERSTOOD</a:t>
            </a:r>
          </a:p>
        </p:txBody>
      </p:sp>
      <p:sp>
        <p:nvSpPr>
          <p:cNvPr name="TextBox 4" id="4"/>
          <p:cNvSpPr txBox="true"/>
          <p:nvPr/>
        </p:nvSpPr>
        <p:spPr>
          <a:xfrm rot="0">
            <a:off x="627737" y="3920604"/>
            <a:ext cx="17032526" cy="4190481"/>
          </a:xfrm>
          <a:prstGeom prst="rect">
            <a:avLst/>
          </a:prstGeom>
        </p:spPr>
        <p:txBody>
          <a:bodyPr anchor="t" rtlCol="false" tIns="0" lIns="0" bIns="0" rIns="0">
            <a:spAutoFit/>
          </a:bodyPr>
          <a:lstStyle/>
          <a:p>
            <a:pPr algn="l" marL="765546" indent="-382773" lvl="1">
              <a:lnSpc>
                <a:spcPts val="4184"/>
              </a:lnSpc>
              <a:buFont typeface="Arial"/>
              <a:buChar char="•"/>
            </a:pPr>
            <a:r>
              <a:rPr lang="en-US" b="true" sz="3545" u="sng">
                <a:solidFill>
                  <a:srgbClr val="287A74"/>
                </a:solidFill>
                <a:latin typeface="Crusoe Text Bold"/>
                <a:ea typeface="Crusoe Text Bold"/>
                <a:cs typeface="Crusoe Text Bold"/>
                <a:sym typeface="Crusoe Text Bold"/>
              </a:rPr>
              <a:t>Social Norms and Taboos:</a:t>
            </a:r>
          </a:p>
          <a:p>
            <a:pPr algn="l">
              <a:lnSpc>
                <a:spcPts val="4184"/>
              </a:lnSpc>
            </a:pPr>
          </a:p>
          <a:p>
            <a:pPr algn="l" marL="1531092" indent="-510364" lvl="2">
              <a:lnSpc>
                <a:spcPts val="4184"/>
              </a:lnSpc>
              <a:buFont typeface="Arial"/>
              <a:buChar char="⚬"/>
            </a:pPr>
            <a:r>
              <a:rPr lang="en-US" b="true" sz="3545">
                <a:solidFill>
                  <a:srgbClr val="1C1679"/>
                </a:solidFill>
                <a:latin typeface="Crusoe Text Bold"/>
                <a:ea typeface="Crusoe Text Bold"/>
                <a:cs typeface="Crusoe Text Bold"/>
                <a:sym typeface="Crusoe Text Bold"/>
              </a:rPr>
              <a:t>Humor often challenges </a:t>
            </a:r>
            <a:r>
              <a:rPr lang="en-US" b="true" sz="3545">
                <a:solidFill>
                  <a:srgbClr val="1C1679"/>
                </a:solidFill>
                <a:latin typeface="Crusoe Text Bold"/>
                <a:ea typeface="Crusoe Text Bold"/>
                <a:cs typeface="Crusoe Text Bold"/>
                <a:sym typeface="Crusoe Text Bold"/>
              </a:rPr>
              <a:t>s</a:t>
            </a:r>
            <a:r>
              <a:rPr lang="en-US" b="true" sz="3545">
                <a:solidFill>
                  <a:srgbClr val="1C1679"/>
                </a:solidFill>
                <a:latin typeface="Crusoe Text Bold"/>
                <a:ea typeface="Crusoe Text Bold"/>
                <a:cs typeface="Crusoe Text Bold"/>
                <a:sym typeface="Crusoe Text Bold"/>
              </a:rPr>
              <a:t>ocietal norms or addresses taboos, which vary significantly across cultures. </a:t>
            </a:r>
          </a:p>
          <a:p>
            <a:pPr algn="l">
              <a:lnSpc>
                <a:spcPts val="4184"/>
              </a:lnSpc>
            </a:pPr>
          </a:p>
          <a:p>
            <a:pPr algn="l" marL="1531092" indent="-510364" lvl="2">
              <a:lnSpc>
                <a:spcPts val="4184"/>
              </a:lnSpc>
              <a:buFont typeface="Arial"/>
              <a:buChar char="⚬"/>
            </a:pPr>
            <a:r>
              <a:rPr lang="en-US" b="true" sz="3545" u="sng">
                <a:solidFill>
                  <a:srgbClr val="DA8A58"/>
                </a:solidFill>
                <a:latin typeface="Crusoe Text Bold"/>
                <a:ea typeface="Crusoe Text Bold"/>
                <a:cs typeface="Crusoe Text Bold"/>
                <a:sym typeface="Crusoe Text Bold"/>
              </a:rPr>
              <a:t>Examp</a:t>
            </a:r>
            <a:r>
              <a:rPr lang="en-US" b="true" sz="3545" u="sng">
                <a:solidFill>
                  <a:srgbClr val="DA8A58"/>
                </a:solidFill>
                <a:latin typeface="Crusoe Text Bold"/>
                <a:ea typeface="Crusoe Text Bold"/>
                <a:cs typeface="Crusoe Text Bold"/>
                <a:sym typeface="Crusoe Text Bold"/>
              </a:rPr>
              <a:t>le:</a:t>
            </a:r>
            <a:r>
              <a:rPr lang="en-US" b="true" sz="3545">
                <a:solidFill>
                  <a:srgbClr val="1C1679"/>
                </a:solidFill>
                <a:latin typeface="Crusoe Text Bold"/>
                <a:ea typeface="Crusoe Text Bold"/>
                <a:cs typeface="Crusoe Text Bold"/>
                <a:sym typeface="Crusoe Text Bold"/>
              </a:rPr>
              <a:t> Satirical jokes about p</a:t>
            </a:r>
            <a:r>
              <a:rPr lang="en-US" b="true" sz="3545">
                <a:solidFill>
                  <a:srgbClr val="1C1679"/>
                </a:solidFill>
                <a:latin typeface="Crusoe Text Bold"/>
                <a:ea typeface="Crusoe Text Bold"/>
                <a:cs typeface="Crusoe Text Bold"/>
                <a:sym typeface="Crusoe Text Bold"/>
              </a:rPr>
              <a:t>olitical leaders might be funny in one culture but offensive in another. </a:t>
            </a:r>
          </a:p>
          <a:p>
            <a:pPr algn="l">
              <a:lnSpc>
                <a:spcPts val="4184"/>
              </a:lnSpc>
            </a:pPr>
          </a:p>
        </p:txBody>
      </p:sp>
      <p:sp>
        <p:nvSpPr>
          <p:cNvPr name="Freeform 5" id="5"/>
          <p:cNvSpPr/>
          <p:nvPr/>
        </p:nvSpPr>
        <p:spPr>
          <a:xfrm flipH="false" flipV="true" rot="0">
            <a:off x="12264596" y="7582543"/>
            <a:ext cx="6166594" cy="4114800"/>
          </a:xfrm>
          <a:custGeom>
            <a:avLst/>
            <a:gdLst/>
            <a:ahLst/>
            <a:cxnLst/>
            <a:rect r="r" b="b" t="t" l="l"/>
            <a:pathLst>
              <a:path h="4114800" w="6166594">
                <a:moveTo>
                  <a:pt x="0" y="4114800"/>
                </a:moveTo>
                <a:lnTo>
                  <a:pt x="6166594" y="4114800"/>
                </a:lnTo>
                <a:lnTo>
                  <a:pt x="616659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true" flipV="false" rot="0">
            <a:off x="-235582" y="2481913"/>
            <a:ext cx="2855892" cy="851575"/>
          </a:xfrm>
          <a:custGeom>
            <a:avLst/>
            <a:gdLst/>
            <a:ahLst/>
            <a:cxnLst/>
            <a:rect r="r" b="b" t="t" l="l"/>
            <a:pathLst>
              <a:path h="851575" w="2855892">
                <a:moveTo>
                  <a:pt x="2855892" y="0"/>
                </a:moveTo>
                <a:lnTo>
                  <a:pt x="0" y="0"/>
                </a:lnTo>
                <a:lnTo>
                  <a:pt x="0" y="851575"/>
                </a:lnTo>
                <a:lnTo>
                  <a:pt x="2855892" y="851575"/>
                </a:lnTo>
                <a:lnTo>
                  <a:pt x="2855892"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transition spd="fast">
    <p:wipe dir="l"/>
  </p:transition>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Freeform 2" id="2"/>
          <p:cNvSpPr/>
          <p:nvPr/>
        </p:nvSpPr>
        <p:spPr>
          <a:xfrm flipH="true" flipV="false" rot="0">
            <a:off x="-4024454" y="-386892"/>
            <a:ext cx="6166594" cy="4114800"/>
          </a:xfrm>
          <a:custGeom>
            <a:avLst/>
            <a:gdLst/>
            <a:ahLst/>
            <a:cxnLst/>
            <a:rect r="r" b="b" t="t" l="l"/>
            <a:pathLst>
              <a:path h="4114800" w="6166594">
                <a:moveTo>
                  <a:pt x="6166594" y="0"/>
                </a:moveTo>
                <a:lnTo>
                  <a:pt x="0" y="0"/>
                </a:lnTo>
                <a:lnTo>
                  <a:pt x="0" y="4114800"/>
                </a:lnTo>
                <a:lnTo>
                  <a:pt x="6166594" y="4114800"/>
                </a:lnTo>
                <a:lnTo>
                  <a:pt x="61665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915366" y="195233"/>
            <a:ext cx="16145860" cy="584835"/>
          </a:xfrm>
          <a:prstGeom prst="rect">
            <a:avLst/>
          </a:prstGeom>
        </p:spPr>
        <p:txBody>
          <a:bodyPr anchor="t" rtlCol="false" tIns="0" lIns="0" bIns="0" rIns="0">
            <a:spAutoFit/>
          </a:bodyPr>
          <a:lstStyle/>
          <a:p>
            <a:pPr algn="l" marL="0" indent="0" lvl="0">
              <a:lnSpc>
                <a:spcPts val="3899"/>
              </a:lnSpc>
            </a:pPr>
            <a:r>
              <a:rPr lang="en-US" sz="3899" spc="374">
                <a:solidFill>
                  <a:srgbClr val="1C1679"/>
                </a:solidFill>
                <a:latin typeface="Funtastic"/>
                <a:ea typeface="Funtastic"/>
                <a:cs typeface="Funtastic"/>
                <a:sym typeface="Funtastic"/>
              </a:rPr>
              <a:t>CHALLENGES OF UNDERSTANDING HUMOR ACROSS CULTURES</a:t>
            </a:r>
          </a:p>
        </p:txBody>
      </p:sp>
      <p:sp>
        <p:nvSpPr>
          <p:cNvPr name="TextBox 4" id="4"/>
          <p:cNvSpPr txBox="true"/>
          <p:nvPr/>
        </p:nvSpPr>
        <p:spPr>
          <a:xfrm rot="0">
            <a:off x="0" y="2253192"/>
            <a:ext cx="18061226" cy="7797694"/>
          </a:xfrm>
          <a:prstGeom prst="rect">
            <a:avLst/>
          </a:prstGeom>
        </p:spPr>
        <p:txBody>
          <a:bodyPr anchor="t" rtlCol="false" tIns="0" lIns="0" bIns="0" rIns="0">
            <a:spAutoFit/>
          </a:bodyPr>
          <a:lstStyle/>
          <a:p>
            <a:pPr algn="l" marL="700777" indent="-350389" lvl="1">
              <a:lnSpc>
                <a:spcPts val="3245"/>
              </a:lnSpc>
              <a:buFont typeface="Arial"/>
              <a:buChar char="•"/>
            </a:pPr>
            <a:r>
              <a:rPr lang="en-US" b="true" sz="3245" u="sng">
                <a:solidFill>
                  <a:srgbClr val="287A74"/>
                </a:solidFill>
                <a:latin typeface="Crusoe Text Bold"/>
                <a:ea typeface="Crusoe Text Bold"/>
                <a:cs typeface="Crusoe Text Bold"/>
                <a:sym typeface="Crusoe Text Bold"/>
              </a:rPr>
              <a:t> Business Contexts: </a:t>
            </a:r>
          </a:p>
          <a:p>
            <a:pPr algn="l">
              <a:lnSpc>
                <a:spcPts val="3245"/>
              </a:lnSpc>
            </a:pPr>
          </a:p>
          <a:p>
            <a:pPr algn="l" marL="1401555" indent="-467185" lvl="2">
              <a:lnSpc>
                <a:spcPts val="3245"/>
              </a:lnSpc>
              <a:buFont typeface="Arial"/>
              <a:buChar char="⚬"/>
            </a:pPr>
            <a:r>
              <a:rPr lang="en-US" b="true" sz="3245">
                <a:solidFill>
                  <a:srgbClr val="1C1679"/>
                </a:solidFill>
                <a:latin typeface="Crusoe Text Bold"/>
                <a:ea typeface="Crusoe Text Bold"/>
                <a:cs typeface="Crusoe Text Bold"/>
                <a:sym typeface="Crusoe Text Bold"/>
              </a:rPr>
              <a:t>M</a:t>
            </a:r>
            <a:r>
              <a:rPr lang="en-US" b="true" sz="3245">
                <a:solidFill>
                  <a:srgbClr val="1C1679"/>
                </a:solidFill>
                <a:latin typeface="Crusoe Text Bold"/>
                <a:ea typeface="Crusoe Text Bold"/>
                <a:cs typeface="Crusoe Text Bold"/>
                <a:sym typeface="Crusoe Text Bold"/>
              </a:rPr>
              <a:t>isinterpreted jokes can harm professional relationships or create awkward situations. </a:t>
            </a:r>
          </a:p>
          <a:p>
            <a:pPr algn="l">
              <a:lnSpc>
                <a:spcPts val="3245"/>
              </a:lnSpc>
            </a:pPr>
          </a:p>
          <a:p>
            <a:pPr algn="l" marL="1401555" indent="-467185" lvl="2">
              <a:lnSpc>
                <a:spcPts val="3245"/>
              </a:lnSpc>
              <a:buFont typeface="Arial"/>
              <a:buChar char="⚬"/>
            </a:pPr>
            <a:r>
              <a:rPr lang="en-US" b="true" sz="3245" u="sng">
                <a:solidFill>
                  <a:srgbClr val="DA8A58"/>
                </a:solidFill>
                <a:latin typeface="Crusoe Text Bold"/>
                <a:ea typeface="Crusoe Text Bold"/>
                <a:cs typeface="Crusoe Text Bold"/>
                <a:sym typeface="Crusoe Text Bold"/>
              </a:rPr>
              <a:t>Example:</a:t>
            </a:r>
            <a:r>
              <a:rPr lang="en-US" b="true" sz="3245">
                <a:solidFill>
                  <a:srgbClr val="1C1679"/>
                </a:solidFill>
                <a:latin typeface="Crusoe Text Bold"/>
                <a:ea typeface="Crusoe Text Bold"/>
                <a:cs typeface="Crusoe Text Bold"/>
                <a:sym typeface="Crusoe Text Bold"/>
              </a:rPr>
              <a:t> A joke about local politics might alienate international colleagues. </a:t>
            </a:r>
          </a:p>
          <a:p>
            <a:pPr algn="l">
              <a:lnSpc>
                <a:spcPts val="3245"/>
              </a:lnSpc>
            </a:pPr>
          </a:p>
          <a:p>
            <a:pPr algn="l" marL="700777" indent="-350389" lvl="1">
              <a:lnSpc>
                <a:spcPts val="3245"/>
              </a:lnSpc>
              <a:buFont typeface="Arial"/>
              <a:buChar char="•"/>
            </a:pPr>
            <a:r>
              <a:rPr lang="en-US" b="true" sz="3245" u="sng">
                <a:solidFill>
                  <a:srgbClr val="287A74"/>
                </a:solidFill>
                <a:latin typeface="Crusoe Text Bold"/>
                <a:ea typeface="Crusoe Text Bold"/>
                <a:cs typeface="Crusoe Text Bold"/>
                <a:sym typeface="Crusoe Text Bold"/>
              </a:rPr>
              <a:t>Educational Contexts:</a:t>
            </a:r>
          </a:p>
          <a:p>
            <a:pPr algn="l">
              <a:lnSpc>
                <a:spcPts val="3245"/>
              </a:lnSpc>
            </a:pPr>
          </a:p>
          <a:p>
            <a:pPr algn="l" marL="1401555" indent="-467185" lvl="2">
              <a:lnSpc>
                <a:spcPts val="3245"/>
              </a:lnSpc>
              <a:buFont typeface="Arial"/>
              <a:buChar char="⚬"/>
            </a:pPr>
            <a:r>
              <a:rPr lang="en-US" b="true" sz="3245">
                <a:solidFill>
                  <a:srgbClr val="1C1679"/>
                </a:solidFill>
                <a:latin typeface="Crusoe Text Bold"/>
                <a:ea typeface="Crusoe Text Bold"/>
                <a:cs typeface="Crusoe Text Bold"/>
                <a:sym typeface="Crusoe Text Bold"/>
              </a:rPr>
              <a:t>Humor that references local traditions or cultural stereotypes may alienate students from diverse backgrounds.</a:t>
            </a:r>
          </a:p>
          <a:p>
            <a:pPr algn="l">
              <a:lnSpc>
                <a:spcPts val="3245"/>
              </a:lnSpc>
            </a:pPr>
          </a:p>
          <a:p>
            <a:pPr algn="l" marL="1401555" indent="-467185" lvl="2">
              <a:lnSpc>
                <a:spcPts val="3245"/>
              </a:lnSpc>
              <a:buFont typeface="Arial"/>
              <a:buChar char="⚬"/>
            </a:pPr>
            <a:r>
              <a:rPr lang="en-US" b="true" sz="3245" u="sng">
                <a:solidFill>
                  <a:srgbClr val="DA8A58"/>
                </a:solidFill>
                <a:latin typeface="Crusoe Text Bold"/>
                <a:ea typeface="Crusoe Text Bold"/>
                <a:cs typeface="Crusoe Text Bold"/>
                <a:sym typeface="Crusoe Text Bold"/>
              </a:rPr>
              <a:t>Example:</a:t>
            </a:r>
            <a:r>
              <a:rPr lang="en-US" b="true" sz="3245">
                <a:solidFill>
                  <a:srgbClr val="1C1679"/>
                </a:solidFill>
                <a:latin typeface="Crusoe Text Bold"/>
                <a:ea typeface="Crusoe Text Bold"/>
                <a:cs typeface="Crusoe Text Bold"/>
                <a:sym typeface="Crusoe Text Bold"/>
              </a:rPr>
              <a:t> A professor using humor tied to cricket might engage Indian students but leave others puzzled. </a:t>
            </a:r>
          </a:p>
          <a:p>
            <a:pPr algn="l">
              <a:lnSpc>
                <a:spcPts val="3245"/>
              </a:lnSpc>
            </a:pPr>
          </a:p>
          <a:p>
            <a:pPr algn="l" marL="700777" indent="-350389" lvl="1">
              <a:lnSpc>
                <a:spcPts val="3245"/>
              </a:lnSpc>
              <a:buFont typeface="Arial"/>
              <a:buChar char="•"/>
            </a:pPr>
            <a:r>
              <a:rPr lang="en-US" b="true" sz="3245" u="sng">
                <a:solidFill>
                  <a:srgbClr val="287A74"/>
                </a:solidFill>
                <a:latin typeface="Crusoe Text Bold"/>
                <a:ea typeface="Crusoe Text Bold"/>
                <a:cs typeface="Crusoe Text Bold"/>
                <a:sym typeface="Crusoe Text Bold"/>
              </a:rPr>
              <a:t>Cross-Cultural Communication:</a:t>
            </a:r>
          </a:p>
          <a:p>
            <a:pPr algn="l">
              <a:lnSpc>
                <a:spcPts val="3245"/>
              </a:lnSpc>
            </a:pPr>
          </a:p>
          <a:p>
            <a:pPr algn="l" marL="1401555" indent="-467185" lvl="2">
              <a:lnSpc>
                <a:spcPts val="3245"/>
              </a:lnSpc>
              <a:buFont typeface="Arial"/>
              <a:buChar char="⚬"/>
            </a:pPr>
            <a:r>
              <a:rPr lang="en-US" b="true" sz="3245">
                <a:solidFill>
                  <a:srgbClr val="1C1679"/>
                </a:solidFill>
                <a:latin typeface="Crusoe Text Bold"/>
                <a:ea typeface="Crusoe Text Bold"/>
                <a:cs typeface="Crusoe Text Bold"/>
                <a:sym typeface="Crusoe Text Bold"/>
              </a:rPr>
              <a:t>Humor can unintentiona</a:t>
            </a:r>
            <a:r>
              <a:rPr lang="en-US" b="true" sz="3245">
                <a:solidFill>
                  <a:srgbClr val="1C1679"/>
                </a:solidFill>
                <a:latin typeface="Crusoe Text Bold"/>
                <a:ea typeface="Crusoe Text Bold"/>
                <a:cs typeface="Crusoe Text Bold"/>
                <a:sym typeface="Crusoe Text Bold"/>
              </a:rPr>
              <a:t>lly reinforce stereo</a:t>
            </a:r>
            <a:r>
              <a:rPr lang="en-US" b="true" sz="3245">
                <a:solidFill>
                  <a:srgbClr val="1C1679"/>
                </a:solidFill>
                <a:latin typeface="Crusoe Text Bold"/>
                <a:ea typeface="Crusoe Text Bold"/>
                <a:cs typeface="Crusoe Text Bold"/>
                <a:sym typeface="Crusoe Text Bold"/>
              </a:rPr>
              <a:t>types or misunderstandings, leading to discomfort or offense. </a:t>
            </a:r>
          </a:p>
        </p:txBody>
      </p:sp>
      <p:sp>
        <p:nvSpPr>
          <p:cNvPr name="TextBox 5" id="5"/>
          <p:cNvSpPr txBox="true"/>
          <p:nvPr/>
        </p:nvSpPr>
        <p:spPr>
          <a:xfrm rot="0">
            <a:off x="1028700" y="1374597"/>
            <a:ext cx="15248292" cy="582295"/>
          </a:xfrm>
          <a:prstGeom prst="rect">
            <a:avLst/>
          </a:prstGeom>
        </p:spPr>
        <p:txBody>
          <a:bodyPr anchor="t" rtlCol="false" tIns="0" lIns="0" bIns="0" rIns="0">
            <a:spAutoFit/>
          </a:bodyPr>
          <a:lstStyle/>
          <a:p>
            <a:pPr algn="ctr" marL="0" indent="0" lvl="0">
              <a:lnSpc>
                <a:spcPts val="3800"/>
              </a:lnSpc>
            </a:pPr>
            <a:r>
              <a:rPr lang="en-US" sz="3800" spc="516">
                <a:solidFill>
                  <a:srgbClr val="1C1679"/>
                </a:solidFill>
                <a:latin typeface="Funtastic"/>
                <a:ea typeface="Funtastic"/>
                <a:cs typeface="Funtastic"/>
                <a:sym typeface="Funtastic"/>
              </a:rPr>
              <a:t>RISKS OF USING HUMOR IN INTERNATIONAL CONTEXTS</a:t>
            </a:r>
          </a:p>
        </p:txBody>
      </p:sp>
    </p:spTree>
  </p:cSld>
  <p:clrMapOvr>
    <a:masterClrMapping/>
  </p:clrMapOvr>
  <p:transition spd="fast">
    <p:wipe dir="l"/>
  </p:transition>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Freeform 2" id="2"/>
          <p:cNvSpPr/>
          <p:nvPr/>
        </p:nvSpPr>
        <p:spPr>
          <a:xfrm flipH="true" flipV="false" rot="0">
            <a:off x="-3783483" y="-759503"/>
            <a:ext cx="6166594" cy="4114800"/>
          </a:xfrm>
          <a:custGeom>
            <a:avLst/>
            <a:gdLst/>
            <a:ahLst/>
            <a:cxnLst/>
            <a:rect r="r" b="b" t="t" l="l"/>
            <a:pathLst>
              <a:path h="4114800" w="6166594">
                <a:moveTo>
                  <a:pt x="6166594" y="0"/>
                </a:moveTo>
                <a:lnTo>
                  <a:pt x="0" y="0"/>
                </a:lnTo>
                <a:lnTo>
                  <a:pt x="0" y="4114800"/>
                </a:lnTo>
                <a:lnTo>
                  <a:pt x="6166594" y="4114800"/>
                </a:lnTo>
                <a:lnTo>
                  <a:pt x="61665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627737" y="726758"/>
            <a:ext cx="18135751" cy="615950"/>
          </a:xfrm>
          <a:prstGeom prst="rect">
            <a:avLst/>
          </a:prstGeom>
        </p:spPr>
        <p:txBody>
          <a:bodyPr anchor="t" rtlCol="false" tIns="0" lIns="0" bIns="0" rIns="0">
            <a:spAutoFit/>
          </a:bodyPr>
          <a:lstStyle/>
          <a:p>
            <a:pPr algn="ctr" marL="0" indent="0" lvl="0">
              <a:lnSpc>
                <a:spcPts val="3999"/>
              </a:lnSpc>
            </a:pPr>
            <a:r>
              <a:rPr lang="en-US" sz="3999" spc="411">
                <a:solidFill>
                  <a:srgbClr val="1C1679"/>
                </a:solidFill>
                <a:latin typeface="Funtastic"/>
                <a:ea typeface="Funtastic"/>
                <a:cs typeface="Funtastic"/>
                <a:sym typeface="Funtastic"/>
              </a:rPr>
              <a:t>CHALLENGES OF UNDERSTANDING HUMOR ACROSS CULTURES</a:t>
            </a:r>
          </a:p>
        </p:txBody>
      </p:sp>
      <p:sp>
        <p:nvSpPr>
          <p:cNvPr name="TextBox 4" id="4"/>
          <p:cNvSpPr txBox="true"/>
          <p:nvPr/>
        </p:nvSpPr>
        <p:spPr>
          <a:xfrm rot="0">
            <a:off x="219315" y="2855225"/>
            <a:ext cx="18211876" cy="7010728"/>
          </a:xfrm>
          <a:prstGeom prst="rect">
            <a:avLst/>
          </a:prstGeom>
        </p:spPr>
        <p:txBody>
          <a:bodyPr anchor="t" rtlCol="false" tIns="0" lIns="0" bIns="0" rIns="0">
            <a:spAutoFit/>
          </a:bodyPr>
          <a:lstStyle/>
          <a:p>
            <a:pPr algn="l" marL="765546" indent="-382773" lvl="1">
              <a:lnSpc>
                <a:spcPts val="5602"/>
              </a:lnSpc>
              <a:buFont typeface="Arial"/>
              <a:buChar char="•"/>
            </a:pPr>
            <a:r>
              <a:rPr lang="en-US" b="true" sz="3545" u="sng">
                <a:solidFill>
                  <a:srgbClr val="287A74"/>
                </a:solidFill>
                <a:latin typeface="Crusoe Text Bold"/>
                <a:ea typeface="Crusoe Text Bold"/>
                <a:cs typeface="Crusoe Text Bold"/>
                <a:sym typeface="Crusoe Text Bold"/>
              </a:rPr>
              <a:t>Failed Puns:</a:t>
            </a:r>
          </a:p>
          <a:p>
            <a:pPr algn="l" marL="1531092" indent="-510364" lvl="2">
              <a:lnSpc>
                <a:spcPts val="5602"/>
              </a:lnSpc>
              <a:buFont typeface="Arial"/>
              <a:buChar char="⚬"/>
            </a:pPr>
            <a:r>
              <a:rPr lang="en-US" b="true" sz="3545">
                <a:solidFill>
                  <a:srgbClr val="1C1679"/>
                </a:solidFill>
                <a:latin typeface="Crusoe Text Bold"/>
                <a:ea typeface="Crusoe Text Bold"/>
                <a:cs typeface="Crusoe Text Bold"/>
                <a:sym typeface="Crusoe Text Bold"/>
              </a:rPr>
              <a:t>Linguistic nuances often lead to failed jokes when translated.</a:t>
            </a:r>
          </a:p>
          <a:p>
            <a:pPr algn="l">
              <a:lnSpc>
                <a:spcPts val="5602"/>
              </a:lnSpc>
            </a:pPr>
            <a:r>
              <a:rPr lang="en-US" sz="3545" b="true">
                <a:solidFill>
                  <a:srgbClr val="1C1679"/>
                </a:solidFill>
                <a:latin typeface="Crusoe Text Bold"/>
                <a:ea typeface="Crusoe Text Bold"/>
                <a:cs typeface="Crusoe Text Bold"/>
                <a:sym typeface="Crusoe Text Bold"/>
              </a:rPr>
              <a:t> </a:t>
            </a:r>
          </a:p>
          <a:p>
            <a:pPr algn="l" marL="765546" indent="-382773" lvl="1">
              <a:lnSpc>
                <a:spcPts val="5602"/>
              </a:lnSpc>
              <a:buFont typeface="Arial"/>
              <a:buChar char="•"/>
            </a:pPr>
            <a:r>
              <a:rPr lang="en-US" b="true" sz="3545" u="sng">
                <a:solidFill>
                  <a:srgbClr val="287A74"/>
                </a:solidFill>
                <a:latin typeface="Crusoe Text Bold"/>
                <a:ea typeface="Crusoe Text Bold"/>
                <a:cs typeface="Crusoe Text Bold"/>
                <a:sym typeface="Crusoe Text Bold"/>
              </a:rPr>
              <a:t>Cultura</a:t>
            </a:r>
            <a:r>
              <a:rPr lang="en-US" b="true" sz="3545" u="sng">
                <a:solidFill>
                  <a:srgbClr val="287A74"/>
                </a:solidFill>
                <a:latin typeface="Crusoe Text Bold"/>
                <a:ea typeface="Crusoe Text Bold"/>
                <a:cs typeface="Crusoe Text Bold"/>
                <a:sym typeface="Crusoe Text Bold"/>
              </a:rPr>
              <a:t>l References:</a:t>
            </a:r>
          </a:p>
          <a:p>
            <a:pPr algn="l" marL="1531092" indent="-510364" lvl="2">
              <a:lnSpc>
                <a:spcPts val="5602"/>
              </a:lnSpc>
              <a:buFont typeface="Arial"/>
              <a:buChar char="⚬"/>
            </a:pPr>
            <a:r>
              <a:rPr lang="en-US" b="true" sz="3545">
                <a:solidFill>
                  <a:srgbClr val="1C1679"/>
                </a:solidFill>
                <a:latin typeface="Crusoe Text Bold"/>
                <a:ea typeface="Crusoe Text Bold"/>
                <a:cs typeface="Crusoe Text Bold"/>
                <a:sym typeface="Crusoe Text Bold"/>
              </a:rPr>
              <a:t>Jokes about sp</a:t>
            </a:r>
            <a:r>
              <a:rPr lang="en-US" b="true" sz="3545">
                <a:solidFill>
                  <a:srgbClr val="1C1679"/>
                </a:solidFill>
                <a:latin typeface="Crusoe Text Bold"/>
                <a:ea typeface="Crusoe Text Bold"/>
                <a:cs typeface="Crusoe Text Bold"/>
                <a:sym typeface="Crusoe Text Bold"/>
              </a:rPr>
              <a:t>orts, traditions, or historical events unfamiliar to the audience can fall flat. </a:t>
            </a:r>
          </a:p>
          <a:p>
            <a:pPr algn="l">
              <a:lnSpc>
                <a:spcPts val="5602"/>
              </a:lnSpc>
            </a:pPr>
          </a:p>
          <a:p>
            <a:pPr algn="l" marL="765546" indent="-382773" lvl="1">
              <a:lnSpc>
                <a:spcPts val="5602"/>
              </a:lnSpc>
              <a:buFont typeface="Arial"/>
              <a:buChar char="•"/>
            </a:pPr>
            <a:r>
              <a:rPr lang="en-US" b="true" sz="3545" u="sng">
                <a:solidFill>
                  <a:srgbClr val="287A74"/>
                </a:solidFill>
                <a:latin typeface="Crusoe Text Bold"/>
                <a:ea typeface="Crusoe Text Bold"/>
                <a:cs typeface="Crusoe Text Bold"/>
                <a:sym typeface="Crusoe Text Bold"/>
              </a:rPr>
              <a:t>Social Dynamics: </a:t>
            </a:r>
          </a:p>
          <a:p>
            <a:pPr algn="l" marL="1531092" indent="-510364" lvl="2">
              <a:lnSpc>
                <a:spcPts val="5602"/>
              </a:lnSpc>
              <a:buFont typeface="Arial"/>
              <a:buChar char="⚬"/>
            </a:pPr>
            <a:r>
              <a:rPr lang="en-US" b="true" sz="3545">
                <a:solidFill>
                  <a:srgbClr val="1C1679"/>
                </a:solidFill>
                <a:latin typeface="Crusoe Text Bold"/>
                <a:ea typeface="Crusoe Text Bold"/>
                <a:cs typeface="Crusoe Text Bold"/>
                <a:sym typeface="Crusoe Text Bold"/>
              </a:rPr>
              <a:t>Humor tied to hierarchical structures or social norms may not translate well across cultures.</a:t>
            </a:r>
          </a:p>
        </p:txBody>
      </p:sp>
      <p:sp>
        <p:nvSpPr>
          <p:cNvPr name="TextBox 5" id="5"/>
          <p:cNvSpPr txBox="true"/>
          <p:nvPr/>
        </p:nvSpPr>
        <p:spPr>
          <a:xfrm rot="0">
            <a:off x="420927" y="2031924"/>
            <a:ext cx="15863517" cy="618490"/>
          </a:xfrm>
          <a:prstGeom prst="rect">
            <a:avLst/>
          </a:prstGeom>
        </p:spPr>
        <p:txBody>
          <a:bodyPr anchor="t" rtlCol="false" tIns="0" lIns="0" bIns="0" rIns="0">
            <a:spAutoFit/>
          </a:bodyPr>
          <a:lstStyle/>
          <a:p>
            <a:pPr algn="ctr" marL="0" indent="0" lvl="0">
              <a:lnSpc>
                <a:spcPts val="4099"/>
              </a:lnSpc>
            </a:pPr>
            <a:r>
              <a:rPr lang="en-US" sz="4099" spc="446">
                <a:solidFill>
                  <a:srgbClr val="1C1679"/>
                </a:solidFill>
                <a:latin typeface="Funtastic"/>
                <a:ea typeface="Funtastic"/>
                <a:cs typeface="Funtastic"/>
                <a:sym typeface="Funtastic"/>
              </a:rPr>
              <a:t>EXAMPLES OF MISUNDERSTANDINGS OR FAILED JOKES</a:t>
            </a:r>
          </a:p>
        </p:txBody>
      </p:sp>
      <p:sp>
        <p:nvSpPr>
          <p:cNvPr name="Freeform 6" id="6"/>
          <p:cNvSpPr/>
          <p:nvPr/>
        </p:nvSpPr>
        <p:spPr>
          <a:xfrm flipH="false" flipV="true" rot="0">
            <a:off x="12596894" y="7808553"/>
            <a:ext cx="6166594" cy="4114800"/>
          </a:xfrm>
          <a:custGeom>
            <a:avLst/>
            <a:gdLst/>
            <a:ahLst/>
            <a:cxnLst/>
            <a:rect r="r" b="b" t="t" l="l"/>
            <a:pathLst>
              <a:path h="4114800" w="6166594">
                <a:moveTo>
                  <a:pt x="0" y="4114800"/>
                </a:moveTo>
                <a:lnTo>
                  <a:pt x="6166594" y="4114800"/>
                </a:lnTo>
                <a:lnTo>
                  <a:pt x="616659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transition spd="fast">
    <p:wipe dir="l"/>
  </p:transition>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Freeform 2" id="2"/>
          <p:cNvSpPr/>
          <p:nvPr/>
        </p:nvSpPr>
        <p:spPr>
          <a:xfrm flipH="true" flipV="false" rot="0">
            <a:off x="-227042" y="-1617981"/>
            <a:ext cx="6166594" cy="4114800"/>
          </a:xfrm>
          <a:custGeom>
            <a:avLst/>
            <a:gdLst/>
            <a:ahLst/>
            <a:cxnLst/>
            <a:rect r="r" b="b" t="t" l="l"/>
            <a:pathLst>
              <a:path h="4114800" w="6166594">
                <a:moveTo>
                  <a:pt x="6166594" y="0"/>
                </a:moveTo>
                <a:lnTo>
                  <a:pt x="0" y="0"/>
                </a:lnTo>
                <a:lnTo>
                  <a:pt x="0" y="4114800"/>
                </a:lnTo>
                <a:lnTo>
                  <a:pt x="6166594" y="4114800"/>
                </a:lnTo>
                <a:lnTo>
                  <a:pt x="61665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1068949" y="3008313"/>
            <a:ext cx="16230600" cy="2512314"/>
          </a:xfrm>
          <a:prstGeom prst="rect">
            <a:avLst/>
          </a:prstGeom>
        </p:spPr>
        <p:txBody>
          <a:bodyPr anchor="t" rtlCol="false" tIns="0" lIns="0" bIns="0" rIns="0">
            <a:spAutoFit/>
          </a:bodyPr>
          <a:lstStyle/>
          <a:p>
            <a:pPr algn="l" marL="755644" indent="-377822" lvl="1">
              <a:lnSpc>
                <a:spcPts val="4059"/>
              </a:lnSpc>
              <a:buFont typeface="Arial"/>
              <a:buChar char="•"/>
            </a:pPr>
            <a:r>
              <a:rPr lang="en-US" b="true" sz="3499">
                <a:solidFill>
                  <a:srgbClr val="1C1679"/>
                </a:solidFill>
                <a:latin typeface="Crusoe Text Bold"/>
                <a:ea typeface="Crusoe Text Bold"/>
                <a:cs typeface="Crusoe Text Bold"/>
                <a:sym typeface="Crusoe Text Bold"/>
              </a:rPr>
              <a:t>Build cultural sensitivity to decode the meaning behind humor and irony. This helps us appreciate the cultural context of different expressions.</a:t>
            </a:r>
          </a:p>
          <a:p>
            <a:pPr algn="l">
              <a:lnSpc>
                <a:spcPts val="4059"/>
              </a:lnSpc>
            </a:pPr>
          </a:p>
          <a:p>
            <a:pPr algn="l" marL="0" indent="0" lvl="0">
              <a:lnSpc>
                <a:spcPts val="3595"/>
              </a:lnSpc>
            </a:pPr>
          </a:p>
        </p:txBody>
      </p:sp>
      <p:sp>
        <p:nvSpPr>
          <p:cNvPr name="TextBox 4" id="4"/>
          <p:cNvSpPr txBox="true"/>
          <p:nvPr/>
        </p:nvSpPr>
        <p:spPr>
          <a:xfrm rot="0">
            <a:off x="1028700" y="1028700"/>
            <a:ext cx="16270849" cy="1468119"/>
          </a:xfrm>
          <a:prstGeom prst="rect">
            <a:avLst/>
          </a:prstGeom>
        </p:spPr>
        <p:txBody>
          <a:bodyPr anchor="t" rtlCol="false" tIns="0" lIns="0" bIns="0" rIns="0">
            <a:spAutoFit/>
          </a:bodyPr>
          <a:lstStyle/>
          <a:p>
            <a:pPr algn="ctr" marL="0" indent="0" lvl="0">
              <a:lnSpc>
                <a:spcPts val="5299"/>
              </a:lnSpc>
            </a:pPr>
            <a:r>
              <a:rPr lang="en-US" sz="5299" spc="402">
                <a:solidFill>
                  <a:srgbClr val="1C1679"/>
                </a:solidFill>
                <a:latin typeface="Funtastic"/>
                <a:ea typeface="Funtastic"/>
                <a:cs typeface="Funtastic"/>
                <a:sym typeface="Funtastic"/>
              </a:rPr>
              <a:t>STRATEGIES TO BETTER UNDERSTAND AND USE HUMOR AND IRONY</a:t>
            </a:r>
          </a:p>
        </p:txBody>
      </p:sp>
      <p:sp>
        <p:nvSpPr>
          <p:cNvPr name="TextBox 5" id="5"/>
          <p:cNvSpPr txBox="true"/>
          <p:nvPr/>
        </p:nvSpPr>
        <p:spPr>
          <a:xfrm rot="0">
            <a:off x="1068949" y="5235257"/>
            <a:ext cx="16230600" cy="1988185"/>
          </a:xfrm>
          <a:prstGeom prst="rect">
            <a:avLst/>
          </a:prstGeom>
        </p:spPr>
        <p:txBody>
          <a:bodyPr anchor="t" rtlCol="false" tIns="0" lIns="0" bIns="0" rIns="0">
            <a:spAutoFit/>
          </a:bodyPr>
          <a:lstStyle/>
          <a:p>
            <a:pPr algn="l" marL="755644" indent="-377822" lvl="1">
              <a:lnSpc>
                <a:spcPts val="4059"/>
              </a:lnSpc>
              <a:buFont typeface="Arial"/>
              <a:buChar char="•"/>
            </a:pPr>
            <a:r>
              <a:rPr lang="en-US" b="true" sz="3499">
                <a:solidFill>
                  <a:srgbClr val="1C1679"/>
                </a:solidFill>
                <a:latin typeface="Crusoe Text Bold"/>
                <a:ea typeface="Crusoe Text Bold"/>
                <a:cs typeface="Crusoe Text Bold"/>
                <a:sym typeface="Crusoe Text Bold"/>
              </a:rPr>
              <a:t>Learn practical ways to express humor in diverse settings while respecting cultural differences. Tailoring our approach ensures better communication across varied audiences.</a:t>
            </a:r>
          </a:p>
          <a:p>
            <a:pPr algn="l" marL="0" indent="0" lvl="0">
              <a:lnSpc>
                <a:spcPts val="3479"/>
              </a:lnSpc>
            </a:pPr>
          </a:p>
        </p:txBody>
      </p:sp>
      <p:sp>
        <p:nvSpPr>
          <p:cNvPr name="TextBox 6" id="6"/>
          <p:cNvSpPr txBox="true"/>
          <p:nvPr/>
        </p:nvSpPr>
        <p:spPr>
          <a:xfrm rot="0">
            <a:off x="1028700" y="7705725"/>
            <a:ext cx="16230600" cy="1988185"/>
          </a:xfrm>
          <a:prstGeom prst="rect">
            <a:avLst/>
          </a:prstGeom>
        </p:spPr>
        <p:txBody>
          <a:bodyPr anchor="t" rtlCol="false" tIns="0" lIns="0" bIns="0" rIns="0">
            <a:spAutoFit/>
          </a:bodyPr>
          <a:lstStyle/>
          <a:p>
            <a:pPr algn="l" marL="755644" indent="-377822" lvl="1">
              <a:lnSpc>
                <a:spcPts val="4059"/>
              </a:lnSpc>
              <a:buFont typeface="Arial"/>
              <a:buChar char="•"/>
            </a:pPr>
            <a:r>
              <a:rPr lang="en-US" b="true" sz="3499">
                <a:solidFill>
                  <a:srgbClr val="1C1679"/>
                </a:solidFill>
                <a:latin typeface="Crusoe Text Bold"/>
                <a:ea typeface="Crusoe Text Bold"/>
                <a:cs typeface="Crusoe Text Bold"/>
                <a:sym typeface="Crusoe Text Bold"/>
              </a:rPr>
              <a:t>Use active listening to better understand the tone and intent of humorous or ironic remarks. This practice allows us to respond more thoughtfully and avoid misinterpretations.</a:t>
            </a:r>
          </a:p>
          <a:p>
            <a:pPr algn="l" marL="0" indent="0" lvl="0">
              <a:lnSpc>
                <a:spcPts val="3479"/>
              </a:lnSpc>
            </a:pPr>
          </a:p>
        </p:txBody>
      </p:sp>
    </p:spTree>
  </p:cSld>
  <p:clrMapOvr>
    <a:masterClrMapping/>
  </p:clrMapOvr>
  <p:transition spd="fast">
    <p:wipe dir="l"/>
  </p:transition>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Freeform 2" id="2"/>
          <p:cNvSpPr/>
          <p:nvPr/>
        </p:nvSpPr>
        <p:spPr>
          <a:xfrm flipH="true" flipV="false" rot="0">
            <a:off x="0" y="-1486890"/>
            <a:ext cx="6166594" cy="4114800"/>
          </a:xfrm>
          <a:custGeom>
            <a:avLst/>
            <a:gdLst/>
            <a:ahLst/>
            <a:cxnLst/>
            <a:rect r="r" b="b" t="t" l="l"/>
            <a:pathLst>
              <a:path h="4114800" w="6166594">
                <a:moveTo>
                  <a:pt x="6166594" y="0"/>
                </a:moveTo>
                <a:lnTo>
                  <a:pt x="0" y="0"/>
                </a:lnTo>
                <a:lnTo>
                  <a:pt x="0" y="4114800"/>
                </a:lnTo>
                <a:lnTo>
                  <a:pt x="6166594" y="4114800"/>
                </a:lnTo>
                <a:lnTo>
                  <a:pt x="61665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3268001"/>
            <a:ext cx="5137894" cy="5273106"/>
            <a:chOff x="0" y="0"/>
            <a:chExt cx="1565327" cy="1606521"/>
          </a:xfrm>
        </p:grpSpPr>
        <p:sp>
          <p:nvSpPr>
            <p:cNvPr name="Freeform 4" id="4"/>
            <p:cNvSpPr/>
            <p:nvPr/>
          </p:nvSpPr>
          <p:spPr>
            <a:xfrm flipH="false" flipV="false" rot="0">
              <a:off x="0" y="0"/>
              <a:ext cx="1565327" cy="1606521"/>
            </a:xfrm>
            <a:custGeom>
              <a:avLst/>
              <a:gdLst/>
              <a:ahLst/>
              <a:cxnLst/>
              <a:rect r="r" b="b" t="t" l="l"/>
              <a:pathLst>
                <a:path h="1606521" w="1565327">
                  <a:moveTo>
                    <a:pt x="76848" y="0"/>
                  </a:moveTo>
                  <a:lnTo>
                    <a:pt x="1488478" y="0"/>
                  </a:lnTo>
                  <a:cubicBezTo>
                    <a:pt x="1508860" y="0"/>
                    <a:pt x="1528407" y="8096"/>
                    <a:pt x="1542818" y="22508"/>
                  </a:cubicBezTo>
                  <a:cubicBezTo>
                    <a:pt x="1557230" y="36920"/>
                    <a:pt x="1565327" y="56467"/>
                    <a:pt x="1565327" y="76848"/>
                  </a:cubicBezTo>
                  <a:lnTo>
                    <a:pt x="1565327" y="1529673"/>
                  </a:lnTo>
                  <a:cubicBezTo>
                    <a:pt x="1565327" y="1550054"/>
                    <a:pt x="1557230" y="1569601"/>
                    <a:pt x="1542818" y="1584012"/>
                  </a:cubicBezTo>
                  <a:cubicBezTo>
                    <a:pt x="1528407" y="1598424"/>
                    <a:pt x="1508860" y="1606521"/>
                    <a:pt x="1488478" y="1606521"/>
                  </a:cubicBezTo>
                  <a:lnTo>
                    <a:pt x="76848" y="1606521"/>
                  </a:lnTo>
                  <a:cubicBezTo>
                    <a:pt x="56467" y="1606521"/>
                    <a:pt x="36920" y="1598424"/>
                    <a:pt x="22508" y="1584012"/>
                  </a:cubicBezTo>
                  <a:cubicBezTo>
                    <a:pt x="8096" y="1569601"/>
                    <a:pt x="0" y="1550054"/>
                    <a:pt x="0" y="1529673"/>
                  </a:cubicBezTo>
                  <a:lnTo>
                    <a:pt x="0" y="76848"/>
                  </a:lnTo>
                  <a:cubicBezTo>
                    <a:pt x="0" y="56467"/>
                    <a:pt x="8096" y="36920"/>
                    <a:pt x="22508" y="22508"/>
                  </a:cubicBezTo>
                  <a:cubicBezTo>
                    <a:pt x="36920" y="8096"/>
                    <a:pt x="56467" y="0"/>
                    <a:pt x="76848" y="0"/>
                  </a:cubicBezTo>
                  <a:close/>
                </a:path>
              </a:pathLst>
            </a:custGeom>
            <a:solidFill>
              <a:srgbClr val="287A74"/>
            </a:solidFill>
          </p:spPr>
        </p:sp>
        <p:sp>
          <p:nvSpPr>
            <p:cNvPr name="TextBox 5" id="5"/>
            <p:cNvSpPr txBox="true"/>
            <p:nvPr/>
          </p:nvSpPr>
          <p:spPr>
            <a:xfrm>
              <a:off x="0" y="-28575"/>
              <a:ext cx="1565327" cy="1635096"/>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236209" y="4669569"/>
            <a:ext cx="4710194" cy="3786672"/>
          </a:xfrm>
          <a:prstGeom prst="rect">
            <a:avLst/>
          </a:prstGeom>
        </p:spPr>
        <p:txBody>
          <a:bodyPr anchor="t" rtlCol="false" tIns="0" lIns="0" bIns="0" rIns="0">
            <a:spAutoFit/>
          </a:bodyPr>
          <a:lstStyle/>
          <a:p>
            <a:pPr algn="ctr">
              <a:lnSpc>
                <a:spcPts val="4440"/>
              </a:lnSpc>
            </a:pPr>
            <a:r>
              <a:rPr lang="en-US" b="true" sz="2902" spc="-26">
                <a:solidFill>
                  <a:srgbClr val="FFFFFF"/>
                </a:solidFill>
                <a:latin typeface="Crusoe Text Bold"/>
                <a:ea typeface="Crusoe Text Bold"/>
                <a:cs typeface="Crusoe Text Bold"/>
                <a:sym typeface="Crusoe Text Bold"/>
              </a:rPr>
              <a:t>Humor and irony have changed with the rise of the digital era. Social media platforms have played a key role in this global shift.</a:t>
            </a:r>
          </a:p>
          <a:p>
            <a:pPr algn="ctr" marL="0" indent="0" lvl="0">
              <a:lnSpc>
                <a:spcPts val="3522"/>
              </a:lnSpc>
            </a:pPr>
          </a:p>
        </p:txBody>
      </p:sp>
      <p:sp>
        <p:nvSpPr>
          <p:cNvPr name="TextBox 7" id="7"/>
          <p:cNvSpPr txBox="true"/>
          <p:nvPr/>
        </p:nvSpPr>
        <p:spPr>
          <a:xfrm rot="0">
            <a:off x="1028700" y="1331888"/>
            <a:ext cx="16270849" cy="1468119"/>
          </a:xfrm>
          <a:prstGeom prst="rect">
            <a:avLst/>
          </a:prstGeom>
        </p:spPr>
        <p:txBody>
          <a:bodyPr anchor="t" rtlCol="false" tIns="0" lIns="0" bIns="0" rIns="0">
            <a:spAutoFit/>
          </a:bodyPr>
          <a:lstStyle/>
          <a:p>
            <a:pPr algn="ctr" marL="0" indent="0" lvl="0">
              <a:lnSpc>
                <a:spcPts val="5299"/>
              </a:lnSpc>
            </a:pPr>
            <a:r>
              <a:rPr lang="en-US" sz="5299" spc="471">
                <a:solidFill>
                  <a:srgbClr val="1C1679"/>
                </a:solidFill>
                <a:latin typeface="Funtastic"/>
                <a:ea typeface="Funtastic"/>
                <a:cs typeface="Funtastic"/>
                <a:sym typeface="Funtastic"/>
              </a:rPr>
              <a:t>THE EVOLUTION OF HUMOR AND IRONY IN GLOBAL COMMUNICATION</a:t>
            </a:r>
          </a:p>
        </p:txBody>
      </p:sp>
      <p:sp>
        <p:nvSpPr>
          <p:cNvPr name="TextBox 8" id="8"/>
          <p:cNvSpPr txBox="true"/>
          <p:nvPr/>
        </p:nvSpPr>
        <p:spPr>
          <a:xfrm rot="0">
            <a:off x="1240436" y="3635155"/>
            <a:ext cx="4705966" cy="1434465"/>
          </a:xfrm>
          <a:prstGeom prst="rect">
            <a:avLst/>
          </a:prstGeom>
        </p:spPr>
        <p:txBody>
          <a:bodyPr anchor="t" rtlCol="false" tIns="0" lIns="0" bIns="0" rIns="0">
            <a:spAutoFit/>
          </a:bodyPr>
          <a:lstStyle/>
          <a:p>
            <a:pPr algn="ctr">
              <a:lnSpc>
                <a:spcPts val="3599"/>
              </a:lnSpc>
            </a:pPr>
            <a:r>
              <a:rPr lang="en-US" sz="3599" spc="417">
                <a:solidFill>
                  <a:srgbClr val="FFFFFF"/>
                </a:solidFill>
                <a:latin typeface="Funtastic"/>
                <a:ea typeface="Funtastic"/>
                <a:cs typeface="Funtastic"/>
                <a:sym typeface="Funtastic"/>
              </a:rPr>
              <a:t>DIGITAL AGE TRANSFORMATION</a:t>
            </a:r>
          </a:p>
          <a:p>
            <a:pPr algn="ctr" marL="0" indent="0" lvl="0">
              <a:lnSpc>
                <a:spcPts val="3599"/>
              </a:lnSpc>
            </a:pPr>
          </a:p>
        </p:txBody>
      </p:sp>
      <p:grpSp>
        <p:nvGrpSpPr>
          <p:cNvPr name="Group 9" id="9"/>
          <p:cNvGrpSpPr/>
          <p:nvPr/>
        </p:nvGrpSpPr>
        <p:grpSpPr>
          <a:xfrm rot="0">
            <a:off x="6575053" y="3268001"/>
            <a:ext cx="5137894" cy="5273106"/>
            <a:chOff x="0" y="0"/>
            <a:chExt cx="1565327" cy="1606521"/>
          </a:xfrm>
        </p:grpSpPr>
        <p:sp>
          <p:nvSpPr>
            <p:cNvPr name="Freeform 10" id="10"/>
            <p:cNvSpPr/>
            <p:nvPr/>
          </p:nvSpPr>
          <p:spPr>
            <a:xfrm flipH="false" flipV="false" rot="0">
              <a:off x="0" y="0"/>
              <a:ext cx="1565327" cy="1606521"/>
            </a:xfrm>
            <a:custGeom>
              <a:avLst/>
              <a:gdLst/>
              <a:ahLst/>
              <a:cxnLst/>
              <a:rect r="r" b="b" t="t" l="l"/>
              <a:pathLst>
                <a:path h="1606521" w="1565327">
                  <a:moveTo>
                    <a:pt x="76848" y="0"/>
                  </a:moveTo>
                  <a:lnTo>
                    <a:pt x="1488478" y="0"/>
                  </a:lnTo>
                  <a:cubicBezTo>
                    <a:pt x="1508860" y="0"/>
                    <a:pt x="1528407" y="8096"/>
                    <a:pt x="1542818" y="22508"/>
                  </a:cubicBezTo>
                  <a:cubicBezTo>
                    <a:pt x="1557230" y="36920"/>
                    <a:pt x="1565327" y="56467"/>
                    <a:pt x="1565327" y="76848"/>
                  </a:cubicBezTo>
                  <a:lnTo>
                    <a:pt x="1565327" y="1529673"/>
                  </a:lnTo>
                  <a:cubicBezTo>
                    <a:pt x="1565327" y="1550054"/>
                    <a:pt x="1557230" y="1569601"/>
                    <a:pt x="1542818" y="1584012"/>
                  </a:cubicBezTo>
                  <a:cubicBezTo>
                    <a:pt x="1528407" y="1598424"/>
                    <a:pt x="1508860" y="1606521"/>
                    <a:pt x="1488478" y="1606521"/>
                  </a:cubicBezTo>
                  <a:lnTo>
                    <a:pt x="76848" y="1606521"/>
                  </a:lnTo>
                  <a:cubicBezTo>
                    <a:pt x="56467" y="1606521"/>
                    <a:pt x="36920" y="1598424"/>
                    <a:pt x="22508" y="1584012"/>
                  </a:cubicBezTo>
                  <a:cubicBezTo>
                    <a:pt x="8096" y="1569601"/>
                    <a:pt x="0" y="1550054"/>
                    <a:pt x="0" y="1529673"/>
                  </a:cubicBezTo>
                  <a:lnTo>
                    <a:pt x="0" y="76848"/>
                  </a:lnTo>
                  <a:cubicBezTo>
                    <a:pt x="0" y="56467"/>
                    <a:pt x="8096" y="36920"/>
                    <a:pt x="22508" y="22508"/>
                  </a:cubicBezTo>
                  <a:cubicBezTo>
                    <a:pt x="36920" y="8096"/>
                    <a:pt x="56467" y="0"/>
                    <a:pt x="76848" y="0"/>
                  </a:cubicBezTo>
                  <a:close/>
                </a:path>
              </a:pathLst>
            </a:custGeom>
            <a:solidFill>
              <a:srgbClr val="287A74"/>
            </a:solidFill>
          </p:spPr>
        </p:sp>
        <p:sp>
          <p:nvSpPr>
            <p:cNvPr name="TextBox 11" id="11"/>
            <p:cNvSpPr txBox="true"/>
            <p:nvPr/>
          </p:nvSpPr>
          <p:spPr>
            <a:xfrm>
              <a:off x="0" y="-28575"/>
              <a:ext cx="1565327" cy="1635096"/>
            </a:xfrm>
            <a:prstGeom prst="rect">
              <a:avLst/>
            </a:prstGeom>
          </p:spPr>
          <p:txBody>
            <a:bodyPr anchor="ctr" rtlCol="false" tIns="50800" lIns="50800" bIns="50800" rIns="50800"/>
            <a:lstStyle/>
            <a:p>
              <a:pPr algn="ctr">
                <a:lnSpc>
                  <a:spcPts val="2659"/>
                </a:lnSpc>
              </a:pPr>
            </a:p>
          </p:txBody>
        </p:sp>
      </p:grpSp>
      <p:sp>
        <p:nvSpPr>
          <p:cNvPr name="TextBox 12" id="12"/>
          <p:cNvSpPr txBox="true"/>
          <p:nvPr/>
        </p:nvSpPr>
        <p:spPr>
          <a:xfrm rot="0">
            <a:off x="6801079" y="4669569"/>
            <a:ext cx="4726091" cy="4086224"/>
          </a:xfrm>
          <a:prstGeom prst="rect">
            <a:avLst/>
          </a:prstGeom>
        </p:spPr>
        <p:txBody>
          <a:bodyPr anchor="t" rtlCol="false" tIns="0" lIns="0" bIns="0" rIns="0">
            <a:spAutoFit/>
          </a:bodyPr>
          <a:lstStyle/>
          <a:p>
            <a:pPr algn="ctr">
              <a:lnSpc>
                <a:spcPts val="4131"/>
              </a:lnSpc>
            </a:pPr>
            <a:r>
              <a:rPr lang="en-US" b="true" sz="2700" spc="-24">
                <a:solidFill>
                  <a:srgbClr val="FFFFFF"/>
                </a:solidFill>
                <a:latin typeface="Crusoe Text Bold"/>
                <a:ea typeface="Crusoe Text Bold"/>
                <a:cs typeface="Crusoe Text Bold"/>
                <a:sym typeface="Crusoe Text Bold"/>
              </a:rPr>
              <a:t>Memes and jokes now spread across cultures, uniting people through shared humor. However, they also highlight unique cultural traits that can differ widely.</a:t>
            </a:r>
          </a:p>
          <a:p>
            <a:pPr algn="ctr" marL="0" indent="0" lvl="0">
              <a:lnSpc>
                <a:spcPts val="3519"/>
              </a:lnSpc>
            </a:pPr>
          </a:p>
        </p:txBody>
      </p:sp>
      <p:sp>
        <p:nvSpPr>
          <p:cNvPr name="TextBox 13" id="13"/>
          <p:cNvSpPr txBox="true"/>
          <p:nvPr/>
        </p:nvSpPr>
        <p:spPr>
          <a:xfrm rot="0">
            <a:off x="6791017" y="3635155"/>
            <a:ext cx="4705966" cy="1372235"/>
          </a:xfrm>
          <a:prstGeom prst="rect">
            <a:avLst/>
          </a:prstGeom>
        </p:spPr>
        <p:txBody>
          <a:bodyPr anchor="t" rtlCol="false" tIns="0" lIns="0" bIns="0" rIns="0">
            <a:spAutoFit/>
          </a:bodyPr>
          <a:lstStyle/>
          <a:p>
            <a:pPr algn="ctr">
              <a:lnSpc>
                <a:spcPts val="3399"/>
              </a:lnSpc>
            </a:pPr>
            <a:r>
              <a:rPr lang="en-US" sz="3399" spc="237">
                <a:solidFill>
                  <a:srgbClr val="FFFFFF"/>
                </a:solidFill>
                <a:latin typeface="Funtastic"/>
                <a:ea typeface="Funtastic"/>
                <a:cs typeface="Funtastic"/>
                <a:sym typeface="Funtastic"/>
              </a:rPr>
              <a:t>CROSSING CULTURAL BOUNDARIES</a:t>
            </a:r>
          </a:p>
          <a:p>
            <a:pPr algn="ctr" marL="0" indent="0" lvl="0">
              <a:lnSpc>
                <a:spcPts val="3399"/>
              </a:lnSpc>
            </a:pPr>
          </a:p>
        </p:txBody>
      </p:sp>
      <p:grpSp>
        <p:nvGrpSpPr>
          <p:cNvPr name="Group 14" id="14"/>
          <p:cNvGrpSpPr/>
          <p:nvPr/>
        </p:nvGrpSpPr>
        <p:grpSpPr>
          <a:xfrm rot="0">
            <a:off x="12121406" y="3268001"/>
            <a:ext cx="5137894" cy="5273106"/>
            <a:chOff x="0" y="0"/>
            <a:chExt cx="1565327" cy="1606521"/>
          </a:xfrm>
        </p:grpSpPr>
        <p:sp>
          <p:nvSpPr>
            <p:cNvPr name="Freeform 15" id="15"/>
            <p:cNvSpPr/>
            <p:nvPr/>
          </p:nvSpPr>
          <p:spPr>
            <a:xfrm flipH="false" flipV="false" rot="0">
              <a:off x="0" y="0"/>
              <a:ext cx="1565327" cy="1606521"/>
            </a:xfrm>
            <a:custGeom>
              <a:avLst/>
              <a:gdLst/>
              <a:ahLst/>
              <a:cxnLst/>
              <a:rect r="r" b="b" t="t" l="l"/>
              <a:pathLst>
                <a:path h="1606521" w="1565327">
                  <a:moveTo>
                    <a:pt x="76848" y="0"/>
                  </a:moveTo>
                  <a:lnTo>
                    <a:pt x="1488478" y="0"/>
                  </a:lnTo>
                  <a:cubicBezTo>
                    <a:pt x="1508860" y="0"/>
                    <a:pt x="1528407" y="8096"/>
                    <a:pt x="1542818" y="22508"/>
                  </a:cubicBezTo>
                  <a:cubicBezTo>
                    <a:pt x="1557230" y="36920"/>
                    <a:pt x="1565327" y="56467"/>
                    <a:pt x="1565327" y="76848"/>
                  </a:cubicBezTo>
                  <a:lnTo>
                    <a:pt x="1565327" y="1529673"/>
                  </a:lnTo>
                  <a:cubicBezTo>
                    <a:pt x="1565327" y="1550054"/>
                    <a:pt x="1557230" y="1569601"/>
                    <a:pt x="1542818" y="1584012"/>
                  </a:cubicBezTo>
                  <a:cubicBezTo>
                    <a:pt x="1528407" y="1598424"/>
                    <a:pt x="1508860" y="1606521"/>
                    <a:pt x="1488478" y="1606521"/>
                  </a:cubicBezTo>
                  <a:lnTo>
                    <a:pt x="76848" y="1606521"/>
                  </a:lnTo>
                  <a:cubicBezTo>
                    <a:pt x="56467" y="1606521"/>
                    <a:pt x="36920" y="1598424"/>
                    <a:pt x="22508" y="1584012"/>
                  </a:cubicBezTo>
                  <a:cubicBezTo>
                    <a:pt x="8096" y="1569601"/>
                    <a:pt x="0" y="1550054"/>
                    <a:pt x="0" y="1529673"/>
                  </a:cubicBezTo>
                  <a:lnTo>
                    <a:pt x="0" y="76848"/>
                  </a:lnTo>
                  <a:cubicBezTo>
                    <a:pt x="0" y="56467"/>
                    <a:pt x="8096" y="36920"/>
                    <a:pt x="22508" y="22508"/>
                  </a:cubicBezTo>
                  <a:cubicBezTo>
                    <a:pt x="36920" y="8096"/>
                    <a:pt x="56467" y="0"/>
                    <a:pt x="76848" y="0"/>
                  </a:cubicBezTo>
                  <a:close/>
                </a:path>
              </a:pathLst>
            </a:custGeom>
            <a:solidFill>
              <a:srgbClr val="287A74"/>
            </a:solidFill>
          </p:spPr>
        </p:sp>
        <p:sp>
          <p:nvSpPr>
            <p:cNvPr name="TextBox 16" id="16"/>
            <p:cNvSpPr txBox="true"/>
            <p:nvPr/>
          </p:nvSpPr>
          <p:spPr>
            <a:xfrm>
              <a:off x="0" y="-28575"/>
              <a:ext cx="1565327" cy="1635096"/>
            </a:xfrm>
            <a:prstGeom prst="rect">
              <a:avLst/>
            </a:prstGeom>
          </p:spPr>
          <p:txBody>
            <a:bodyPr anchor="ctr" rtlCol="false" tIns="50800" lIns="50800" bIns="50800" rIns="50800"/>
            <a:lstStyle/>
            <a:p>
              <a:pPr algn="ctr">
                <a:lnSpc>
                  <a:spcPts val="2659"/>
                </a:lnSpc>
              </a:pPr>
            </a:p>
          </p:txBody>
        </p:sp>
      </p:grpSp>
      <p:sp>
        <p:nvSpPr>
          <p:cNvPr name="TextBox 17" id="17"/>
          <p:cNvSpPr txBox="true"/>
          <p:nvPr/>
        </p:nvSpPr>
        <p:spPr>
          <a:xfrm rot="0">
            <a:off x="12365324" y="4585707"/>
            <a:ext cx="4705966" cy="4103179"/>
          </a:xfrm>
          <a:prstGeom prst="rect">
            <a:avLst/>
          </a:prstGeom>
        </p:spPr>
        <p:txBody>
          <a:bodyPr anchor="t" rtlCol="false" tIns="0" lIns="0" bIns="0" rIns="0">
            <a:spAutoFit/>
          </a:bodyPr>
          <a:lstStyle/>
          <a:p>
            <a:pPr algn="ctr">
              <a:lnSpc>
                <a:spcPts val="4131"/>
              </a:lnSpc>
            </a:pPr>
            <a:r>
              <a:rPr lang="en-US" b="true" sz="2700" spc="-24">
                <a:solidFill>
                  <a:srgbClr val="FFFFFF"/>
                </a:solidFill>
                <a:latin typeface="Crusoe Text Bold"/>
                <a:ea typeface="Crusoe Text Bold"/>
                <a:cs typeface="Crusoe Text Bold"/>
                <a:sym typeface="Crusoe Text Bold"/>
              </a:rPr>
              <a:t>This global exchange fosters cross-cultural understanding and dialogue. Yet, overlooking cultural nuances can lead to unintended misinterpretations.</a:t>
            </a:r>
          </a:p>
          <a:p>
            <a:pPr algn="ctr" marL="0" indent="0" lvl="0">
              <a:lnSpc>
                <a:spcPts val="3672"/>
              </a:lnSpc>
            </a:pPr>
          </a:p>
        </p:txBody>
      </p:sp>
      <p:sp>
        <p:nvSpPr>
          <p:cNvPr name="TextBox 18" id="18"/>
          <p:cNvSpPr txBox="true"/>
          <p:nvPr/>
        </p:nvSpPr>
        <p:spPr>
          <a:xfrm rot="0">
            <a:off x="12337370" y="3635155"/>
            <a:ext cx="4705966" cy="1434465"/>
          </a:xfrm>
          <a:prstGeom prst="rect">
            <a:avLst/>
          </a:prstGeom>
        </p:spPr>
        <p:txBody>
          <a:bodyPr anchor="t" rtlCol="false" tIns="0" lIns="0" bIns="0" rIns="0">
            <a:spAutoFit/>
          </a:bodyPr>
          <a:lstStyle/>
          <a:p>
            <a:pPr algn="ctr">
              <a:lnSpc>
                <a:spcPts val="3599"/>
              </a:lnSpc>
            </a:pPr>
            <a:r>
              <a:rPr lang="en-US" sz="3599" spc="392">
                <a:solidFill>
                  <a:srgbClr val="FFFFFF"/>
                </a:solidFill>
                <a:latin typeface="Funtastic"/>
                <a:ea typeface="Funtastic"/>
                <a:cs typeface="Funtastic"/>
                <a:sym typeface="Funtastic"/>
              </a:rPr>
              <a:t>CHALLENGES AND OPPORTUNITIES</a:t>
            </a:r>
          </a:p>
          <a:p>
            <a:pPr algn="ctr" marL="0" indent="0" lvl="0">
              <a:lnSpc>
                <a:spcPts val="3599"/>
              </a:lnSpc>
            </a:pPr>
          </a:p>
        </p:txBody>
      </p:sp>
    </p:spTree>
  </p:cSld>
  <p:clrMapOvr>
    <a:masterClrMapping/>
  </p:clrMapOvr>
  <p:transition spd="fast">
    <p:wipe dir="l"/>
  </p:transition>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Freeform 2" id="2"/>
          <p:cNvSpPr/>
          <p:nvPr/>
        </p:nvSpPr>
        <p:spPr>
          <a:xfrm flipH="true" flipV="false" rot="0">
            <a:off x="-1705953" y="-327440"/>
            <a:ext cx="6166594" cy="4114800"/>
          </a:xfrm>
          <a:custGeom>
            <a:avLst/>
            <a:gdLst/>
            <a:ahLst/>
            <a:cxnLst/>
            <a:rect r="r" b="b" t="t" l="l"/>
            <a:pathLst>
              <a:path h="4114800" w="6166594">
                <a:moveTo>
                  <a:pt x="6166594" y="0"/>
                </a:moveTo>
                <a:lnTo>
                  <a:pt x="0" y="0"/>
                </a:lnTo>
                <a:lnTo>
                  <a:pt x="0" y="4114800"/>
                </a:lnTo>
                <a:lnTo>
                  <a:pt x="6166594" y="4114800"/>
                </a:lnTo>
                <a:lnTo>
                  <a:pt x="61665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0">
            <a:off x="14176003" y="7200900"/>
            <a:ext cx="6166594" cy="4114800"/>
          </a:xfrm>
          <a:custGeom>
            <a:avLst/>
            <a:gdLst/>
            <a:ahLst/>
            <a:cxnLst/>
            <a:rect r="r" b="b" t="t" l="l"/>
            <a:pathLst>
              <a:path h="4114800" w="6166594">
                <a:moveTo>
                  <a:pt x="0" y="4114800"/>
                </a:moveTo>
                <a:lnTo>
                  <a:pt x="6166594" y="4114800"/>
                </a:lnTo>
                <a:lnTo>
                  <a:pt x="6166594" y="0"/>
                </a:lnTo>
                <a:lnTo>
                  <a:pt x="0" y="0"/>
                </a:lnTo>
                <a:lnTo>
                  <a:pt x="0" y="411480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792270">
            <a:off x="215787" y="-134391"/>
            <a:ext cx="1716575" cy="2088010"/>
          </a:xfrm>
          <a:custGeom>
            <a:avLst/>
            <a:gdLst/>
            <a:ahLst/>
            <a:cxnLst/>
            <a:rect r="r" b="b" t="t" l="l"/>
            <a:pathLst>
              <a:path h="2088010" w="1716575">
                <a:moveTo>
                  <a:pt x="1716575" y="0"/>
                </a:moveTo>
                <a:lnTo>
                  <a:pt x="0" y="0"/>
                </a:lnTo>
                <a:lnTo>
                  <a:pt x="0" y="2088010"/>
                </a:lnTo>
                <a:lnTo>
                  <a:pt x="1716575" y="2088010"/>
                </a:lnTo>
                <a:lnTo>
                  <a:pt x="1716575"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392561" y="1998248"/>
            <a:ext cx="17554875" cy="7457755"/>
          </a:xfrm>
          <a:prstGeom prst="rect">
            <a:avLst/>
          </a:prstGeom>
        </p:spPr>
        <p:txBody>
          <a:bodyPr anchor="t" rtlCol="false" tIns="0" lIns="0" bIns="0" rIns="0">
            <a:spAutoFit/>
          </a:bodyPr>
          <a:lstStyle/>
          <a:p>
            <a:pPr algn="ctr" marL="0" indent="0" lvl="0">
              <a:lnSpc>
                <a:spcPts val="5735"/>
              </a:lnSpc>
            </a:pPr>
            <a:r>
              <a:rPr lang="en-US" b="true" sz="3748">
                <a:solidFill>
                  <a:srgbClr val="1C1679"/>
                </a:solidFill>
                <a:latin typeface="Crusoe Text Bold"/>
                <a:ea typeface="Crusoe Text Bold"/>
                <a:cs typeface="Crusoe Text Bold"/>
                <a:sym typeface="Crusoe Text Bold"/>
              </a:rPr>
              <a:t>Humor, irony, and cultural reference</a:t>
            </a:r>
            <a:r>
              <a:rPr lang="en-US" b="true" sz="3748">
                <a:solidFill>
                  <a:srgbClr val="1C1679"/>
                </a:solidFill>
                <a:latin typeface="Crusoe Text Bold"/>
                <a:ea typeface="Crusoe Text Bold"/>
                <a:cs typeface="Crusoe Text Bold"/>
                <a:sym typeface="Crusoe Text Bold"/>
              </a:rPr>
              <a:t>s are powerful tools for communication across cultures. Understanding how they work allows us to foster empathy, overcome cultural barriers, and build stronger connections. In a globalized world, humor evolves and adapts, serving as a bridge between diverse communities. As future engineers, using humor thoughtfully can help us create inclusive, collaborative environments where innovation and understanding thrive.</a:t>
            </a:r>
          </a:p>
          <a:p>
            <a:pPr algn="ctr" marL="0" indent="0" lvl="0">
              <a:lnSpc>
                <a:spcPts val="5735"/>
              </a:lnSpc>
            </a:pPr>
          </a:p>
          <a:p>
            <a:pPr algn="ctr" marL="0" indent="0" lvl="0">
              <a:lnSpc>
                <a:spcPts val="6806"/>
              </a:lnSpc>
            </a:pPr>
            <a:r>
              <a:rPr lang="en-US" b="true" sz="4448" i="true" u="none">
                <a:solidFill>
                  <a:srgbClr val="287A74"/>
                </a:solidFill>
                <a:latin typeface="Crusoe Text Bold Italics"/>
                <a:ea typeface="Crusoe Text Bold Italics"/>
                <a:cs typeface="Crusoe Text Bold Italics"/>
                <a:sym typeface="Crusoe Text Bold Italics"/>
              </a:rPr>
              <a:t>"Laughter is the shortest distance between two people." — Victor Borge</a:t>
            </a:r>
          </a:p>
        </p:txBody>
      </p:sp>
      <p:sp>
        <p:nvSpPr>
          <p:cNvPr name="TextBox 6" id="6"/>
          <p:cNvSpPr txBox="true"/>
          <p:nvPr/>
        </p:nvSpPr>
        <p:spPr>
          <a:xfrm rot="0">
            <a:off x="6216361" y="482577"/>
            <a:ext cx="5855279" cy="844549"/>
          </a:xfrm>
          <a:prstGeom prst="rect">
            <a:avLst/>
          </a:prstGeom>
        </p:spPr>
        <p:txBody>
          <a:bodyPr anchor="t" rtlCol="false" tIns="0" lIns="0" bIns="0" rIns="0">
            <a:spAutoFit/>
          </a:bodyPr>
          <a:lstStyle/>
          <a:p>
            <a:pPr algn="ctr" marL="0" indent="0" lvl="0">
              <a:lnSpc>
                <a:spcPts val="5499"/>
              </a:lnSpc>
            </a:pPr>
            <a:r>
              <a:rPr lang="en-US" sz="5499" spc="489">
                <a:solidFill>
                  <a:srgbClr val="1C1679"/>
                </a:solidFill>
                <a:latin typeface="Funtastic"/>
                <a:ea typeface="Funtastic"/>
                <a:cs typeface="Funtastic"/>
                <a:sym typeface="Funtastic"/>
              </a:rPr>
              <a:t>CONCLUSION</a:t>
            </a:r>
          </a:p>
        </p:txBody>
      </p:sp>
    </p:spTree>
  </p:cSld>
  <p:clrMapOvr>
    <a:masterClrMapping/>
  </p:clrMapOvr>
  <p:transition spd="fast">
    <p:wipe dir="l"/>
  </p:transition>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D1D8F6"/>
        </a:solidFill>
      </p:bgPr>
    </p:bg>
    <p:spTree>
      <p:nvGrpSpPr>
        <p:cNvPr id="1" name=""/>
        <p:cNvGrpSpPr/>
        <p:nvPr/>
      </p:nvGrpSpPr>
      <p:grpSpPr>
        <a:xfrm>
          <a:off x="0" y="0"/>
          <a:ext cx="0" cy="0"/>
          <a:chOff x="0" y="0"/>
          <a:chExt cx="0" cy="0"/>
        </a:xfrm>
      </p:grpSpPr>
      <p:sp>
        <p:nvSpPr>
          <p:cNvPr name="Freeform 2" id="2"/>
          <p:cNvSpPr/>
          <p:nvPr/>
        </p:nvSpPr>
        <p:spPr>
          <a:xfrm flipH="true" flipV="false" rot="0">
            <a:off x="0" y="-1486890"/>
            <a:ext cx="6166594" cy="4114800"/>
          </a:xfrm>
          <a:custGeom>
            <a:avLst/>
            <a:gdLst/>
            <a:ahLst/>
            <a:cxnLst/>
            <a:rect r="r" b="b" t="t" l="l"/>
            <a:pathLst>
              <a:path h="4114800" w="6166594">
                <a:moveTo>
                  <a:pt x="6166594" y="0"/>
                </a:moveTo>
                <a:lnTo>
                  <a:pt x="0" y="0"/>
                </a:lnTo>
                <a:lnTo>
                  <a:pt x="0" y="4114800"/>
                </a:lnTo>
                <a:lnTo>
                  <a:pt x="6166594" y="4114800"/>
                </a:lnTo>
                <a:lnTo>
                  <a:pt x="6166594"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28700" y="2506947"/>
            <a:ext cx="5137894" cy="2992588"/>
            <a:chOff x="0" y="0"/>
            <a:chExt cx="1565327" cy="911731"/>
          </a:xfrm>
        </p:grpSpPr>
        <p:sp>
          <p:nvSpPr>
            <p:cNvPr name="Freeform 4" id="4"/>
            <p:cNvSpPr/>
            <p:nvPr/>
          </p:nvSpPr>
          <p:spPr>
            <a:xfrm flipH="false" flipV="false" rot="0">
              <a:off x="0" y="0"/>
              <a:ext cx="1565327" cy="911731"/>
            </a:xfrm>
            <a:custGeom>
              <a:avLst/>
              <a:gdLst/>
              <a:ahLst/>
              <a:cxnLst/>
              <a:rect r="r" b="b" t="t" l="l"/>
              <a:pathLst>
                <a:path h="911731" w="1565327">
                  <a:moveTo>
                    <a:pt x="76848" y="0"/>
                  </a:moveTo>
                  <a:lnTo>
                    <a:pt x="1488478" y="0"/>
                  </a:lnTo>
                  <a:cubicBezTo>
                    <a:pt x="1508860" y="0"/>
                    <a:pt x="1528407" y="8096"/>
                    <a:pt x="1542818" y="22508"/>
                  </a:cubicBezTo>
                  <a:cubicBezTo>
                    <a:pt x="1557230" y="36920"/>
                    <a:pt x="1565327" y="56467"/>
                    <a:pt x="1565327" y="76848"/>
                  </a:cubicBezTo>
                  <a:lnTo>
                    <a:pt x="1565327" y="834883"/>
                  </a:lnTo>
                  <a:cubicBezTo>
                    <a:pt x="1565327" y="855264"/>
                    <a:pt x="1557230" y="874811"/>
                    <a:pt x="1542818" y="889223"/>
                  </a:cubicBezTo>
                  <a:cubicBezTo>
                    <a:pt x="1528407" y="903635"/>
                    <a:pt x="1508860" y="911731"/>
                    <a:pt x="1488478" y="911731"/>
                  </a:cubicBezTo>
                  <a:lnTo>
                    <a:pt x="76848" y="911731"/>
                  </a:lnTo>
                  <a:cubicBezTo>
                    <a:pt x="56467" y="911731"/>
                    <a:pt x="36920" y="903635"/>
                    <a:pt x="22508" y="889223"/>
                  </a:cubicBezTo>
                  <a:cubicBezTo>
                    <a:pt x="8096" y="874811"/>
                    <a:pt x="0" y="855264"/>
                    <a:pt x="0" y="834883"/>
                  </a:cubicBezTo>
                  <a:lnTo>
                    <a:pt x="0" y="76848"/>
                  </a:lnTo>
                  <a:cubicBezTo>
                    <a:pt x="0" y="56467"/>
                    <a:pt x="8096" y="36920"/>
                    <a:pt x="22508" y="22508"/>
                  </a:cubicBezTo>
                  <a:cubicBezTo>
                    <a:pt x="36920" y="8096"/>
                    <a:pt x="56467" y="0"/>
                    <a:pt x="76848" y="0"/>
                  </a:cubicBezTo>
                  <a:close/>
                </a:path>
              </a:pathLst>
            </a:custGeom>
            <a:solidFill>
              <a:srgbClr val="287A74"/>
            </a:solidFill>
          </p:spPr>
        </p:sp>
        <p:sp>
          <p:nvSpPr>
            <p:cNvPr name="TextBox 5" id="5"/>
            <p:cNvSpPr txBox="true"/>
            <p:nvPr/>
          </p:nvSpPr>
          <p:spPr>
            <a:xfrm>
              <a:off x="0" y="-28575"/>
              <a:ext cx="1565327" cy="940306"/>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217159" y="3042753"/>
            <a:ext cx="4710194" cy="2100747"/>
          </a:xfrm>
          <a:prstGeom prst="rect">
            <a:avLst/>
          </a:prstGeom>
        </p:spPr>
        <p:txBody>
          <a:bodyPr anchor="t" rtlCol="false" tIns="0" lIns="0" bIns="0" rIns="0">
            <a:spAutoFit/>
          </a:bodyPr>
          <a:lstStyle/>
          <a:p>
            <a:pPr algn="ctr">
              <a:lnSpc>
                <a:spcPts val="4440"/>
              </a:lnSpc>
            </a:pPr>
            <a:r>
              <a:rPr lang="en-US" sz="2902" spc="-26">
                <a:solidFill>
                  <a:srgbClr val="FFFFFF"/>
                </a:solidFill>
                <a:latin typeface="Crusoe Text"/>
                <a:ea typeface="Crusoe Text"/>
                <a:cs typeface="Crusoe Text"/>
                <a:sym typeface="Crusoe Text"/>
              </a:rPr>
              <a:t>https://en.encyfi.com/culture-society/role-of-humor-in-culture-7294</a:t>
            </a:r>
          </a:p>
          <a:p>
            <a:pPr algn="ctr" marL="0" indent="0" lvl="0">
              <a:lnSpc>
                <a:spcPts val="3522"/>
              </a:lnSpc>
            </a:pPr>
          </a:p>
        </p:txBody>
      </p:sp>
      <p:sp>
        <p:nvSpPr>
          <p:cNvPr name="TextBox 7" id="7"/>
          <p:cNvSpPr txBox="true"/>
          <p:nvPr/>
        </p:nvSpPr>
        <p:spPr>
          <a:xfrm rot="0">
            <a:off x="1028700" y="779009"/>
            <a:ext cx="16270849" cy="847089"/>
          </a:xfrm>
          <a:prstGeom prst="rect">
            <a:avLst/>
          </a:prstGeom>
        </p:spPr>
        <p:txBody>
          <a:bodyPr anchor="t" rtlCol="false" tIns="0" lIns="0" bIns="0" rIns="0">
            <a:spAutoFit/>
          </a:bodyPr>
          <a:lstStyle/>
          <a:p>
            <a:pPr algn="ctr" marL="0" indent="0" lvl="0">
              <a:lnSpc>
                <a:spcPts val="5599"/>
              </a:lnSpc>
            </a:pPr>
            <a:r>
              <a:rPr lang="en-US" sz="5599" spc="610">
                <a:solidFill>
                  <a:srgbClr val="1C1679"/>
                </a:solidFill>
                <a:latin typeface="Funtastic"/>
                <a:ea typeface="Funtastic"/>
                <a:cs typeface="Funtastic"/>
                <a:sym typeface="Funtastic"/>
              </a:rPr>
              <a:t>THE REFERENCES</a:t>
            </a:r>
          </a:p>
        </p:txBody>
      </p:sp>
      <p:grpSp>
        <p:nvGrpSpPr>
          <p:cNvPr name="Group 8" id="8"/>
          <p:cNvGrpSpPr/>
          <p:nvPr/>
        </p:nvGrpSpPr>
        <p:grpSpPr>
          <a:xfrm rot="0">
            <a:off x="6595178" y="2506947"/>
            <a:ext cx="5137894" cy="2992588"/>
            <a:chOff x="0" y="0"/>
            <a:chExt cx="1565327" cy="911731"/>
          </a:xfrm>
        </p:grpSpPr>
        <p:sp>
          <p:nvSpPr>
            <p:cNvPr name="Freeform 9" id="9"/>
            <p:cNvSpPr/>
            <p:nvPr/>
          </p:nvSpPr>
          <p:spPr>
            <a:xfrm flipH="false" flipV="false" rot="0">
              <a:off x="0" y="0"/>
              <a:ext cx="1565327" cy="911731"/>
            </a:xfrm>
            <a:custGeom>
              <a:avLst/>
              <a:gdLst/>
              <a:ahLst/>
              <a:cxnLst/>
              <a:rect r="r" b="b" t="t" l="l"/>
              <a:pathLst>
                <a:path h="911731" w="1565327">
                  <a:moveTo>
                    <a:pt x="76848" y="0"/>
                  </a:moveTo>
                  <a:lnTo>
                    <a:pt x="1488478" y="0"/>
                  </a:lnTo>
                  <a:cubicBezTo>
                    <a:pt x="1508860" y="0"/>
                    <a:pt x="1528407" y="8096"/>
                    <a:pt x="1542818" y="22508"/>
                  </a:cubicBezTo>
                  <a:cubicBezTo>
                    <a:pt x="1557230" y="36920"/>
                    <a:pt x="1565327" y="56467"/>
                    <a:pt x="1565327" y="76848"/>
                  </a:cubicBezTo>
                  <a:lnTo>
                    <a:pt x="1565327" y="834883"/>
                  </a:lnTo>
                  <a:cubicBezTo>
                    <a:pt x="1565327" y="855264"/>
                    <a:pt x="1557230" y="874811"/>
                    <a:pt x="1542818" y="889223"/>
                  </a:cubicBezTo>
                  <a:cubicBezTo>
                    <a:pt x="1528407" y="903635"/>
                    <a:pt x="1508860" y="911731"/>
                    <a:pt x="1488478" y="911731"/>
                  </a:cubicBezTo>
                  <a:lnTo>
                    <a:pt x="76848" y="911731"/>
                  </a:lnTo>
                  <a:cubicBezTo>
                    <a:pt x="56467" y="911731"/>
                    <a:pt x="36920" y="903635"/>
                    <a:pt x="22508" y="889223"/>
                  </a:cubicBezTo>
                  <a:cubicBezTo>
                    <a:pt x="8096" y="874811"/>
                    <a:pt x="0" y="855264"/>
                    <a:pt x="0" y="834883"/>
                  </a:cubicBezTo>
                  <a:lnTo>
                    <a:pt x="0" y="76848"/>
                  </a:lnTo>
                  <a:cubicBezTo>
                    <a:pt x="0" y="56467"/>
                    <a:pt x="8096" y="36920"/>
                    <a:pt x="22508" y="22508"/>
                  </a:cubicBezTo>
                  <a:cubicBezTo>
                    <a:pt x="36920" y="8096"/>
                    <a:pt x="56467" y="0"/>
                    <a:pt x="76848" y="0"/>
                  </a:cubicBezTo>
                  <a:close/>
                </a:path>
              </a:pathLst>
            </a:custGeom>
            <a:solidFill>
              <a:srgbClr val="287A74"/>
            </a:solidFill>
          </p:spPr>
        </p:sp>
        <p:sp>
          <p:nvSpPr>
            <p:cNvPr name="TextBox 10" id="10"/>
            <p:cNvSpPr txBox="true"/>
            <p:nvPr/>
          </p:nvSpPr>
          <p:spPr>
            <a:xfrm>
              <a:off x="0" y="-28575"/>
              <a:ext cx="1565327" cy="940306"/>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6801079" y="2889388"/>
            <a:ext cx="4726091" cy="2161031"/>
          </a:xfrm>
          <a:prstGeom prst="rect">
            <a:avLst/>
          </a:prstGeom>
        </p:spPr>
        <p:txBody>
          <a:bodyPr anchor="t" rtlCol="false" tIns="0" lIns="0" bIns="0" rIns="0">
            <a:spAutoFit/>
          </a:bodyPr>
          <a:lstStyle/>
          <a:p>
            <a:pPr algn="ctr" marL="0" indent="0" lvl="0">
              <a:lnSpc>
                <a:spcPts val="3519"/>
              </a:lnSpc>
            </a:pPr>
            <a:r>
              <a:rPr lang="en-US" b="true" sz="2300" spc="-20">
                <a:solidFill>
                  <a:srgbClr val="FFFFFF"/>
                </a:solidFill>
                <a:latin typeface="Crusoe Text Bold"/>
                <a:ea typeface="Crusoe Text Bold"/>
                <a:cs typeface="Crusoe Text Bold"/>
                <a:sym typeface="Crusoe Text Bold"/>
              </a:rPr>
              <a:t>https://www.verseonfire.com/post/the-role-of-humor-in-different-cultures-a-universal-language-with-local-dialects</a:t>
            </a:r>
          </a:p>
        </p:txBody>
      </p:sp>
      <p:grpSp>
        <p:nvGrpSpPr>
          <p:cNvPr name="Group 12" id="12"/>
          <p:cNvGrpSpPr/>
          <p:nvPr/>
        </p:nvGrpSpPr>
        <p:grpSpPr>
          <a:xfrm rot="0">
            <a:off x="12161697" y="2506947"/>
            <a:ext cx="5137894" cy="2992588"/>
            <a:chOff x="0" y="0"/>
            <a:chExt cx="1565327" cy="911731"/>
          </a:xfrm>
        </p:grpSpPr>
        <p:sp>
          <p:nvSpPr>
            <p:cNvPr name="Freeform 13" id="13"/>
            <p:cNvSpPr/>
            <p:nvPr/>
          </p:nvSpPr>
          <p:spPr>
            <a:xfrm flipH="false" flipV="false" rot="0">
              <a:off x="0" y="0"/>
              <a:ext cx="1565327" cy="911731"/>
            </a:xfrm>
            <a:custGeom>
              <a:avLst/>
              <a:gdLst/>
              <a:ahLst/>
              <a:cxnLst/>
              <a:rect r="r" b="b" t="t" l="l"/>
              <a:pathLst>
                <a:path h="911731" w="1565327">
                  <a:moveTo>
                    <a:pt x="76848" y="0"/>
                  </a:moveTo>
                  <a:lnTo>
                    <a:pt x="1488478" y="0"/>
                  </a:lnTo>
                  <a:cubicBezTo>
                    <a:pt x="1508860" y="0"/>
                    <a:pt x="1528407" y="8096"/>
                    <a:pt x="1542818" y="22508"/>
                  </a:cubicBezTo>
                  <a:cubicBezTo>
                    <a:pt x="1557230" y="36920"/>
                    <a:pt x="1565327" y="56467"/>
                    <a:pt x="1565327" y="76848"/>
                  </a:cubicBezTo>
                  <a:lnTo>
                    <a:pt x="1565327" y="834883"/>
                  </a:lnTo>
                  <a:cubicBezTo>
                    <a:pt x="1565327" y="855264"/>
                    <a:pt x="1557230" y="874811"/>
                    <a:pt x="1542818" y="889223"/>
                  </a:cubicBezTo>
                  <a:cubicBezTo>
                    <a:pt x="1528407" y="903635"/>
                    <a:pt x="1508860" y="911731"/>
                    <a:pt x="1488478" y="911731"/>
                  </a:cubicBezTo>
                  <a:lnTo>
                    <a:pt x="76848" y="911731"/>
                  </a:lnTo>
                  <a:cubicBezTo>
                    <a:pt x="56467" y="911731"/>
                    <a:pt x="36920" y="903635"/>
                    <a:pt x="22508" y="889223"/>
                  </a:cubicBezTo>
                  <a:cubicBezTo>
                    <a:pt x="8096" y="874811"/>
                    <a:pt x="0" y="855264"/>
                    <a:pt x="0" y="834883"/>
                  </a:cubicBezTo>
                  <a:lnTo>
                    <a:pt x="0" y="76848"/>
                  </a:lnTo>
                  <a:cubicBezTo>
                    <a:pt x="0" y="56467"/>
                    <a:pt x="8096" y="36920"/>
                    <a:pt x="22508" y="22508"/>
                  </a:cubicBezTo>
                  <a:cubicBezTo>
                    <a:pt x="36920" y="8096"/>
                    <a:pt x="56467" y="0"/>
                    <a:pt x="76848" y="0"/>
                  </a:cubicBezTo>
                  <a:close/>
                </a:path>
              </a:pathLst>
            </a:custGeom>
            <a:solidFill>
              <a:srgbClr val="287A74"/>
            </a:solidFill>
          </p:spPr>
        </p:sp>
        <p:sp>
          <p:nvSpPr>
            <p:cNvPr name="TextBox 14" id="14"/>
            <p:cNvSpPr txBox="true"/>
            <p:nvPr/>
          </p:nvSpPr>
          <p:spPr>
            <a:xfrm>
              <a:off x="0" y="-28575"/>
              <a:ext cx="1565327" cy="940306"/>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12367598" y="3128478"/>
            <a:ext cx="4726091" cy="1284731"/>
          </a:xfrm>
          <a:prstGeom prst="rect">
            <a:avLst/>
          </a:prstGeom>
        </p:spPr>
        <p:txBody>
          <a:bodyPr anchor="t" rtlCol="false" tIns="0" lIns="0" bIns="0" rIns="0">
            <a:spAutoFit/>
          </a:bodyPr>
          <a:lstStyle/>
          <a:p>
            <a:pPr algn="ctr" marL="0" indent="0" lvl="0">
              <a:lnSpc>
                <a:spcPts val="3519"/>
              </a:lnSpc>
            </a:pPr>
            <a:r>
              <a:rPr lang="en-US" b="true" sz="2300" spc="-20">
                <a:solidFill>
                  <a:srgbClr val="FFFFFF"/>
                </a:solidFill>
                <a:latin typeface="Crusoe Text Bold"/>
                <a:ea typeface="Crusoe Text Bold"/>
                <a:cs typeface="Crusoe Text Bold"/>
                <a:sym typeface="Crusoe Text Bold"/>
              </a:rPr>
              <a:t>https://www.frontiersin.org/journals/psychology/articles/10.3389/fpsyg.2019.00123/full</a:t>
            </a:r>
          </a:p>
        </p:txBody>
      </p:sp>
      <p:grpSp>
        <p:nvGrpSpPr>
          <p:cNvPr name="Group 16" id="16"/>
          <p:cNvGrpSpPr/>
          <p:nvPr/>
        </p:nvGrpSpPr>
        <p:grpSpPr>
          <a:xfrm rot="0">
            <a:off x="3083297" y="6265712"/>
            <a:ext cx="5137894" cy="2992588"/>
            <a:chOff x="0" y="0"/>
            <a:chExt cx="1565327" cy="911731"/>
          </a:xfrm>
        </p:grpSpPr>
        <p:sp>
          <p:nvSpPr>
            <p:cNvPr name="Freeform 17" id="17"/>
            <p:cNvSpPr/>
            <p:nvPr/>
          </p:nvSpPr>
          <p:spPr>
            <a:xfrm flipH="false" flipV="false" rot="0">
              <a:off x="0" y="0"/>
              <a:ext cx="1565327" cy="911731"/>
            </a:xfrm>
            <a:custGeom>
              <a:avLst/>
              <a:gdLst/>
              <a:ahLst/>
              <a:cxnLst/>
              <a:rect r="r" b="b" t="t" l="l"/>
              <a:pathLst>
                <a:path h="911731" w="1565327">
                  <a:moveTo>
                    <a:pt x="76848" y="0"/>
                  </a:moveTo>
                  <a:lnTo>
                    <a:pt x="1488478" y="0"/>
                  </a:lnTo>
                  <a:cubicBezTo>
                    <a:pt x="1508860" y="0"/>
                    <a:pt x="1528407" y="8096"/>
                    <a:pt x="1542818" y="22508"/>
                  </a:cubicBezTo>
                  <a:cubicBezTo>
                    <a:pt x="1557230" y="36920"/>
                    <a:pt x="1565327" y="56467"/>
                    <a:pt x="1565327" y="76848"/>
                  </a:cubicBezTo>
                  <a:lnTo>
                    <a:pt x="1565327" y="834883"/>
                  </a:lnTo>
                  <a:cubicBezTo>
                    <a:pt x="1565327" y="855264"/>
                    <a:pt x="1557230" y="874811"/>
                    <a:pt x="1542818" y="889223"/>
                  </a:cubicBezTo>
                  <a:cubicBezTo>
                    <a:pt x="1528407" y="903635"/>
                    <a:pt x="1508860" y="911731"/>
                    <a:pt x="1488478" y="911731"/>
                  </a:cubicBezTo>
                  <a:lnTo>
                    <a:pt x="76848" y="911731"/>
                  </a:lnTo>
                  <a:cubicBezTo>
                    <a:pt x="56467" y="911731"/>
                    <a:pt x="36920" y="903635"/>
                    <a:pt x="22508" y="889223"/>
                  </a:cubicBezTo>
                  <a:cubicBezTo>
                    <a:pt x="8096" y="874811"/>
                    <a:pt x="0" y="855264"/>
                    <a:pt x="0" y="834883"/>
                  </a:cubicBezTo>
                  <a:lnTo>
                    <a:pt x="0" y="76848"/>
                  </a:lnTo>
                  <a:cubicBezTo>
                    <a:pt x="0" y="56467"/>
                    <a:pt x="8096" y="36920"/>
                    <a:pt x="22508" y="22508"/>
                  </a:cubicBezTo>
                  <a:cubicBezTo>
                    <a:pt x="36920" y="8096"/>
                    <a:pt x="56467" y="0"/>
                    <a:pt x="76848" y="0"/>
                  </a:cubicBezTo>
                  <a:close/>
                </a:path>
              </a:pathLst>
            </a:custGeom>
            <a:solidFill>
              <a:srgbClr val="287A74"/>
            </a:solidFill>
          </p:spPr>
        </p:sp>
        <p:sp>
          <p:nvSpPr>
            <p:cNvPr name="TextBox 18" id="18"/>
            <p:cNvSpPr txBox="true"/>
            <p:nvPr/>
          </p:nvSpPr>
          <p:spPr>
            <a:xfrm>
              <a:off x="0" y="-28575"/>
              <a:ext cx="1565327" cy="940306"/>
            </a:xfrm>
            <a:prstGeom prst="rect">
              <a:avLst/>
            </a:prstGeom>
          </p:spPr>
          <p:txBody>
            <a:bodyPr anchor="ctr" rtlCol="false" tIns="50800" lIns="50800" bIns="50800" rIns="50800"/>
            <a:lstStyle/>
            <a:p>
              <a:pPr algn="ctr">
                <a:lnSpc>
                  <a:spcPts val="2659"/>
                </a:lnSpc>
              </a:pPr>
            </a:p>
          </p:txBody>
        </p:sp>
      </p:grpSp>
      <p:sp>
        <p:nvSpPr>
          <p:cNvPr name="TextBox 19" id="19"/>
          <p:cNvSpPr txBox="true"/>
          <p:nvPr/>
        </p:nvSpPr>
        <p:spPr>
          <a:xfrm rot="0">
            <a:off x="3297147" y="7086346"/>
            <a:ext cx="4710194" cy="1284645"/>
          </a:xfrm>
          <a:prstGeom prst="rect">
            <a:avLst/>
          </a:prstGeom>
        </p:spPr>
        <p:txBody>
          <a:bodyPr anchor="t" rtlCol="false" tIns="0" lIns="0" bIns="0" rIns="0">
            <a:spAutoFit/>
          </a:bodyPr>
          <a:lstStyle/>
          <a:p>
            <a:pPr algn="ctr" marL="0" indent="0" lvl="0">
              <a:lnSpc>
                <a:spcPts val="3522"/>
              </a:lnSpc>
            </a:pPr>
            <a:r>
              <a:rPr lang="en-US" b="true" sz="2302" spc="-20">
                <a:solidFill>
                  <a:srgbClr val="FFFFFF"/>
                </a:solidFill>
                <a:latin typeface="Crusoe Text Bold"/>
                <a:ea typeface="Crusoe Text Bold"/>
                <a:cs typeface="Crusoe Text Bold"/>
                <a:sym typeface="Crusoe Text Bold"/>
              </a:rPr>
              <a:t>https://rephrasely.com/blog/challenges-translating-humor-across-cultures</a:t>
            </a:r>
          </a:p>
        </p:txBody>
      </p:sp>
      <p:grpSp>
        <p:nvGrpSpPr>
          <p:cNvPr name="Group 20" id="20"/>
          <p:cNvGrpSpPr/>
          <p:nvPr/>
        </p:nvGrpSpPr>
        <p:grpSpPr>
          <a:xfrm rot="0">
            <a:off x="9798651" y="6265712"/>
            <a:ext cx="5137894" cy="2992588"/>
            <a:chOff x="0" y="0"/>
            <a:chExt cx="1565327" cy="911731"/>
          </a:xfrm>
        </p:grpSpPr>
        <p:sp>
          <p:nvSpPr>
            <p:cNvPr name="Freeform 21" id="21"/>
            <p:cNvSpPr/>
            <p:nvPr/>
          </p:nvSpPr>
          <p:spPr>
            <a:xfrm flipH="false" flipV="false" rot="0">
              <a:off x="0" y="0"/>
              <a:ext cx="1565327" cy="911731"/>
            </a:xfrm>
            <a:custGeom>
              <a:avLst/>
              <a:gdLst/>
              <a:ahLst/>
              <a:cxnLst/>
              <a:rect r="r" b="b" t="t" l="l"/>
              <a:pathLst>
                <a:path h="911731" w="1565327">
                  <a:moveTo>
                    <a:pt x="76848" y="0"/>
                  </a:moveTo>
                  <a:lnTo>
                    <a:pt x="1488478" y="0"/>
                  </a:lnTo>
                  <a:cubicBezTo>
                    <a:pt x="1508860" y="0"/>
                    <a:pt x="1528407" y="8096"/>
                    <a:pt x="1542818" y="22508"/>
                  </a:cubicBezTo>
                  <a:cubicBezTo>
                    <a:pt x="1557230" y="36920"/>
                    <a:pt x="1565327" y="56467"/>
                    <a:pt x="1565327" y="76848"/>
                  </a:cubicBezTo>
                  <a:lnTo>
                    <a:pt x="1565327" y="834883"/>
                  </a:lnTo>
                  <a:cubicBezTo>
                    <a:pt x="1565327" y="855264"/>
                    <a:pt x="1557230" y="874811"/>
                    <a:pt x="1542818" y="889223"/>
                  </a:cubicBezTo>
                  <a:cubicBezTo>
                    <a:pt x="1528407" y="903635"/>
                    <a:pt x="1508860" y="911731"/>
                    <a:pt x="1488478" y="911731"/>
                  </a:cubicBezTo>
                  <a:lnTo>
                    <a:pt x="76848" y="911731"/>
                  </a:lnTo>
                  <a:cubicBezTo>
                    <a:pt x="56467" y="911731"/>
                    <a:pt x="36920" y="903635"/>
                    <a:pt x="22508" y="889223"/>
                  </a:cubicBezTo>
                  <a:cubicBezTo>
                    <a:pt x="8096" y="874811"/>
                    <a:pt x="0" y="855264"/>
                    <a:pt x="0" y="834883"/>
                  </a:cubicBezTo>
                  <a:lnTo>
                    <a:pt x="0" y="76848"/>
                  </a:lnTo>
                  <a:cubicBezTo>
                    <a:pt x="0" y="56467"/>
                    <a:pt x="8096" y="36920"/>
                    <a:pt x="22508" y="22508"/>
                  </a:cubicBezTo>
                  <a:cubicBezTo>
                    <a:pt x="36920" y="8096"/>
                    <a:pt x="56467" y="0"/>
                    <a:pt x="76848" y="0"/>
                  </a:cubicBezTo>
                  <a:close/>
                </a:path>
              </a:pathLst>
            </a:custGeom>
            <a:solidFill>
              <a:srgbClr val="287A74"/>
            </a:solidFill>
          </p:spPr>
        </p:sp>
        <p:sp>
          <p:nvSpPr>
            <p:cNvPr name="TextBox 22" id="22"/>
            <p:cNvSpPr txBox="true"/>
            <p:nvPr/>
          </p:nvSpPr>
          <p:spPr>
            <a:xfrm>
              <a:off x="0" y="-28575"/>
              <a:ext cx="1565327" cy="940306"/>
            </a:xfrm>
            <a:prstGeom prst="rect">
              <a:avLst/>
            </a:prstGeom>
          </p:spPr>
          <p:txBody>
            <a:bodyPr anchor="ctr" rtlCol="false" tIns="50800" lIns="50800" bIns="50800" rIns="50800"/>
            <a:lstStyle/>
            <a:p>
              <a:pPr algn="ctr">
                <a:lnSpc>
                  <a:spcPts val="2659"/>
                </a:lnSpc>
              </a:pPr>
            </a:p>
          </p:txBody>
        </p:sp>
      </p:grpSp>
      <p:sp>
        <p:nvSpPr>
          <p:cNvPr name="TextBox 23" id="23"/>
          <p:cNvSpPr txBox="true"/>
          <p:nvPr/>
        </p:nvSpPr>
        <p:spPr>
          <a:xfrm rot="0">
            <a:off x="10012501" y="7086346"/>
            <a:ext cx="4710194" cy="1284645"/>
          </a:xfrm>
          <a:prstGeom prst="rect">
            <a:avLst/>
          </a:prstGeom>
        </p:spPr>
        <p:txBody>
          <a:bodyPr anchor="t" rtlCol="false" tIns="0" lIns="0" bIns="0" rIns="0">
            <a:spAutoFit/>
          </a:bodyPr>
          <a:lstStyle/>
          <a:p>
            <a:pPr algn="ctr" marL="0" indent="0" lvl="0">
              <a:lnSpc>
                <a:spcPts val="3522"/>
              </a:lnSpc>
            </a:pPr>
            <a:r>
              <a:rPr lang="en-US" b="true" sz="2302" spc="-20">
                <a:solidFill>
                  <a:srgbClr val="FFFFFF"/>
                </a:solidFill>
                <a:latin typeface="Crusoe Text Bold"/>
                <a:ea typeface="Crusoe Text Bold"/>
                <a:cs typeface="Crusoe Text Bold"/>
                <a:sym typeface="Crusoe Text Bold"/>
              </a:rPr>
              <a:t>https://magnifymind.com/psychology-of-cross-cultural-comedy/</a:t>
            </a:r>
          </a:p>
        </p:txBody>
      </p:sp>
      <p:sp>
        <p:nvSpPr>
          <p:cNvPr name="Freeform 24" id="24"/>
          <p:cNvSpPr/>
          <p:nvPr/>
        </p:nvSpPr>
        <p:spPr>
          <a:xfrm flipH="false" flipV="true" rot="0">
            <a:off x="14722695" y="8370991"/>
            <a:ext cx="3557356" cy="2373727"/>
          </a:xfrm>
          <a:custGeom>
            <a:avLst/>
            <a:gdLst/>
            <a:ahLst/>
            <a:cxnLst/>
            <a:rect r="r" b="b" t="t" l="l"/>
            <a:pathLst>
              <a:path h="2373727" w="3557356">
                <a:moveTo>
                  <a:pt x="0" y="2373727"/>
                </a:moveTo>
                <a:lnTo>
                  <a:pt x="3557356" y="2373727"/>
                </a:lnTo>
                <a:lnTo>
                  <a:pt x="3557356" y="0"/>
                </a:lnTo>
                <a:lnTo>
                  <a:pt x="0" y="0"/>
                </a:lnTo>
                <a:lnTo>
                  <a:pt x="0" y="2373727"/>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25" id="25"/>
          <p:cNvSpPr/>
          <p:nvPr/>
        </p:nvSpPr>
        <p:spPr>
          <a:xfrm flipH="true" flipV="false" rot="-792270">
            <a:off x="594785" y="336383"/>
            <a:ext cx="1424176" cy="1732342"/>
          </a:xfrm>
          <a:custGeom>
            <a:avLst/>
            <a:gdLst/>
            <a:ahLst/>
            <a:cxnLst/>
            <a:rect r="r" b="b" t="t" l="l"/>
            <a:pathLst>
              <a:path h="1732342" w="1424176">
                <a:moveTo>
                  <a:pt x="1424176" y="0"/>
                </a:moveTo>
                <a:lnTo>
                  <a:pt x="0" y="0"/>
                </a:lnTo>
                <a:lnTo>
                  <a:pt x="0" y="1732341"/>
                </a:lnTo>
                <a:lnTo>
                  <a:pt x="1424176" y="1732341"/>
                </a:lnTo>
                <a:lnTo>
                  <a:pt x="1424176"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transition spd="slow">
    <p:cover dir="l"/>
  </p:transition>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173B39"/>
        </a:solidFill>
      </p:bgPr>
    </p:bg>
    <p:spTree>
      <p:nvGrpSpPr>
        <p:cNvPr id="1" name=""/>
        <p:cNvGrpSpPr/>
        <p:nvPr/>
      </p:nvGrpSpPr>
      <p:grpSpPr>
        <a:xfrm>
          <a:off x="0" y="0"/>
          <a:ext cx="0" cy="0"/>
          <a:chOff x="0" y="0"/>
          <a:chExt cx="0" cy="0"/>
        </a:xfrm>
      </p:grpSpPr>
      <p:sp>
        <p:nvSpPr>
          <p:cNvPr name="Freeform 2" id="2"/>
          <p:cNvSpPr/>
          <p:nvPr/>
        </p:nvSpPr>
        <p:spPr>
          <a:xfrm flipH="false" flipV="false" rot="0">
            <a:off x="11570310" y="1379653"/>
            <a:ext cx="5297731" cy="6429285"/>
          </a:xfrm>
          <a:custGeom>
            <a:avLst/>
            <a:gdLst/>
            <a:ahLst/>
            <a:cxnLst/>
            <a:rect r="r" b="b" t="t" l="l"/>
            <a:pathLst>
              <a:path h="6429285" w="5297731">
                <a:moveTo>
                  <a:pt x="0" y="0"/>
                </a:moveTo>
                <a:lnTo>
                  <a:pt x="5297730" y="0"/>
                </a:lnTo>
                <a:lnTo>
                  <a:pt x="5297730" y="6429284"/>
                </a:lnTo>
                <a:lnTo>
                  <a:pt x="0" y="642928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rot="0">
            <a:off x="0" y="0"/>
            <a:ext cx="10779374" cy="10287000"/>
          </a:xfrm>
          <a:prstGeom prst="rect">
            <a:avLst/>
          </a:prstGeom>
          <a:solidFill>
            <a:srgbClr val="287A74"/>
          </a:solidFill>
        </p:spPr>
      </p:sp>
      <p:grpSp>
        <p:nvGrpSpPr>
          <p:cNvPr name="Group 4" id="4"/>
          <p:cNvGrpSpPr/>
          <p:nvPr/>
        </p:nvGrpSpPr>
        <p:grpSpPr>
          <a:xfrm rot="0">
            <a:off x="-1165679" y="712157"/>
            <a:ext cx="2331359" cy="2331359"/>
            <a:chOff x="0" y="0"/>
            <a:chExt cx="6350000" cy="6350000"/>
          </a:xfrm>
        </p:grpSpPr>
        <p:sp>
          <p:nvSpPr>
            <p:cNvPr name="Freeform 5" id="5"/>
            <p:cNvSpPr/>
            <p:nvPr/>
          </p:nvSpPr>
          <p:spPr>
            <a:xfrm flipH="false" flipV="false" rot="0">
              <a:off x="0" y="0"/>
              <a:ext cx="6350000" cy="6350000"/>
            </a:xfrm>
            <a:custGeom>
              <a:avLst/>
              <a:gdLst/>
              <a:ahLst/>
              <a:cxnLst/>
              <a:rect r="r" b="b" t="t" l="l"/>
              <a:pathLst>
                <a:path h="6350000" w="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DEDCDB"/>
            </a:solidFill>
          </p:spPr>
        </p:sp>
      </p:grpSp>
      <p:sp>
        <p:nvSpPr>
          <p:cNvPr name="TextBox 6" id="6"/>
          <p:cNvSpPr txBox="true"/>
          <p:nvPr/>
        </p:nvSpPr>
        <p:spPr>
          <a:xfrm rot="0">
            <a:off x="689567" y="3248100"/>
            <a:ext cx="8946155" cy="4218338"/>
          </a:xfrm>
          <a:prstGeom prst="rect">
            <a:avLst/>
          </a:prstGeom>
        </p:spPr>
        <p:txBody>
          <a:bodyPr anchor="t" rtlCol="false" tIns="0" lIns="0" bIns="0" rIns="0">
            <a:spAutoFit/>
          </a:bodyPr>
          <a:lstStyle/>
          <a:p>
            <a:pPr algn="ctr">
              <a:lnSpc>
                <a:spcPts val="10788"/>
              </a:lnSpc>
            </a:pPr>
            <a:r>
              <a:rPr lang="en-US" sz="12544" spc="878">
                <a:solidFill>
                  <a:srgbClr val="A3EBEC"/>
                </a:solidFill>
                <a:latin typeface="DM Serif Display"/>
                <a:ea typeface="DM Serif Display"/>
                <a:cs typeface="DM Serif Display"/>
                <a:sym typeface="DM Serif Display"/>
              </a:rPr>
              <a:t>Thank you for your attention!</a:t>
            </a:r>
          </a:p>
        </p:txBody>
      </p:sp>
      <p:sp>
        <p:nvSpPr>
          <p:cNvPr name="Freeform 7" id="7"/>
          <p:cNvSpPr/>
          <p:nvPr/>
        </p:nvSpPr>
        <p:spPr>
          <a:xfrm flipH="false" flipV="false" rot="0">
            <a:off x="5389687" y="8586593"/>
            <a:ext cx="1766792" cy="2057400"/>
          </a:xfrm>
          <a:custGeom>
            <a:avLst/>
            <a:gdLst/>
            <a:ahLst/>
            <a:cxnLst/>
            <a:rect r="r" b="b" t="t" l="l"/>
            <a:pathLst>
              <a:path h="2057400" w="1766792">
                <a:moveTo>
                  <a:pt x="0" y="0"/>
                </a:moveTo>
                <a:lnTo>
                  <a:pt x="1766792" y="0"/>
                </a:lnTo>
                <a:lnTo>
                  <a:pt x="1766792"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false" flipV="false" rot="0">
            <a:off x="10366280" y="-179564"/>
            <a:ext cx="1766792" cy="2057400"/>
          </a:xfrm>
          <a:custGeom>
            <a:avLst/>
            <a:gdLst/>
            <a:ahLst/>
            <a:cxnLst/>
            <a:rect r="r" b="b" t="t" l="l"/>
            <a:pathLst>
              <a:path h="2057400" w="1766792">
                <a:moveTo>
                  <a:pt x="0" y="0"/>
                </a:moveTo>
                <a:lnTo>
                  <a:pt x="1766792" y="0"/>
                </a:lnTo>
                <a:lnTo>
                  <a:pt x="1766792" y="2057400"/>
                </a:lnTo>
                <a:lnTo>
                  <a:pt x="0" y="20574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transition spd="slow">
    <p:cover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DAGl3t9Ui4k</dc:identifier>
  <dcterms:modified xsi:type="dcterms:W3CDTF">2011-08-01T06:04:30Z</dcterms:modified>
  <cp:revision>1</cp:revision>
  <dc:title>Understanding humor, irony, implicit cultural references english presentation</dc:title>
</cp:coreProperties>
</file>