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Gagalin" charset="1" panose="00000500000000000000"/>
      <p:regular r:id="rId22"/>
    </p:embeddedFont>
    <p:embeddedFont>
      <p:font typeface="Glacial Indifference" charset="1" panose="00000000000000000000"/>
      <p:regular r:id="rId23"/>
    </p:embeddedFont>
    <p:embeddedFont>
      <p:font typeface="Glacial Indifference Bold" charset="1" panose="00000800000000000000"/>
      <p:regular r:id="rId24"/>
    </p:embeddedFon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  <p:embeddedFont>
      <p:font typeface="Open Sans Bold" charset="1" panose="020B0806030504020204"/>
      <p:regular r:id="rId27"/>
    </p:embeddedFont>
    <p:embeddedFont>
      <p:font typeface="Open Sans" charset="1" panose="020B0606030504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youtube.com/watch?v=L3G1z2nQTS4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E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6819" y="-793675"/>
            <a:ext cx="15750622" cy="11537330"/>
          </a:xfrm>
          <a:custGeom>
            <a:avLst/>
            <a:gdLst/>
            <a:ahLst/>
            <a:cxnLst/>
            <a:rect r="r" b="b" t="t" l="l"/>
            <a:pathLst>
              <a:path h="11537330" w="15750622">
                <a:moveTo>
                  <a:pt x="0" y="0"/>
                </a:moveTo>
                <a:lnTo>
                  <a:pt x="15750622" y="0"/>
                </a:lnTo>
                <a:lnTo>
                  <a:pt x="15750622" y="11537330"/>
                </a:lnTo>
                <a:lnTo>
                  <a:pt x="0" y="1153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0058" y="15552"/>
            <a:ext cx="13437100" cy="9842676"/>
          </a:xfrm>
          <a:custGeom>
            <a:avLst/>
            <a:gdLst/>
            <a:ahLst/>
            <a:cxnLst/>
            <a:rect r="r" b="b" t="t" l="l"/>
            <a:pathLst>
              <a:path h="9842676" w="13437100">
                <a:moveTo>
                  <a:pt x="0" y="0"/>
                </a:moveTo>
                <a:lnTo>
                  <a:pt x="13437100" y="0"/>
                </a:lnTo>
                <a:lnTo>
                  <a:pt x="13437100" y="9842676"/>
                </a:lnTo>
                <a:lnTo>
                  <a:pt x="0" y="98426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3135447" y="6886849"/>
            <a:ext cx="6906091" cy="1406331"/>
          </a:xfrm>
          <a:custGeom>
            <a:avLst/>
            <a:gdLst/>
            <a:ahLst/>
            <a:cxnLst/>
            <a:rect r="r" b="b" t="t" l="l"/>
            <a:pathLst>
              <a:path h="1406331" w="6906091">
                <a:moveTo>
                  <a:pt x="6906091" y="0"/>
                </a:moveTo>
                <a:lnTo>
                  <a:pt x="0" y="0"/>
                </a:lnTo>
                <a:lnTo>
                  <a:pt x="0" y="1406331"/>
                </a:lnTo>
                <a:lnTo>
                  <a:pt x="6906091" y="1406331"/>
                </a:lnTo>
                <a:lnTo>
                  <a:pt x="690609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507071" y="4291338"/>
            <a:ext cx="1157194" cy="11571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137956" y="5622551"/>
            <a:ext cx="7853523" cy="5341257"/>
          </a:xfrm>
          <a:custGeom>
            <a:avLst/>
            <a:gdLst/>
            <a:ahLst/>
            <a:cxnLst/>
            <a:rect r="r" b="b" t="t" l="l"/>
            <a:pathLst>
              <a:path h="5341257" w="7853523">
                <a:moveTo>
                  <a:pt x="0" y="0"/>
                </a:moveTo>
                <a:lnTo>
                  <a:pt x="7853524" y="0"/>
                </a:lnTo>
                <a:lnTo>
                  <a:pt x="7853524" y="5341258"/>
                </a:lnTo>
                <a:lnTo>
                  <a:pt x="0" y="53412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0574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597029" y="5393113"/>
            <a:ext cx="496977" cy="49697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47402" y="4501448"/>
            <a:ext cx="1797424" cy="3198159"/>
            <a:chOff x="0" y="0"/>
            <a:chExt cx="473395" cy="8423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3395" cy="842313"/>
            </a:xfrm>
            <a:custGeom>
              <a:avLst/>
              <a:gdLst/>
              <a:ahLst/>
              <a:cxnLst/>
              <a:rect r="r" b="b" t="t" l="l"/>
              <a:pathLst>
                <a:path h="842313" w="473395">
                  <a:moveTo>
                    <a:pt x="0" y="0"/>
                  </a:moveTo>
                  <a:lnTo>
                    <a:pt x="473395" y="0"/>
                  </a:lnTo>
                  <a:lnTo>
                    <a:pt x="473395" y="842313"/>
                  </a:lnTo>
                  <a:lnTo>
                    <a:pt x="0" y="842313"/>
                  </a:lnTo>
                  <a:close/>
                </a:path>
              </a:pathLst>
            </a:custGeom>
            <a:solidFill>
              <a:srgbClr val="FFCE6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73395" cy="880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507071" y="-412994"/>
            <a:ext cx="4780929" cy="2685458"/>
          </a:xfrm>
          <a:custGeom>
            <a:avLst/>
            <a:gdLst/>
            <a:ahLst/>
            <a:cxnLst/>
            <a:rect r="r" b="b" t="t" l="l"/>
            <a:pathLst>
              <a:path h="2685458" w="4780929">
                <a:moveTo>
                  <a:pt x="0" y="0"/>
                </a:moveTo>
                <a:lnTo>
                  <a:pt x="4780929" y="0"/>
                </a:lnTo>
                <a:lnTo>
                  <a:pt x="4780929" y="2685458"/>
                </a:lnTo>
                <a:lnTo>
                  <a:pt x="0" y="26854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96125" y="1301210"/>
            <a:ext cx="9984734" cy="524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84"/>
              </a:lnSpc>
            </a:pPr>
            <a:r>
              <a:rPr lang="en-US" sz="14499">
                <a:solidFill>
                  <a:srgbClr val="291B25"/>
                </a:solidFill>
                <a:latin typeface="Gagalin"/>
                <a:ea typeface="Gagalin"/>
                <a:cs typeface="Gagalin"/>
                <a:sym typeface="Gagalin"/>
              </a:rPr>
              <a:t>frame critical remaks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91052" y="7120143"/>
            <a:ext cx="6394880" cy="104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72"/>
              </a:lnSpc>
            </a:pPr>
            <a:r>
              <a:rPr lang="en-US" sz="6122" spc="48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SKILLS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E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5334" y="-1196526"/>
            <a:ext cx="18013101" cy="13194596"/>
          </a:xfrm>
          <a:custGeom>
            <a:avLst/>
            <a:gdLst/>
            <a:ahLst/>
            <a:cxnLst/>
            <a:rect r="r" b="b" t="t" l="l"/>
            <a:pathLst>
              <a:path h="13194596" w="18013101">
                <a:moveTo>
                  <a:pt x="0" y="0"/>
                </a:moveTo>
                <a:lnTo>
                  <a:pt x="18013101" y="0"/>
                </a:lnTo>
                <a:lnTo>
                  <a:pt x="18013101" y="13194597"/>
                </a:lnTo>
                <a:lnTo>
                  <a:pt x="0" y="13194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19626" y="2471142"/>
            <a:ext cx="5813877" cy="5859261"/>
            <a:chOff x="0" y="0"/>
            <a:chExt cx="806504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6504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4">
                  <a:moveTo>
                    <a:pt x="403252" y="0"/>
                  </a:moveTo>
                  <a:cubicBezTo>
                    <a:pt x="180542" y="0"/>
                    <a:pt x="0" y="181951"/>
                    <a:pt x="0" y="406400"/>
                  </a:cubicBezTo>
                  <a:cubicBezTo>
                    <a:pt x="0" y="630849"/>
                    <a:pt x="180542" y="812800"/>
                    <a:pt x="403252" y="812800"/>
                  </a:cubicBezTo>
                  <a:cubicBezTo>
                    <a:pt x="625962" y="812800"/>
                    <a:pt x="806504" y="630849"/>
                    <a:pt x="806504" y="406400"/>
                  </a:cubicBezTo>
                  <a:cubicBezTo>
                    <a:pt x="806504" y="181951"/>
                    <a:pt x="625962" y="0"/>
                    <a:pt x="40325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108" r="0" b="-40252"/>
              </a:stretch>
            </a:blipFill>
            <a:ln w="76200" cap="sq">
              <a:solidFill>
                <a:srgbClr val="2244B4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5513023" y="778438"/>
            <a:ext cx="7261954" cy="1135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8"/>
              </a:lnSpc>
            </a:pPr>
            <a:r>
              <a:rPr lang="en-US" sz="8400">
                <a:solidFill>
                  <a:srgbClr val="E28413"/>
                </a:solidFill>
                <a:latin typeface="Gagalin"/>
                <a:ea typeface="Gagalin"/>
                <a:cs typeface="Gagalin"/>
                <a:sym typeface="Gagalin"/>
              </a:rPr>
              <a:t>TEAM MEMBERS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24244" y="8695579"/>
            <a:ext cx="4900864" cy="685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5000">
                <a:solidFill>
                  <a:srgbClr val="2244B4"/>
                </a:solidFill>
                <a:latin typeface="Gagalin"/>
                <a:ea typeface="Gagalin"/>
                <a:cs typeface="Gagalin"/>
                <a:sym typeface="Gagalin"/>
              </a:rPr>
              <a:t>Soukaina Mouna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21198" y="8695579"/>
            <a:ext cx="4049626" cy="685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5000">
                <a:solidFill>
                  <a:srgbClr val="2244B4"/>
                </a:solidFill>
                <a:latin typeface="Gagalin"/>
                <a:ea typeface="Gagalin"/>
                <a:cs typeface="Gagalin"/>
                <a:sym typeface="Gagalin"/>
              </a:rPr>
              <a:t>HIND RHAYOUR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60546" y="2471142"/>
            <a:ext cx="5970932" cy="5859261"/>
            <a:chOff x="0" y="0"/>
            <a:chExt cx="22999563" cy="225694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99564" cy="22569418"/>
            </a:xfrm>
            <a:custGeom>
              <a:avLst/>
              <a:gdLst/>
              <a:ahLst/>
              <a:cxnLst/>
              <a:rect r="r" b="b" t="t" l="l"/>
              <a:pathLst>
                <a:path h="22569418" w="22999564">
                  <a:moveTo>
                    <a:pt x="22999564" y="11284845"/>
                  </a:moveTo>
                  <a:cubicBezTo>
                    <a:pt x="22999564" y="17516963"/>
                    <a:pt x="17850834" y="22569418"/>
                    <a:pt x="11499781" y="22569418"/>
                  </a:cubicBezTo>
                  <a:cubicBezTo>
                    <a:pt x="5148636" y="22569418"/>
                    <a:pt x="0" y="17516963"/>
                    <a:pt x="0" y="11284845"/>
                  </a:cubicBezTo>
                  <a:cubicBezTo>
                    <a:pt x="0" y="5052410"/>
                    <a:pt x="5148636" y="0"/>
                    <a:pt x="11499781" y="0"/>
                  </a:cubicBezTo>
                  <a:cubicBezTo>
                    <a:pt x="17850927" y="0"/>
                    <a:pt x="22999564" y="5052410"/>
                    <a:pt x="22999564" y="11284845"/>
                  </a:cubicBezTo>
                  <a:close/>
                </a:path>
              </a:pathLst>
            </a:custGeom>
            <a:blipFill>
              <a:blip r:embed="rId5"/>
              <a:stretch>
                <a:fillRect l="0" t="-19636" r="0" b="-33318"/>
              </a:stretch>
            </a:blipFill>
            <a:ln w="76200" cap="sq">
              <a:solidFill>
                <a:srgbClr val="2244B4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4654" y="848428"/>
            <a:ext cx="1314379" cy="13143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44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54654" y="2389655"/>
            <a:ext cx="1314379" cy="131437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44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54654" y="4139861"/>
            <a:ext cx="1314379" cy="131437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44B4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54654" y="5890067"/>
            <a:ext cx="1314379" cy="131437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44B4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98461" y="-857384"/>
            <a:ext cx="7145724" cy="11308869"/>
            <a:chOff x="0" y="0"/>
            <a:chExt cx="1882001" cy="2978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82001" cy="2978467"/>
            </a:xfrm>
            <a:custGeom>
              <a:avLst/>
              <a:gdLst/>
              <a:ahLst/>
              <a:cxnLst/>
              <a:rect r="r" b="b" t="t" l="l"/>
              <a:pathLst>
                <a:path h="2978467" w="1882001">
                  <a:moveTo>
                    <a:pt x="0" y="0"/>
                  </a:moveTo>
                  <a:lnTo>
                    <a:pt x="1882001" y="0"/>
                  </a:lnTo>
                  <a:lnTo>
                    <a:pt x="1882001" y="2978467"/>
                  </a:lnTo>
                  <a:lnTo>
                    <a:pt x="0" y="2978467"/>
                  </a:lnTo>
                  <a:close/>
                </a:path>
              </a:pathLst>
            </a:custGeom>
            <a:solidFill>
              <a:srgbClr val="FFCE6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82001" cy="3016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0">
            <a:off x="1028700" y="5143500"/>
            <a:ext cx="4691403" cy="4015240"/>
          </a:xfrm>
          <a:custGeom>
            <a:avLst/>
            <a:gdLst/>
            <a:ahLst/>
            <a:cxnLst/>
            <a:rect r="r" b="b" t="t" l="l"/>
            <a:pathLst>
              <a:path h="4015240" w="4691403">
                <a:moveTo>
                  <a:pt x="4691403" y="0"/>
                </a:moveTo>
                <a:lnTo>
                  <a:pt x="0" y="0"/>
                </a:lnTo>
                <a:lnTo>
                  <a:pt x="0" y="4015240"/>
                </a:lnTo>
                <a:lnTo>
                  <a:pt x="4691403" y="4015240"/>
                </a:lnTo>
                <a:lnTo>
                  <a:pt x="469140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1724692"/>
            <a:ext cx="4891665" cy="285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988"/>
              </a:lnSpc>
            </a:pPr>
            <a:r>
              <a:rPr lang="en-US" sz="11099">
                <a:solidFill>
                  <a:srgbClr val="291B25"/>
                </a:solidFill>
                <a:latin typeface="Gagalin"/>
                <a:ea typeface="Gagalin"/>
                <a:cs typeface="Gagalin"/>
                <a:sym typeface="Gagalin"/>
              </a:rPr>
              <a:t>Lesson </a:t>
            </a:r>
          </a:p>
          <a:p>
            <a:pPr algn="just">
              <a:lnSpc>
                <a:spcPts val="10988"/>
              </a:lnSpc>
            </a:pPr>
            <a:r>
              <a:rPr lang="en-US" sz="11099">
                <a:solidFill>
                  <a:srgbClr val="291B25"/>
                </a:solidFill>
                <a:latin typeface="Gagalin"/>
                <a:ea typeface="Gagalin"/>
                <a:cs typeface="Gagalin"/>
                <a:sym typeface="Gagalin"/>
              </a:rPr>
              <a:t>Outline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02198" y="1066548"/>
            <a:ext cx="9811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spc="36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99197" y="1162115"/>
            <a:ext cx="8160103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39">
                <a:solidFill>
                  <a:srgbClr val="291B2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What Is critical remaks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21248" y="2607775"/>
            <a:ext cx="9811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spc="36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99197" y="2476753"/>
            <a:ext cx="8652889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39">
                <a:solidFill>
                  <a:srgbClr val="291B2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Why framing matters ? - psychological and pratical impacts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02198" y="4401593"/>
            <a:ext cx="9811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spc="36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4340253"/>
            <a:ext cx="8160103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39">
                <a:solidFill>
                  <a:srgbClr val="291B2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Characteristics of Constructive Criticism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21248" y="6106687"/>
            <a:ext cx="9811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spc="36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099197" y="6116212"/>
            <a:ext cx="7923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39">
                <a:solidFill>
                  <a:srgbClr val="291B2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Methods for Framing Constructive Criticism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554654" y="7664521"/>
            <a:ext cx="1314379" cy="1314379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44B4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702198" y="7883560"/>
            <a:ext cx="98119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spc="36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099197" y="7893085"/>
            <a:ext cx="8160103" cy="139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39">
                <a:solidFill>
                  <a:srgbClr val="291B2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Conclusion</a:t>
            </a: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55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92298" y="-2125615"/>
            <a:ext cx="14334005" cy="1433400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051869" y="2315228"/>
            <a:ext cx="6207431" cy="6173572"/>
          </a:xfrm>
          <a:custGeom>
            <a:avLst/>
            <a:gdLst/>
            <a:ahLst/>
            <a:cxnLst/>
            <a:rect r="r" b="b" t="t" l="l"/>
            <a:pathLst>
              <a:path h="6173572" w="6207431">
                <a:moveTo>
                  <a:pt x="0" y="0"/>
                </a:moveTo>
                <a:lnTo>
                  <a:pt x="6207431" y="0"/>
                </a:lnTo>
                <a:lnTo>
                  <a:pt x="6207431" y="6173573"/>
                </a:lnTo>
                <a:lnTo>
                  <a:pt x="0" y="617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4906" y="3515140"/>
            <a:ext cx="9817392" cy="241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09"/>
              </a:lnSpc>
            </a:pPr>
            <a:r>
              <a:rPr lang="en-US" sz="9038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What Is Critical REMARKS?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E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089976" cy="3111637"/>
            <a:chOff x="0" y="0"/>
            <a:chExt cx="5027813" cy="819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7813" cy="819526"/>
            </a:xfrm>
            <a:custGeom>
              <a:avLst/>
              <a:gdLst/>
              <a:ahLst/>
              <a:cxnLst/>
              <a:rect r="r" b="b" t="t" l="l"/>
              <a:pathLst>
                <a:path h="819526" w="5027813">
                  <a:moveTo>
                    <a:pt x="0" y="0"/>
                  </a:moveTo>
                  <a:lnTo>
                    <a:pt x="5027813" y="0"/>
                  </a:lnTo>
                  <a:lnTo>
                    <a:pt x="5027813" y="819526"/>
                  </a:lnTo>
                  <a:lnTo>
                    <a:pt x="0" y="8195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7813" cy="857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27567" y="3540315"/>
            <a:ext cx="12101971" cy="571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4253" indent="-392126" lvl="1">
              <a:lnSpc>
                <a:spcPts val="5085"/>
              </a:lnSpc>
              <a:buFont typeface="Arial"/>
              <a:buChar char="•"/>
            </a:pPr>
            <a:r>
              <a:rPr lang="en-US" b="true" sz="3632">
                <a:solidFill>
                  <a:srgbClr val="4724E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 critical remark</a:t>
            </a:r>
            <a:r>
              <a:rPr lang="en-US" sz="3632">
                <a:solidFill>
                  <a:srgbClr val="4724E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is an evaluation or judgment about an idea, action, behavior, or performance.</a:t>
            </a:r>
          </a:p>
          <a:p>
            <a:pPr algn="l">
              <a:lnSpc>
                <a:spcPts val="5085"/>
              </a:lnSpc>
            </a:pPr>
            <a:r>
              <a:rPr lang="en-US" sz="36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 can be :</a:t>
            </a:r>
          </a:p>
          <a:p>
            <a:pPr algn="l">
              <a:lnSpc>
                <a:spcPts val="5085"/>
              </a:lnSpc>
            </a:pPr>
            <a:r>
              <a:rPr lang="en-US" sz="36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--&gt; </a:t>
            </a:r>
            <a:r>
              <a:rPr lang="en-US" sz="3632">
                <a:solidFill>
                  <a:srgbClr val="7495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32">
                <a:solidFill>
                  <a:srgbClr val="F26B6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Constructive:</a:t>
            </a:r>
            <a:r>
              <a:rPr lang="en-US" sz="36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Aimed at improvement.</a:t>
            </a:r>
          </a:p>
          <a:p>
            <a:pPr algn="l">
              <a:lnSpc>
                <a:spcPts val="5085"/>
              </a:lnSpc>
            </a:pPr>
            <a:r>
              <a:rPr lang="en-US" sz="36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--&gt; </a:t>
            </a:r>
            <a:r>
              <a:rPr lang="en-US" sz="3632">
                <a:solidFill>
                  <a:srgbClr val="F26B6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32">
                <a:solidFill>
                  <a:srgbClr val="F26B6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Destructive:</a:t>
            </a:r>
            <a:r>
              <a:rPr lang="en-US" sz="36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Judging or attacking without helping.</a:t>
            </a:r>
          </a:p>
          <a:p>
            <a:pPr algn="l">
              <a:lnSpc>
                <a:spcPts val="5085"/>
              </a:lnSpc>
            </a:pPr>
          </a:p>
          <a:p>
            <a:pPr algn="l" marL="784253" indent="-392126" lvl="1">
              <a:lnSpc>
                <a:spcPts val="5085"/>
              </a:lnSpc>
              <a:buFont typeface="Arial"/>
              <a:buChar char="•"/>
            </a:pPr>
            <a:r>
              <a:rPr lang="en-US" b="true" sz="3632">
                <a:solidFill>
                  <a:srgbClr val="4724E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Framing </a:t>
            </a:r>
            <a:r>
              <a:rPr lang="en-US" sz="363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refers to how the message is delivered — tone, language, timing, and intention</a:t>
            </a:r>
          </a:p>
          <a:p>
            <a:pPr algn="l">
              <a:lnSpc>
                <a:spcPts val="5085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369617" y="998479"/>
            <a:ext cx="1545443" cy="154544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9731" lIns="59731" bIns="59731" rIns="59731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973177">
            <a:off x="14475495" y="2046308"/>
            <a:ext cx="4630339" cy="7848032"/>
          </a:xfrm>
          <a:custGeom>
            <a:avLst/>
            <a:gdLst/>
            <a:ahLst/>
            <a:cxnLst/>
            <a:rect r="r" b="b" t="t" l="l"/>
            <a:pathLst>
              <a:path h="7848032" w="4630339">
                <a:moveTo>
                  <a:pt x="0" y="0"/>
                </a:moveTo>
                <a:lnTo>
                  <a:pt x="4630339" y="0"/>
                </a:lnTo>
                <a:lnTo>
                  <a:pt x="4630339" y="7848032"/>
                </a:lnTo>
                <a:lnTo>
                  <a:pt x="0" y="7848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84167" y="1246561"/>
            <a:ext cx="11234076" cy="1135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8"/>
              </a:lnSpc>
            </a:pPr>
            <a:r>
              <a:rPr lang="en-US" sz="840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DEFINITIONS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3098" y="1262163"/>
            <a:ext cx="1153682" cy="911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7"/>
              </a:lnSpc>
            </a:pPr>
            <a:r>
              <a:rPr lang="en-US" sz="5291" spc="42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E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1452" y="1028700"/>
            <a:ext cx="1254495" cy="1012763"/>
          </a:xfrm>
          <a:custGeom>
            <a:avLst/>
            <a:gdLst/>
            <a:ahLst/>
            <a:cxnLst/>
            <a:rect r="r" b="b" t="t" l="l"/>
            <a:pathLst>
              <a:path h="1012763" w="1254495">
                <a:moveTo>
                  <a:pt x="0" y="0"/>
                </a:moveTo>
                <a:lnTo>
                  <a:pt x="1254496" y="0"/>
                </a:lnTo>
                <a:lnTo>
                  <a:pt x="1254496" y="1012763"/>
                </a:lnTo>
                <a:lnTo>
                  <a:pt x="0" y="1012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98429" y="1704994"/>
            <a:ext cx="8724520" cy="7855229"/>
          </a:xfrm>
          <a:custGeom>
            <a:avLst/>
            <a:gdLst/>
            <a:ahLst/>
            <a:cxnLst/>
            <a:rect r="r" b="b" t="t" l="l"/>
            <a:pathLst>
              <a:path h="7855229" w="8724520">
                <a:moveTo>
                  <a:pt x="0" y="0"/>
                </a:moveTo>
                <a:lnTo>
                  <a:pt x="8724519" y="0"/>
                </a:lnTo>
                <a:lnTo>
                  <a:pt x="8724519" y="7855228"/>
                </a:lnTo>
                <a:lnTo>
                  <a:pt x="0" y="78552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28390" y="885825"/>
            <a:ext cx="13499759" cy="125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9"/>
              </a:lnSpc>
            </a:pPr>
            <a:r>
              <a:rPr lang="en-US" sz="7299" b="true">
                <a:solidFill>
                  <a:srgbClr val="4C22E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Constructive Critical Remarks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535713"/>
            <a:ext cx="14618229" cy="610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74" indent="-464187" lvl="1">
              <a:lnSpc>
                <a:spcPts val="6020"/>
              </a:lnSpc>
              <a:buFont typeface="Arial"/>
              <a:buChar char="•"/>
            </a:pPr>
            <a:r>
              <a:rPr lang="en-US" b="true" sz="4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 understand the basic concepts well.</a:t>
            </a:r>
          </a:p>
          <a:p>
            <a:pPr algn="l">
              <a:lnSpc>
                <a:spcPts val="6020"/>
              </a:lnSpc>
            </a:pPr>
            <a:r>
              <a:rPr lang="en-US" sz="4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</a:t>
            </a: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To improve, try practicing more  problems and</a:t>
            </a:r>
          </a:p>
          <a:p>
            <a:pPr algn="l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checking your steps carefully</a:t>
            </a: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l">
              <a:lnSpc>
                <a:spcPts val="6020"/>
              </a:lnSpc>
            </a:pPr>
          </a:p>
          <a:p>
            <a:pPr algn="l" marL="928374" indent="-464187" lvl="1">
              <a:lnSpc>
                <a:spcPts val="6020"/>
              </a:lnSpc>
              <a:buFont typeface="Arial"/>
              <a:buChar char="•"/>
            </a:pPr>
            <a:r>
              <a:rPr lang="en-US" b="true" sz="4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Your ideas are interesting.</a:t>
            </a:r>
          </a:p>
          <a:p>
            <a:pPr algn="l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</a:t>
            </a: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To make your writing better, use shorter sentences</a:t>
            </a:r>
          </a:p>
          <a:p>
            <a:pPr algn="l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and clear paragraphs.</a:t>
            </a:r>
          </a:p>
          <a:p>
            <a:pPr algn="ctr">
              <a:lnSpc>
                <a:spcPts val="63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E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1452" y="1028700"/>
            <a:ext cx="1254495" cy="1012763"/>
          </a:xfrm>
          <a:custGeom>
            <a:avLst/>
            <a:gdLst/>
            <a:ahLst/>
            <a:cxnLst/>
            <a:rect r="r" b="b" t="t" l="l"/>
            <a:pathLst>
              <a:path h="1012763" w="1254495">
                <a:moveTo>
                  <a:pt x="0" y="0"/>
                </a:moveTo>
                <a:lnTo>
                  <a:pt x="1254496" y="0"/>
                </a:lnTo>
                <a:lnTo>
                  <a:pt x="1254496" y="1012763"/>
                </a:lnTo>
                <a:lnTo>
                  <a:pt x="0" y="1012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98429" y="1704994"/>
            <a:ext cx="8724520" cy="7855229"/>
          </a:xfrm>
          <a:custGeom>
            <a:avLst/>
            <a:gdLst/>
            <a:ahLst/>
            <a:cxnLst/>
            <a:rect r="r" b="b" t="t" l="l"/>
            <a:pathLst>
              <a:path h="7855229" w="8724520">
                <a:moveTo>
                  <a:pt x="0" y="0"/>
                </a:moveTo>
                <a:lnTo>
                  <a:pt x="8724519" y="0"/>
                </a:lnTo>
                <a:lnTo>
                  <a:pt x="8724519" y="7855228"/>
                </a:lnTo>
                <a:lnTo>
                  <a:pt x="0" y="78552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28390" y="885825"/>
            <a:ext cx="13499759" cy="125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9"/>
              </a:lnSpc>
            </a:pPr>
            <a:r>
              <a:rPr lang="en-US" sz="7299" b="true">
                <a:solidFill>
                  <a:srgbClr val="D1222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Destructive Critical Remarks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77530" y="2835939"/>
            <a:ext cx="14249855" cy="503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7962" indent="-518981" lvl="1">
              <a:lnSpc>
                <a:spcPts val="6730"/>
              </a:lnSpc>
              <a:buFont typeface="Arial"/>
              <a:buChar char="•"/>
            </a:pPr>
            <a:r>
              <a:rPr lang="en-US" b="true" sz="48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is wrong. I don’t even know where to begin.</a:t>
            </a:r>
          </a:p>
          <a:p>
            <a:pPr algn="l" marL="1037962" indent="-518981" lvl="1">
              <a:lnSpc>
                <a:spcPts val="6730"/>
              </a:lnSpc>
              <a:buFont typeface="Arial"/>
              <a:buChar char="•"/>
            </a:pPr>
            <a:r>
              <a:rPr lang="en-US" b="true" sz="48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Nobody understood your explanation. You should just stop presenting</a:t>
            </a:r>
          </a:p>
          <a:p>
            <a:pPr algn="l">
              <a:lnSpc>
                <a:spcPts val="6730"/>
              </a:lnSpc>
            </a:pPr>
          </a:p>
          <a:p>
            <a:pPr algn="ctr">
              <a:lnSpc>
                <a:spcPts val="658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55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0950" y="-741829"/>
            <a:ext cx="11686615" cy="11322424"/>
            <a:chOff x="0" y="0"/>
            <a:chExt cx="3077956" cy="29820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7956" cy="2982038"/>
            </a:xfrm>
            <a:custGeom>
              <a:avLst/>
              <a:gdLst/>
              <a:ahLst/>
              <a:cxnLst/>
              <a:rect r="r" b="b" t="t" l="l"/>
              <a:pathLst>
                <a:path h="2982038" w="3077956">
                  <a:moveTo>
                    <a:pt x="0" y="0"/>
                  </a:moveTo>
                  <a:lnTo>
                    <a:pt x="3077956" y="0"/>
                  </a:lnTo>
                  <a:lnTo>
                    <a:pt x="3077956" y="2982038"/>
                  </a:lnTo>
                  <a:lnTo>
                    <a:pt x="0" y="2982038"/>
                  </a:lnTo>
                  <a:close/>
                </a:path>
              </a:pathLst>
            </a:custGeom>
            <a:solidFill>
              <a:srgbClr val="FFC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77956" cy="3020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91390" y="5143500"/>
            <a:ext cx="4260803" cy="3532343"/>
          </a:xfrm>
          <a:custGeom>
            <a:avLst/>
            <a:gdLst/>
            <a:ahLst/>
            <a:cxnLst/>
            <a:rect r="r" b="b" t="t" l="l"/>
            <a:pathLst>
              <a:path h="3532343" w="4260803">
                <a:moveTo>
                  <a:pt x="0" y="0"/>
                </a:moveTo>
                <a:lnTo>
                  <a:pt x="4260802" y="0"/>
                </a:lnTo>
                <a:lnTo>
                  <a:pt x="4260802" y="3532343"/>
                </a:lnTo>
                <a:lnTo>
                  <a:pt x="0" y="353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06226" y="4021607"/>
            <a:ext cx="9471787" cy="4654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3"/>
              </a:lnSpc>
            </a:pPr>
            <a:r>
              <a:rPr lang="en-US" sz="376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Criticism isn’t limited to classrooms or workplaces — it affects us in daily conversations, relationships, teamwork, social media, and even family life.</a:t>
            </a:r>
          </a:p>
          <a:p>
            <a:pPr algn="l">
              <a:lnSpc>
                <a:spcPts val="5273"/>
              </a:lnSpc>
            </a:pPr>
            <a:r>
              <a:rPr lang="en-US" sz="376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Whether it comes from a manager, a friend, a partner, or a stranger, the way criticism is framed can build confidence — or damage it.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06226" y="2117014"/>
            <a:ext cx="8212288" cy="1258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7"/>
              </a:lnSpc>
            </a:pPr>
            <a:r>
              <a:rPr lang="en-US" sz="4735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 Psychological and Practical Impacts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872869" y="1767219"/>
            <a:ext cx="8473819" cy="200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9"/>
              </a:lnSpc>
            </a:pPr>
            <a:r>
              <a:rPr lang="en-US" sz="7562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Why Framing Matters 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55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0917" y="-400024"/>
            <a:ext cx="19089976" cy="3111637"/>
            <a:chOff x="0" y="0"/>
            <a:chExt cx="5027813" cy="819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7813" cy="819526"/>
            </a:xfrm>
            <a:custGeom>
              <a:avLst/>
              <a:gdLst/>
              <a:ahLst/>
              <a:cxnLst/>
              <a:rect r="r" b="b" t="t" l="l"/>
              <a:pathLst>
                <a:path h="819526" w="5027813">
                  <a:moveTo>
                    <a:pt x="0" y="0"/>
                  </a:moveTo>
                  <a:lnTo>
                    <a:pt x="5027813" y="0"/>
                  </a:lnTo>
                  <a:lnTo>
                    <a:pt x="5027813" y="819526"/>
                  </a:lnTo>
                  <a:lnTo>
                    <a:pt x="0" y="8195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7813" cy="857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8441" y="3720496"/>
            <a:ext cx="12371690" cy="598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0324" indent="-465162" lvl="1">
              <a:lnSpc>
                <a:spcPts val="6032"/>
              </a:lnSpc>
              <a:buFont typeface="Arial"/>
              <a:buChar char="•"/>
            </a:pPr>
            <a:r>
              <a:rPr lang="en-US" sz="430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Emotional reactions</a:t>
            </a:r>
          </a:p>
          <a:p>
            <a:pPr algn="l">
              <a:lnSpc>
                <a:spcPts val="6032"/>
              </a:lnSpc>
            </a:pPr>
          </a:p>
          <a:p>
            <a:pPr algn="l" marL="930324" indent="-465162" lvl="1">
              <a:lnSpc>
                <a:spcPts val="6032"/>
              </a:lnSpc>
              <a:buFont typeface="Arial"/>
              <a:buChar char="•"/>
            </a:pPr>
            <a:r>
              <a:rPr lang="en-US" sz="430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Lowered motivation and self-worth.</a:t>
            </a:r>
          </a:p>
          <a:p>
            <a:pPr algn="l">
              <a:lnSpc>
                <a:spcPts val="6032"/>
              </a:lnSpc>
            </a:pPr>
          </a:p>
          <a:p>
            <a:pPr algn="l" marL="930324" indent="-465162" lvl="1">
              <a:lnSpc>
                <a:spcPts val="6032"/>
              </a:lnSpc>
              <a:buFont typeface="Arial"/>
              <a:buChar char="•"/>
            </a:pPr>
            <a:r>
              <a:rPr lang="en-US" sz="430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Damaged relationships in teams or classrooms.</a:t>
            </a:r>
          </a:p>
          <a:p>
            <a:pPr algn="l">
              <a:lnSpc>
                <a:spcPts val="6032"/>
              </a:lnSpc>
            </a:pPr>
          </a:p>
          <a:p>
            <a:pPr algn="l" marL="930324" indent="-465162" lvl="1">
              <a:lnSpc>
                <a:spcPts val="6032"/>
              </a:lnSpc>
              <a:buFont typeface="Arial"/>
              <a:buChar char="•"/>
            </a:pPr>
            <a:r>
              <a:rPr lang="en-US" sz="430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Missed opportunities for growth.</a:t>
            </a:r>
          </a:p>
          <a:p>
            <a:pPr algn="l">
              <a:lnSpc>
                <a:spcPts val="5296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598455"/>
            <a:ext cx="1545443" cy="154544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9731" lIns="59731" bIns="59731" rIns="59731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2800131" y="2299186"/>
            <a:ext cx="5454806" cy="7408905"/>
          </a:xfrm>
          <a:custGeom>
            <a:avLst/>
            <a:gdLst/>
            <a:ahLst/>
            <a:cxnLst/>
            <a:rect r="r" b="b" t="t" l="l"/>
            <a:pathLst>
              <a:path h="7408905" w="5454806">
                <a:moveTo>
                  <a:pt x="5454806" y="0"/>
                </a:moveTo>
                <a:lnTo>
                  <a:pt x="0" y="0"/>
                </a:lnTo>
                <a:lnTo>
                  <a:pt x="0" y="7408905"/>
                </a:lnTo>
                <a:lnTo>
                  <a:pt x="5454806" y="7408905"/>
                </a:lnTo>
                <a:lnTo>
                  <a:pt x="54548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80609" y="964000"/>
            <a:ext cx="12646925" cy="92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8"/>
              </a:lnSpc>
            </a:pPr>
            <a:r>
              <a:rPr lang="en-US" sz="6841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Consequences of Poor Framing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2182" y="862139"/>
            <a:ext cx="1153682" cy="911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7"/>
              </a:lnSpc>
            </a:pPr>
            <a:r>
              <a:rPr lang="en-US" sz="5291" spc="42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E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0950" y="-741829"/>
            <a:ext cx="11686615" cy="11322424"/>
            <a:chOff x="0" y="0"/>
            <a:chExt cx="3077956" cy="29820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7956" cy="2982038"/>
            </a:xfrm>
            <a:custGeom>
              <a:avLst/>
              <a:gdLst/>
              <a:ahLst/>
              <a:cxnLst/>
              <a:rect r="r" b="b" t="t" l="l"/>
              <a:pathLst>
                <a:path h="2982038" w="3077956">
                  <a:moveTo>
                    <a:pt x="0" y="0"/>
                  </a:moveTo>
                  <a:lnTo>
                    <a:pt x="3077956" y="0"/>
                  </a:lnTo>
                  <a:lnTo>
                    <a:pt x="3077956" y="2982038"/>
                  </a:lnTo>
                  <a:lnTo>
                    <a:pt x="0" y="2982038"/>
                  </a:lnTo>
                  <a:close/>
                </a:path>
              </a:pathLst>
            </a:custGeom>
            <a:solidFill>
              <a:srgbClr val="2855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77956" cy="3020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305558" y="4919382"/>
            <a:ext cx="3432466" cy="3756460"/>
          </a:xfrm>
          <a:custGeom>
            <a:avLst/>
            <a:gdLst/>
            <a:ahLst/>
            <a:cxnLst/>
            <a:rect r="r" b="b" t="t" l="l"/>
            <a:pathLst>
              <a:path h="3756460" w="3432466">
                <a:moveTo>
                  <a:pt x="0" y="0"/>
                </a:moveTo>
                <a:lnTo>
                  <a:pt x="3432466" y="0"/>
                </a:lnTo>
                <a:lnTo>
                  <a:pt x="3432466" y="3756461"/>
                </a:lnTo>
                <a:lnTo>
                  <a:pt x="0" y="37564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09575" y="1861345"/>
            <a:ext cx="9227190" cy="604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</a:p>
          <a:p>
            <a:pPr algn="l">
              <a:lnSpc>
                <a:spcPts val="5318"/>
              </a:lnSpc>
            </a:pPr>
            <a:r>
              <a:rPr lang="en-US" sz="379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Constructive framing is built on a foundation of clarity, respect, and a focus on growth.</a:t>
            </a:r>
          </a:p>
          <a:p>
            <a:pPr algn="l">
              <a:lnSpc>
                <a:spcPts val="5318"/>
              </a:lnSpc>
            </a:pPr>
            <a:r>
              <a:rPr lang="en-US" sz="379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By identifying the core characteristics of well-framed criticism, we can ensure our feedback leads to progress rather than conflict, in both professional and personal interactions.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7326" y="1624937"/>
            <a:ext cx="6678609" cy="221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5"/>
              </a:lnSpc>
            </a:pPr>
            <a:r>
              <a:rPr lang="en-US" sz="5568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Characteristics of Constructive Criticism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E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0917" y="-400024"/>
            <a:ext cx="19089976" cy="3111637"/>
            <a:chOff x="0" y="0"/>
            <a:chExt cx="5027813" cy="819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7813" cy="819526"/>
            </a:xfrm>
            <a:custGeom>
              <a:avLst/>
              <a:gdLst/>
              <a:ahLst/>
              <a:cxnLst/>
              <a:rect r="r" b="b" t="t" l="l"/>
              <a:pathLst>
                <a:path h="819526" w="5027813">
                  <a:moveTo>
                    <a:pt x="0" y="0"/>
                  </a:moveTo>
                  <a:lnTo>
                    <a:pt x="5027813" y="0"/>
                  </a:lnTo>
                  <a:lnTo>
                    <a:pt x="5027813" y="819526"/>
                  </a:lnTo>
                  <a:lnTo>
                    <a:pt x="0" y="8195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7813" cy="857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59829" y="3422454"/>
            <a:ext cx="11848027" cy="583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6114" indent="-403057" lvl="1">
              <a:lnSpc>
                <a:spcPts val="5227"/>
              </a:lnSpc>
              <a:buFont typeface="Arial"/>
              <a:buChar char="•"/>
            </a:pPr>
            <a:r>
              <a:rPr lang="en-US" b="true" sz="3733">
                <a:solidFill>
                  <a:srgbClr val="4C22E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Specific: </a:t>
            </a:r>
            <a:r>
              <a:rPr lang="en-US" sz="373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Target the exact issue, not vague generalities.</a:t>
            </a:r>
          </a:p>
          <a:p>
            <a:pPr algn="l" marL="827704" indent="-413852" lvl="1">
              <a:lnSpc>
                <a:spcPts val="5367"/>
              </a:lnSpc>
              <a:buFont typeface="Arial"/>
              <a:buChar char="•"/>
            </a:pPr>
            <a:r>
              <a:rPr lang="en-US" b="true" sz="3833">
                <a:solidFill>
                  <a:srgbClr val="4C22E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Objective</a:t>
            </a:r>
            <a:r>
              <a:rPr lang="en-US" sz="383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Focus on the task, not the person.</a:t>
            </a:r>
          </a:p>
          <a:p>
            <a:pPr algn="l" marL="806114" indent="-403057" lvl="1">
              <a:lnSpc>
                <a:spcPts val="5227"/>
              </a:lnSpc>
              <a:buFont typeface="Arial"/>
              <a:buChar char="•"/>
            </a:pPr>
            <a:r>
              <a:rPr lang="en-US" b="true" sz="3733">
                <a:solidFill>
                  <a:srgbClr val="4C22E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Respectful: </a:t>
            </a:r>
            <a:r>
              <a:rPr lang="en-US" sz="373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 a professional and empathetic tone.</a:t>
            </a:r>
          </a:p>
          <a:p>
            <a:pPr algn="l" marL="806114" indent="-403057" lvl="1">
              <a:lnSpc>
                <a:spcPts val="5227"/>
              </a:lnSpc>
              <a:buFont typeface="Arial"/>
              <a:buChar char="•"/>
            </a:pPr>
            <a:r>
              <a:rPr lang="en-US" b="true" sz="3733">
                <a:solidFill>
                  <a:srgbClr val="4C22E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Solution-oriented:</a:t>
            </a:r>
            <a:r>
              <a:rPr lang="en-US" sz="373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Provide suggestions or alternatives.</a:t>
            </a:r>
          </a:p>
          <a:p>
            <a:pPr algn="l" marL="806114" indent="-403057" lvl="1">
              <a:lnSpc>
                <a:spcPts val="5227"/>
              </a:lnSpc>
              <a:buFont typeface="Arial"/>
              <a:buChar char="•"/>
            </a:pPr>
            <a:r>
              <a:rPr lang="en-US" b="true" sz="3733">
                <a:solidFill>
                  <a:srgbClr val="4C22E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Timely:</a:t>
            </a:r>
            <a:r>
              <a:rPr lang="en-US" sz="373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Give feedback close to the event.</a:t>
            </a:r>
          </a:p>
          <a:p>
            <a:pPr algn="l" marL="806114" indent="-403057" lvl="1">
              <a:lnSpc>
                <a:spcPts val="5227"/>
              </a:lnSpc>
              <a:buFont typeface="Arial"/>
              <a:buChar char="•"/>
            </a:pPr>
            <a:r>
              <a:rPr lang="en-US" b="true" sz="3733">
                <a:solidFill>
                  <a:srgbClr val="4C22E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Balanced:</a:t>
            </a:r>
            <a:r>
              <a:rPr lang="en-US" sz="373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Combine strengths with areas to improve.</a:t>
            </a:r>
          </a:p>
          <a:p>
            <a:pPr algn="l">
              <a:lnSpc>
                <a:spcPts val="4527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598455"/>
            <a:ext cx="1545443" cy="154544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9731" lIns="59731" bIns="59731" rIns="59731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937184">
            <a:off x="14190625" y="3274378"/>
            <a:ext cx="3881016" cy="5564180"/>
          </a:xfrm>
          <a:custGeom>
            <a:avLst/>
            <a:gdLst/>
            <a:ahLst/>
            <a:cxnLst/>
            <a:rect r="r" b="b" t="t" l="l"/>
            <a:pathLst>
              <a:path h="5564180" w="3881016">
                <a:moveTo>
                  <a:pt x="0" y="0"/>
                </a:moveTo>
                <a:lnTo>
                  <a:pt x="3881015" y="0"/>
                </a:lnTo>
                <a:lnTo>
                  <a:pt x="3881015" y="5564180"/>
                </a:lnTo>
                <a:lnTo>
                  <a:pt x="0" y="5564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43250" y="846537"/>
            <a:ext cx="11234076" cy="1134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8"/>
              </a:lnSpc>
            </a:pPr>
            <a:r>
              <a:rPr lang="en-US" sz="840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Characteristics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2182" y="862139"/>
            <a:ext cx="1153682" cy="911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7"/>
              </a:lnSpc>
            </a:pPr>
            <a:r>
              <a:rPr lang="en-US" sz="5291" spc="42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03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55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92298" y="-2125615"/>
            <a:ext cx="14334005" cy="1433400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051869" y="2315228"/>
            <a:ext cx="6207431" cy="6173572"/>
          </a:xfrm>
          <a:custGeom>
            <a:avLst/>
            <a:gdLst/>
            <a:ahLst/>
            <a:cxnLst/>
            <a:rect r="r" b="b" t="t" l="l"/>
            <a:pathLst>
              <a:path h="6173572" w="6207431">
                <a:moveTo>
                  <a:pt x="0" y="0"/>
                </a:moveTo>
                <a:lnTo>
                  <a:pt x="6207431" y="0"/>
                </a:lnTo>
                <a:lnTo>
                  <a:pt x="6207431" y="6173573"/>
                </a:lnTo>
                <a:lnTo>
                  <a:pt x="0" y="617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4906" y="2448578"/>
            <a:ext cx="9817392" cy="477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09"/>
              </a:lnSpc>
            </a:pPr>
            <a:r>
              <a:rPr lang="en-US" sz="9038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Methods for Framing Constructive Criticism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55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52201" y="-1035424"/>
            <a:ext cx="12455758" cy="11322424"/>
            <a:chOff x="0" y="0"/>
            <a:chExt cx="3280529" cy="29820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0529" cy="2982038"/>
            </a:xfrm>
            <a:custGeom>
              <a:avLst/>
              <a:gdLst/>
              <a:ahLst/>
              <a:cxnLst/>
              <a:rect r="r" b="b" t="t" l="l"/>
              <a:pathLst>
                <a:path h="2982038" w="3280529">
                  <a:moveTo>
                    <a:pt x="0" y="0"/>
                  </a:moveTo>
                  <a:lnTo>
                    <a:pt x="3280529" y="0"/>
                  </a:lnTo>
                  <a:lnTo>
                    <a:pt x="3280529" y="2982038"/>
                  </a:lnTo>
                  <a:lnTo>
                    <a:pt x="0" y="2982038"/>
                  </a:lnTo>
                  <a:close/>
                </a:path>
              </a:pathLst>
            </a:custGeom>
            <a:solidFill>
              <a:srgbClr val="FFC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80529" cy="3020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24345" y="5157829"/>
            <a:ext cx="4554369" cy="3072129"/>
          </a:xfrm>
          <a:custGeom>
            <a:avLst/>
            <a:gdLst/>
            <a:ahLst/>
            <a:cxnLst/>
            <a:rect r="r" b="b" t="t" l="l"/>
            <a:pathLst>
              <a:path h="3072129" w="4554369">
                <a:moveTo>
                  <a:pt x="0" y="0"/>
                </a:moveTo>
                <a:lnTo>
                  <a:pt x="4554369" y="0"/>
                </a:lnTo>
                <a:lnTo>
                  <a:pt x="4554369" y="3072129"/>
                </a:lnTo>
                <a:lnTo>
                  <a:pt x="0" y="3072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479606" y="1697277"/>
            <a:ext cx="6831807" cy="17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3"/>
              </a:lnSpc>
            </a:pPr>
            <a:r>
              <a:rPr lang="en-US" sz="644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The Sandwich Technique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52201" y="981159"/>
            <a:ext cx="11456193" cy="8276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9"/>
              </a:lnSpc>
            </a:pPr>
            <a:r>
              <a:rPr lang="en-US" sz="4042" b="true">
                <a:solidFill>
                  <a:srgbClr val="D1222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Structure:</a:t>
            </a:r>
          </a:p>
          <a:p>
            <a:pPr algn="just">
              <a:lnSpc>
                <a:spcPts val="5053"/>
              </a:lnSpc>
            </a:pPr>
            <a:r>
              <a:rPr lang="en-US" sz="3609" b="true">
                <a:solidFill>
                  <a:srgbClr val="2244B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1.</a:t>
            </a:r>
            <a:r>
              <a:rPr lang="en-US" sz="3609" b="true">
                <a:solidFill>
                  <a:srgbClr val="2244B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Positive Start (Bread)</a:t>
            </a:r>
          </a:p>
          <a:p>
            <a:pPr algn="just">
              <a:lnSpc>
                <a:spcPts val="5053"/>
              </a:lnSpc>
            </a:pPr>
            <a:r>
              <a:rPr lang="en-US" sz="36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</a:t>
            </a:r>
            <a:r>
              <a:rPr lang="en-US" sz="36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Begin with sincere praise or acknowledgement.</a:t>
            </a:r>
          </a:p>
          <a:p>
            <a:pPr algn="just">
              <a:lnSpc>
                <a:spcPts val="5053"/>
              </a:lnSpc>
            </a:pPr>
            <a:r>
              <a:rPr lang="en-US" sz="36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</a:t>
            </a:r>
            <a:r>
              <a:rPr lang="en-US" sz="36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“You’ve made great progress on the project this week.”</a:t>
            </a:r>
          </a:p>
          <a:p>
            <a:pPr algn="just">
              <a:lnSpc>
                <a:spcPts val="5053"/>
              </a:lnSpc>
            </a:pPr>
            <a:r>
              <a:rPr lang="en-US" sz="36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</a:t>
            </a:r>
            <a:r>
              <a:rPr lang="en-US" sz="3609" b="true">
                <a:solidFill>
                  <a:srgbClr val="2244B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2.</a:t>
            </a:r>
            <a:r>
              <a:rPr lang="en-US" sz="3609" b="true">
                <a:solidFill>
                  <a:srgbClr val="2244B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Feedback (Filling)</a:t>
            </a:r>
          </a:p>
          <a:p>
            <a:pPr algn="just">
              <a:lnSpc>
                <a:spcPts val="5053"/>
              </a:lnSpc>
            </a:pPr>
            <a:r>
              <a:rPr lang="en-US" sz="36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Gently introduce the issue or area of improvement.</a:t>
            </a:r>
          </a:p>
          <a:p>
            <a:pPr algn="just">
              <a:lnSpc>
                <a:spcPts val="5053"/>
              </a:lnSpc>
            </a:pPr>
            <a:r>
              <a:rPr lang="en-US" sz="36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</a:t>
            </a:r>
            <a:r>
              <a:rPr lang="en-US" sz="36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“One thing to improve would be meeting deadlines </a:t>
            </a:r>
          </a:p>
          <a:p>
            <a:pPr algn="just">
              <a:lnSpc>
                <a:spcPts val="5053"/>
              </a:lnSpc>
            </a:pPr>
            <a:r>
              <a:rPr lang="en-US" sz="36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more consistently.”</a:t>
            </a:r>
          </a:p>
          <a:p>
            <a:pPr algn="just">
              <a:lnSpc>
                <a:spcPts val="5053"/>
              </a:lnSpc>
            </a:pPr>
            <a:r>
              <a:rPr lang="en-US" sz="36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</a:t>
            </a:r>
            <a:r>
              <a:rPr lang="en-US" sz="3609" b="true">
                <a:solidFill>
                  <a:srgbClr val="2244B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3.</a:t>
            </a:r>
            <a:r>
              <a:rPr lang="en-US" sz="3609" b="true">
                <a:solidFill>
                  <a:srgbClr val="2244B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Positive End (Bread)</a:t>
            </a:r>
          </a:p>
          <a:p>
            <a:pPr algn="just">
              <a:lnSpc>
                <a:spcPts val="5053"/>
              </a:lnSpc>
            </a:pPr>
            <a:r>
              <a:rPr lang="en-US" sz="36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</a:t>
            </a:r>
            <a:r>
              <a:rPr lang="en-US" sz="36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End with encouragement, confidence, or appreciation.</a:t>
            </a:r>
          </a:p>
          <a:p>
            <a:pPr algn="just">
              <a:lnSpc>
                <a:spcPts val="5053"/>
              </a:lnSpc>
            </a:pPr>
            <a:r>
              <a:rPr lang="en-US" sz="36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</a:t>
            </a:r>
            <a:r>
              <a:rPr lang="en-US" sz="36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“I’m confident you’ll overcome this — your dedication </a:t>
            </a:r>
          </a:p>
          <a:p>
            <a:pPr algn="just">
              <a:lnSpc>
                <a:spcPts val="5053"/>
              </a:lnSpc>
            </a:pPr>
            <a:r>
              <a:rPr lang="en-US" sz="36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really shows.”</a:t>
            </a:r>
          </a:p>
          <a:p>
            <a:pPr algn="l">
              <a:lnSpc>
                <a:spcPts val="5053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55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32242" y="0"/>
            <a:ext cx="12455758" cy="11322424"/>
            <a:chOff x="0" y="0"/>
            <a:chExt cx="3280529" cy="29820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0529" cy="2982038"/>
            </a:xfrm>
            <a:custGeom>
              <a:avLst/>
              <a:gdLst/>
              <a:ahLst/>
              <a:cxnLst/>
              <a:rect r="r" b="b" t="t" l="l"/>
              <a:pathLst>
                <a:path h="2982038" w="3280529">
                  <a:moveTo>
                    <a:pt x="0" y="0"/>
                  </a:moveTo>
                  <a:lnTo>
                    <a:pt x="3280529" y="0"/>
                  </a:lnTo>
                  <a:lnTo>
                    <a:pt x="3280529" y="2982038"/>
                  </a:lnTo>
                  <a:lnTo>
                    <a:pt x="0" y="2982038"/>
                  </a:lnTo>
                  <a:close/>
                </a:path>
              </a:pathLst>
            </a:custGeom>
            <a:solidFill>
              <a:srgbClr val="FFCE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80529" cy="3020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51761" y="1334691"/>
            <a:ext cx="12036239" cy="7923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7"/>
              </a:lnSpc>
            </a:pPr>
            <a:r>
              <a:rPr lang="en-US" sz="3248" b="true">
                <a:solidFill>
                  <a:srgbClr val="4C22E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🔹 D – Describe</a:t>
            </a:r>
          </a:p>
          <a:p>
            <a:pPr algn="l">
              <a:lnSpc>
                <a:spcPts val="4547"/>
              </a:lnSpc>
            </a:pPr>
            <a:r>
              <a:rPr lang="en-US" sz="324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State the specific situation or behavior objectively.</a:t>
            </a:r>
          </a:p>
          <a:p>
            <a:pPr algn="l">
              <a:lnSpc>
                <a:spcPts val="4547"/>
              </a:lnSpc>
            </a:pPr>
            <a:r>
              <a:rPr lang="en-US" sz="324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“When you submit reports past the deadline…”</a:t>
            </a:r>
          </a:p>
          <a:p>
            <a:pPr algn="l">
              <a:lnSpc>
                <a:spcPts val="4547"/>
              </a:lnSpc>
            </a:pPr>
            <a:r>
              <a:rPr lang="en-US" sz="3248" b="true">
                <a:solidFill>
                  <a:srgbClr val="4C22E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🔹 E – Express</a:t>
            </a:r>
          </a:p>
          <a:p>
            <a:pPr algn="l">
              <a:lnSpc>
                <a:spcPts val="4547"/>
              </a:lnSpc>
            </a:pPr>
            <a:r>
              <a:rPr lang="en-US" sz="324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Express how it affects you or the team.</a:t>
            </a:r>
          </a:p>
          <a:p>
            <a:pPr algn="l">
              <a:lnSpc>
                <a:spcPts val="4547"/>
              </a:lnSpc>
            </a:pPr>
            <a:r>
              <a:rPr lang="en-US" sz="324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“…it delays the entire team’s workflow and creates pressure.”</a:t>
            </a:r>
          </a:p>
          <a:p>
            <a:pPr algn="l">
              <a:lnSpc>
                <a:spcPts val="4547"/>
              </a:lnSpc>
            </a:pPr>
            <a:r>
              <a:rPr lang="en-US" sz="3248">
                <a:solidFill>
                  <a:srgbClr val="4C22E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🔹</a:t>
            </a:r>
            <a:r>
              <a:rPr lang="en-US" sz="3248" b="true">
                <a:solidFill>
                  <a:srgbClr val="4C22E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S – Specify</a:t>
            </a:r>
          </a:p>
          <a:p>
            <a:pPr algn="l">
              <a:lnSpc>
                <a:spcPts val="4547"/>
              </a:lnSpc>
            </a:pPr>
            <a:r>
              <a:rPr lang="en-US" sz="324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Clearly state what change you’d like to see.</a:t>
            </a:r>
          </a:p>
          <a:p>
            <a:pPr algn="l">
              <a:lnSpc>
                <a:spcPts val="4547"/>
              </a:lnSpc>
            </a:pPr>
            <a:r>
              <a:rPr lang="en-US" sz="324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“I’d appreciate it if you could submit the report at least a day in advance.”</a:t>
            </a:r>
          </a:p>
          <a:p>
            <a:pPr algn="l">
              <a:lnSpc>
                <a:spcPts val="4547"/>
              </a:lnSpc>
            </a:pPr>
            <a:r>
              <a:rPr lang="en-US" sz="3248" b="true">
                <a:solidFill>
                  <a:srgbClr val="4C22E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🔹 C – Consequences</a:t>
            </a:r>
          </a:p>
          <a:p>
            <a:pPr algn="l">
              <a:lnSpc>
                <a:spcPts val="4547"/>
              </a:lnSpc>
            </a:pPr>
            <a:r>
              <a:rPr lang="en-US" sz="324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Highlight the positive outcome of making the change.</a:t>
            </a:r>
          </a:p>
          <a:p>
            <a:pPr algn="l">
              <a:lnSpc>
                <a:spcPts val="4547"/>
              </a:lnSpc>
            </a:pPr>
            <a:r>
              <a:rPr lang="en-US" sz="324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“This would help us stay on track and avoid last-minute stress.</a:t>
            </a:r>
          </a:p>
          <a:p>
            <a:pPr algn="l">
              <a:lnSpc>
                <a:spcPts val="3985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18553" y="5296160"/>
            <a:ext cx="2404247" cy="2289402"/>
          </a:xfrm>
          <a:custGeom>
            <a:avLst/>
            <a:gdLst/>
            <a:ahLst/>
            <a:cxnLst/>
            <a:rect r="r" b="b" t="t" l="l"/>
            <a:pathLst>
              <a:path h="2289402" w="2404247">
                <a:moveTo>
                  <a:pt x="0" y="0"/>
                </a:moveTo>
                <a:lnTo>
                  <a:pt x="2404247" y="0"/>
                </a:lnTo>
                <a:lnTo>
                  <a:pt x="2404247" y="2289402"/>
                </a:lnTo>
                <a:lnTo>
                  <a:pt x="0" y="2289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1760649"/>
            <a:ext cx="5758320" cy="172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3"/>
              </a:lnSpc>
            </a:pPr>
            <a:r>
              <a:rPr lang="en-US" sz="644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The DESC method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CE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5189" y="-741829"/>
            <a:ext cx="19752754" cy="11322424"/>
            <a:chOff x="0" y="0"/>
            <a:chExt cx="5202371" cy="29820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02372" cy="2982038"/>
            </a:xfrm>
            <a:custGeom>
              <a:avLst/>
              <a:gdLst/>
              <a:ahLst/>
              <a:cxnLst/>
              <a:rect r="r" b="b" t="t" l="l"/>
              <a:pathLst>
                <a:path h="2982038" w="5202372">
                  <a:moveTo>
                    <a:pt x="0" y="0"/>
                  </a:moveTo>
                  <a:lnTo>
                    <a:pt x="5202372" y="0"/>
                  </a:lnTo>
                  <a:lnTo>
                    <a:pt x="5202372" y="2982038"/>
                  </a:lnTo>
                  <a:lnTo>
                    <a:pt x="0" y="2982038"/>
                  </a:lnTo>
                  <a:close/>
                </a:path>
              </a:pathLst>
            </a:custGeom>
            <a:solidFill>
              <a:srgbClr val="2855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02371" cy="3020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940186" y="1690268"/>
            <a:ext cx="5961054" cy="112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6"/>
              </a:lnSpc>
            </a:pPr>
            <a:r>
              <a:rPr lang="en-US" sz="82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888" y="4241578"/>
            <a:ext cx="16230600" cy="365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Criticism, like rain, should be gentle enough to nourish a man’s growth without destroying his roots.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— Frank A. Clark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E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9078" y="534632"/>
            <a:ext cx="16589845" cy="961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3"/>
              </a:lnSpc>
            </a:pPr>
            <a:r>
              <a:rPr lang="en-US" sz="362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📚 Books</a:t>
            </a:r>
          </a:p>
          <a:p>
            <a:pPr algn="l" marL="782470" indent="-391235" lvl="1">
              <a:lnSpc>
                <a:spcPts val="5073"/>
              </a:lnSpc>
              <a:buAutoNum type="arabicPeriod" startAt="1"/>
            </a:pPr>
            <a:r>
              <a:rPr lang="en-US" sz="36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Stone, D., Patton, B., &amp; Heen, S. (2010). Difficult Conversations: How to Discuss What Matters Most. Penguin Books.</a:t>
            </a:r>
          </a:p>
          <a:p>
            <a:pPr algn="l" marL="782470" indent="-391235" lvl="1">
              <a:lnSpc>
                <a:spcPts val="5073"/>
              </a:lnSpc>
              <a:buAutoNum type="arabicPeriod" startAt="1"/>
            </a:pPr>
            <a:r>
              <a:rPr lang="en-US" sz="36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Goleman, D. (1995). Emotional Intelligence: Why It Can Matter More Than IQ. Bantam Books.</a:t>
            </a:r>
          </a:p>
          <a:p>
            <a:pPr algn="ctr">
              <a:lnSpc>
                <a:spcPts val="5073"/>
              </a:lnSpc>
            </a:pPr>
            <a:r>
              <a:rPr lang="en-US" sz="362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🎥 Videos</a:t>
            </a:r>
          </a:p>
          <a:p>
            <a:pPr algn="l" marL="782470" indent="-391235" lvl="1">
              <a:lnSpc>
                <a:spcPts val="5073"/>
              </a:lnSpc>
              <a:buAutoNum type="arabicPeriod" startAt="1"/>
            </a:pPr>
            <a:r>
              <a:rPr lang="en-US" sz="36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YouTube: How NOT to Give Constructive Criticism (Funny Video)</a:t>
            </a:r>
          </a:p>
          <a:p>
            <a:pPr algn="l">
              <a:lnSpc>
                <a:spcPts val="5073"/>
              </a:lnSpc>
            </a:pPr>
            <a:r>
              <a:rPr lang="en-US" sz="3624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2" tooltip="https://www.youtube.com/watch?v=L3G1z2nQTS4"/>
              </a:rPr>
              <a:t>https://www.youtube.com/watch?v=L3G1z2nQTS4</a:t>
            </a:r>
          </a:p>
          <a:p>
            <a:pPr algn="ctr">
              <a:lnSpc>
                <a:spcPts val="5073"/>
              </a:lnSpc>
            </a:pPr>
          </a:p>
          <a:p>
            <a:pPr algn="ctr">
              <a:lnSpc>
                <a:spcPts val="5073"/>
              </a:lnSpc>
            </a:pPr>
            <a:r>
              <a:rPr lang="en-US" sz="36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🧠</a:t>
            </a:r>
            <a:r>
              <a:rPr lang="en-US" sz="362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Articles &amp; Web Pages</a:t>
            </a:r>
          </a:p>
          <a:p>
            <a:pPr algn="l" marL="782470" indent="-391235" lvl="1">
              <a:lnSpc>
                <a:spcPts val="5073"/>
              </a:lnSpc>
              <a:buAutoNum type="arabicPeriod" startAt="1"/>
            </a:pPr>
            <a:r>
              <a:rPr lang="en-US" sz="36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https://uwaterloo.ca/centre-for-teaching-excellence/catalogs/tip-sheets/receiving-and-giving-effective-feedback</a:t>
            </a:r>
          </a:p>
          <a:p>
            <a:pPr algn="l" marL="782470" indent="-391235" lvl="1">
              <a:lnSpc>
                <a:spcPts val="5073"/>
              </a:lnSpc>
              <a:buAutoNum type="arabicPeriod" startAt="1"/>
            </a:pPr>
            <a:r>
              <a:rPr lang="en-US" sz="36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https://hbr.org/2023/06/how-to-give-and-receive-critical-feedback</a:t>
            </a:r>
          </a:p>
          <a:p>
            <a:pPr algn="ctr">
              <a:lnSpc>
                <a:spcPts val="5073"/>
              </a:lnSpc>
            </a:pPr>
          </a:p>
          <a:p>
            <a:pPr algn="ctr">
              <a:lnSpc>
                <a:spcPts val="5073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DAGmNw2yaoU</dc:identifier>
  <dcterms:modified xsi:type="dcterms:W3CDTF">2011-08-01T06:04:30Z</dcterms:modified>
  <cp:revision>1</cp:revision>
  <dc:title>Critical Thinking Skills for Students Education Presentation in White Yellow and Blue Flat Graphic Style</dc:title>
</cp:coreProperties>
</file>